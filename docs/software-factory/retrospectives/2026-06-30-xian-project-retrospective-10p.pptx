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4234bf154194e2c" /><Relationship Type="http://schemas.openxmlformats.org/officeDocument/2006/relationships/extended-properties" Target="/docProps/app.xml" Id="R7813ba575d6b4261" /><Relationship Type="http://schemas.openxmlformats.org/officeDocument/2006/relationships/officeDocument" Target="/ppt/presentation.xml" Id="Rc8c1fdcf8df34d68" /></Relationships>
</file>

<file path=ppt/presentation.xml><?xml version="1.0" encoding="utf-8"?>
<p:presentation xmlns:p="http://schemas.openxmlformats.org/presentationml/2006/main">
  <p:sldMasterIdLst>
    <p:sldMasterId xmlns:r="http://schemas.openxmlformats.org/officeDocument/2006/relationships" id="2147483648" r:id="R5c0c5bd6359b4d91"/>
  </p:sldMasterIdLst>
  <p:notesMasterIdLst>
    <p:notesMasterId xmlns:r="http://schemas.openxmlformats.org/officeDocument/2006/relationships" r:id="Rdc5d9e7e608745e1"/>
  </p:notesMasterIdLst>
  <p:sldIdLst>
    <p:sldId xmlns:r="http://schemas.openxmlformats.org/officeDocument/2006/relationships" id="256" r:id="R089b803e61b54d36"/>
    <p:sldId xmlns:r="http://schemas.openxmlformats.org/officeDocument/2006/relationships" id="257" r:id="R0f16c2af96844532"/>
    <p:sldId xmlns:r="http://schemas.openxmlformats.org/officeDocument/2006/relationships" id="258" r:id="R8bfba6ccabb4436e"/>
    <p:sldId xmlns:r="http://schemas.openxmlformats.org/officeDocument/2006/relationships" id="259" r:id="Rcfcbc8c9382b4756"/>
    <p:sldId xmlns:r="http://schemas.openxmlformats.org/officeDocument/2006/relationships" id="260" r:id="Rff4e5adc13a74706"/>
    <p:sldId xmlns:r="http://schemas.openxmlformats.org/officeDocument/2006/relationships" id="261" r:id="R3ea60dab21464c73"/>
    <p:sldId xmlns:r="http://schemas.openxmlformats.org/officeDocument/2006/relationships" id="262" r:id="R062ea2aa6a5a4972"/>
    <p:sldId xmlns:r="http://schemas.openxmlformats.org/officeDocument/2006/relationships" id="263" r:id="Re07061bde57a48e5"/>
    <p:sldId xmlns:r="http://schemas.openxmlformats.org/officeDocument/2006/relationships" id="264" r:id="R40af48a83f9d4be8"/>
    <p:sldId xmlns:r="http://schemas.openxmlformats.org/officeDocument/2006/relationships" id="265" r:id="R85225c8d507e49eb"/>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591ca1c13de4818" /><Relationship Type="http://schemas.openxmlformats.org/officeDocument/2006/relationships/slideMaster" Target="/ppt/slideMasters/slideMaster1.xml" Id="R5c0c5bd6359b4d91" /><Relationship Type="http://schemas.openxmlformats.org/officeDocument/2006/relationships/notesMaster" Target="/ppt/notesMasters/notesMaster1.xml" Id="Rdc5d9e7e608745e1" /><Relationship Type="http://schemas.openxmlformats.org/officeDocument/2006/relationships/presProps" Target="/ppt/presProps.xml" Id="R1f249f1a01874e10" /><Relationship Type="http://schemas.openxmlformats.org/officeDocument/2006/relationships/tableStyles" Target="/ppt/tableStyles.xml" Id="R8186b2ed6b7d46e9" /><Relationship Type="http://schemas.openxmlformats.org/officeDocument/2006/relationships/slide" Target="/ppt/slides/slide1.xml" Id="R089b803e61b54d36" /><Relationship Type="http://schemas.openxmlformats.org/officeDocument/2006/relationships/slide" Target="/ppt/slides/slide2.xml" Id="R0f16c2af96844532" /><Relationship Type="http://schemas.openxmlformats.org/officeDocument/2006/relationships/slide" Target="/ppt/slides/slide3.xml" Id="R8bfba6ccabb4436e" /><Relationship Type="http://schemas.openxmlformats.org/officeDocument/2006/relationships/slide" Target="/ppt/slides/slide4.xml" Id="Rcfcbc8c9382b4756" /><Relationship Type="http://schemas.openxmlformats.org/officeDocument/2006/relationships/slide" Target="/ppt/slides/slide5.xml" Id="Rff4e5adc13a74706" /><Relationship Type="http://schemas.openxmlformats.org/officeDocument/2006/relationships/slide" Target="/ppt/slides/slide6.xml" Id="R3ea60dab21464c73" /><Relationship Type="http://schemas.openxmlformats.org/officeDocument/2006/relationships/slide" Target="/ppt/slides/slide7.xml" Id="R062ea2aa6a5a4972" /><Relationship Type="http://schemas.openxmlformats.org/officeDocument/2006/relationships/slide" Target="/ppt/slides/slide8.xml" Id="Re07061bde57a48e5" /><Relationship Type="http://schemas.openxmlformats.org/officeDocument/2006/relationships/slide" Target="/ppt/slides/slide9.xml" Id="R40af48a83f9d4be8" /><Relationship Type="http://schemas.openxmlformats.org/officeDocument/2006/relationships/slide" Target="/ppt/slides/slide10.xml" Id="R85225c8d507e49e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122d08240f841d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1821a2604c34cef" /><Relationship Type="http://schemas.openxmlformats.org/officeDocument/2006/relationships/notesMaster" Target="/ppt/notesMasters/notesMaster1.xml" Id="Rc42311abda854268" /></Relationships>
</file>

<file path=ppt/notesSlides/_rels/notesSlide2.xml.rels>&#65279;<?xml version="1.0" encoding="utf-8"?><Relationships xmlns="http://schemas.openxmlformats.org/package/2006/relationships"><Relationship Type="http://schemas.openxmlformats.org/officeDocument/2006/relationships/slide" Target="/ppt/slides/slide2.xml" Id="R4728a56fb0104a44" /><Relationship Type="http://schemas.openxmlformats.org/officeDocument/2006/relationships/notesMaster" Target="/ppt/notesMasters/notesMaster1.xml" Id="Rd1f42a24725e44e8" /></Relationships>
</file>

<file path=ppt/notesSlides/_rels/notesSlide3.xml.rels>&#65279;<?xml version="1.0" encoding="utf-8"?><Relationships xmlns="http://schemas.openxmlformats.org/package/2006/relationships"><Relationship Type="http://schemas.openxmlformats.org/officeDocument/2006/relationships/slide" Target="/ppt/slides/slide3.xml" Id="R077657205f3a49a7" /><Relationship Type="http://schemas.openxmlformats.org/officeDocument/2006/relationships/notesMaster" Target="/ppt/notesMasters/notesMaster1.xml" Id="Rc3f154f0b6c747b8" /></Relationships>
</file>

<file path=ppt/notesSlides/_rels/notesSlide4.xml.rels>&#65279;<?xml version="1.0" encoding="utf-8"?><Relationships xmlns="http://schemas.openxmlformats.org/package/2006/relationships"><Relationship Type="http://schemas.openxmlformats.org/officeDocument/2006/relationships/slide" Target="/ppt/slides/slide4.xml" Id="R1d80523296734287" /><Relationship Type="http://schemas.openxmlformats.org/officeDocument/2006/relationships/notesMaster" Target="/ppt/notesMasters/notesMaster1.xml" Id="R576115959b284cda" /></Relationships>
</file>

<file path=ppt/notesSlides/_rels/notesSlide5.xml.rels>&#65279;<?xml version="1.0" encoding="utf-8"?><Relationships xmlns="http://schemas.openxmlformats.org/package/2006/relationships"><Relationship Type="http://schemas.openxmlformats.org/officeDocument/2006/relationships/slide" Target="/ppt/slides/slide5.xml" Id="R25a6d30ddb4c49ae" /><Relationship Type="http://schemas.openxmlformats.org/officeDocument/2006/relationships/notesMaster" Target="/ppt/notesMasters/notesMaster1.xml" Id="R18992d50f5ae486d" /></Relationships>
</file>

<file path=ppt/notesSlides/_rels/notesSlide6.xml.rels>&#65279;<?xml version="1.0" encoding="utf-8"?><Relationships xmlns="http://schemas.openxmlformats.org/package/2006/relationships"><Relationship Type="http://schemas.openxmlformats.org/officeDocument/2006/relationships/slide" Target="/ppt/slides/slide6.xml" Id="R6d26817354e04768" /><Relationship Type="http://schemas.openxmlformats.org/officeDocument/2006/relationships/notesMaster" Target="/ppt/notesMasters/notesMaster1.xml" Id="R171fd2245be84d75" /></Relationships>
</file>

<file path=ppt/notesSlides/_rels/notesSlide7.xml.rels>&#65279;<?xml version="1.0" encoding="utf-8"?><Relationships xmlns="http://schemas.openxmlformats.org/package/2006/relationships"><Relationship Type="http://schemas.openxmlformats.org/officeDocument/2006/relationships/slide" Target="/ppt/slides/slide7.xml" Id="Rb86d69db0f4f41e4" /><Relationship Type="http://schemas.openxmlformats.org/officeDocument/2006/relationships/notesMaster" Target="/ppt/notesMasters/notesMaster1.xml" Id="Ra445b40d196b4ecf" /></Relationships>
</file>

<file path=ppt/notesSlides/_rels/notesSlide8.xml.rels>&#65279;<?xml version="1.0" encoding="utf-8"?><Relationships xmlns="http://schemas.openxmlformats.org/package/2006/relationships"><Relationship Type="http://schemas.openxmlformats.org/officeDocument/2006/relationships/slide" Target="/ppt/slides/slide8.xml" Id="Rf239893a792340eb" /><Relationship Type="http://schemas.openxmlformats.org/officeDocument/2006/relationships/notesMaster" Target="/ppt/notesMasters/notesMaster1.xml" Id="Raf59ea712ee04d77" /></Relationships>
</file>

<file path=ppt/notesSlides/_rels/notesSlide9.xml.rels>&#65279;<?xml version="1.0" encoding="utf-8"?><Relationships xmlns="http://schemas.openxmlformats.org/package/2006/relationships"><Relationship Type="http://schemas.openxmlformats.org/officeDocument/2006/relationships/slide" Target="/ppt/slides/slide9.xml" Id="R6c0f630b331048de" /><Relationship Type="http://schemas.openxmlformats.org/officeDocument/2006/relationships/notesMaster" Target="/ppt/notesMasters/notesMaster1.xml" Id="R4729e66d23d34a9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5efa8621444486a" /><Relationship Type="http://schemas.openxmlformats.org/officeDocument/2006/relationships/notesMaster" Target="/ppt/notesMasters/notesMaster1.xml" Id="Rc58f3c20a35e41f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开场先定调：本次项目证明了关键闭环，但不能把客户这次看到的形态直接当成电子云软件工厂未来完整定义。</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这三层需要分开讲。客户口径不是全部产品定义；交付验证说明我们当前站在哪里；产品主张回答下一步往哪里走。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客户提供的航母相关场景不是普通页面生成需求，而是在测试软件工厂的领域知识、数据接入、规则研判和应用表达能力。</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重点不是比较输赢，而是识别客户认可能力差距：我们已证明闭环，但还要把需求澄清、数据流转和 agent 协作过程做得更可见。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数据流转可视化应放第一优先级。客户最容易质疑数据是否真实、怎么来、怎么处理、怎么进入分析、最终怎么展示。</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应用生成是重要入口，但不是终局。真正的主轴是 agent 能力如何被管理、编排、分发、沉淀，并进入真实工程生产链路。</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未来软件工厂不能是固定 agent 流水线。客户领域不同、系统环境不同、交付目标不同，参与计划就应该不同。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客户场景越多，不应每次从零开始。软件工厂应通过领域能力包沉淀经验，并通过云产品底座进入真实工程链路。</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DevOps 是第一阶段最优先打通对象，因为它承接软件生产主链路。与此同时，数据职责必须分清，否则软件工厂后端容易变成业务数据中台。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最后要把汇报收束到可决策事项上。复盘不应停留在观点，而应推动下一阶段建设边界和优先级落地。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42518e395ff439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66526d706724d5d" /><Relationship Type="http://schemas.openxmlformats.org/officeDocument/2006/relationships/slideLayout" Target="/ppt/slideLayouts/slideLayout1.xml" Id="Rfea7f33aa604418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ea7f33aa604418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ee2827d89784a4b" /><Relationship Type="http://schemas.openxmlformats.org/officeDocument/2006/relationships/notesSlide" Target="/ppt/notesSlides/notesSlide1.xml" Id="R875a7efe7bfc45b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22e3bea0acc42ec" /><Relationship Type="http://schemas.openxmlformats.org/officeDocument/2006/relationships/notesSlide" Target="/ppt/notesSlides/notesSlide2.xml" Id="R37be470364cb4d8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9220bdc41ed4593" /><Relationship Type="http://schemas.openxmlformats.org/officeDocument/2006/relationships/notesSlide" Target="/ppt/notesSlides/notesSlide3.xml" Id="Re54750d536c4441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36312f1af4e43a0" /><Relationship Type="http://schemas.openxmlformats.org/officeDocument/2006/relationships/notesSlide" Target="/ppt/notesSlides/notesSlide4.xml" Id="R5129d658b03e454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76db2cf1a5542da" /><Relationship Type="http://schemas.openxmlformats.org/officeDocument/2006/relationships/notesSlide" Target="/ppt/notesSlides/notesSlide5.xml" Id="Rc2b3f5453dae400f"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bd3d92fd31343d7" /><Relationship Type="http://schemas.openxmlformats.org/officeDocument/2006/relationships/notesSlide" Target="/ppt/notesSlides/notesSlide6.xml" Id="R4a0b37d67b564bc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e0e46098795444e" /><Relationship Type="http://schemas.openxmlformats.org/officeDocument/2006/relationships/notesSlide" Target="/ppt/notesSlides/notesSlide7.xml" Id="R3b5b245199c8419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65bed5b7a59f4d84" /><Relationship Type="http://schemas.openxmlformats.org/officeDocument/2006/relationships/notesSlide" Target="/ppt/notesSlides/notesSlide8.xml" Id="R959e00f4fd454c07"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c109ada83ec34296" /><Relationship Type="http://schemas.openxmlformats.org/officeDocument/2006/relationships/notesSlide" Target="/ppt/notesSlides/notesSlide9.xml" Id="R03f583dd213c476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6c0730f7c51c4f05" /><Relationship Type="http://schemas.openxmlformats.org/officeDocument/2006/relationships/notesSlide" Target="/ppt/notesSlides/notesSlide10.xml" Id="Rb1e7e947bed04de7"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3DAB8B74-E690-40A0-ABF8-95AB9819D227}"/>
              </a:ext>
            </a:extLst>
          </p:cNvPr>
          <p:cNvSpPr>
            <a:spLocks xmlns:a="http://schemas.openxmlformats.org/drawingml/2006/main" noGrp="1"/>
          </p:cNvSpPr>
          <p:nvPr/>
        </p:nvSpPr>
        <p:spPr>
          <a:xfrm xmlns:a="http://schemas.openxmlformats.org/drawingml/2006/main">
            <a:off x="514350" y="457200"/>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555555"/>
                </a:solidFill>
              </a:defRPr>
            </a:pPr>
            <a:r>
              <a:rPr sz="1125" b="1">
                <a:solidFill>
                  <a:srgbClr val="555555"/>
                </a:solidFill>
              </a:rPr>
              <a:t>内部产品与交付决策层</a:t>
            </a:r>
          </a:p>
        </p:txBody>
      </p:sp>
      <p:sp>
        <p:nvSpPr>
          <p:cNvPr id="2" name="">
            <a:extLst xmlns:a="http://schemas.openxmlformats.org/drawingml/2006/main">
              <a:ext uri="{FF2B5EF4-FFF2-40B4-BE49-F238E27FC236}">
                <a16:creationId xmlns:a16="http://schemas.microsoft.com/office/drawing/2014/main" id="{EB007188-A2A8-46AC-817B-B964E15CC54A}"/>
              </a:ext>
            </a:extLst>
          </p:cNvPr>
          <p:cNvSpPr>
            <a:spLocks xmlns:a="http://schemas.openxmlformats.org/drawingml/2006/main" noGrp="1"/>
          </p:cNvSpPr>
          <p:nvPr/>
        </p:nvSpPr>
        <p:spPr>
          <a:xfrm xmlns:a="http://schemas.openxmlformats.org/drawingml/2006/main">
            <a:off x="514350" y="1238250"/>
            <a:ext cx="72390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4500" b="1">
                <a:solidFill>
                  <a:srgbClr val="000000"/>
                </a:solidFill>
              </a:defRPr>
            </a:pPr>
            <a:r>
              <a:rPr sz="4500" b="1">
                <a:solidFill>
                  <a:srgbClr val="000000"/>
                </a:solidFill>
              </a:rPr>
              <a:t>西安 630 项目</a:t>
            </a:r>
          </a:p>
          <a:p xmlns:a="http://schemas.openxmlformats.org/drawingml/2006/main">
            <a:pPr algn="l">
              <a:defRPr sz="4500" b="1">
                <a:solidFill>
                  <a:srgbClr val="000000"/>
                </a:solidFill>
              </a:defRPr>
            </a:pPr>
            <a:r>
              <a:rPr sz="4500" b="1">
                <a:solidFill>
                  <a:srgbClr val="000000"/>
                </a:solidFill>
              </a:rPr>
              <a:t>软件工厂复盘</a:t>
            </a:r>
          </a:p>
        </p:txBody>
      </p:sp>
      <p:sp>
        <p:nvSpPr>
          <p:cNvPr id="3" name="">
            <a:extLst xmlns:a="http://schemas.openxmlformats.org/drawingml/2006/main">
              <a:ext uri="{FF2B5EF4-FFF2-40B4-BE49-F238E27FC236}">
                <a16:creationId xmlns:a16="http://schemas.microsoft.com/office/drawing/2014/main" id="{AAF45F37-49B1-4E54-BE0C-D03A22B85ED2}"/>
              </a:ext>
            </a:extLst>
          </p:cNvPr>
          <p:cNvSpPr>
            <a:spLocks xmlns:a="http://schemas.openxmlformats.org/drawingml/2006/main" noGrp="1"/>
          </p:cNvSpPr>
          <p:nvPr/>
        </p:nvSpPr>
        <p:spPr>
          <a:xfrm xmlns:a="http://schemas.openxmlformats.org/drawingml/2006/main">
            <a:off x="514350" y="3190875"/>
            <a:ext cx="723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555555"/>
                </a:solidFill>
              </a:defRPr>
            </a:pPr>
            <a:r>
              <a:rPr sz="1800" b="0">
                <a:solidFill>
                  <a:srgbClr val="555555"/>
                </a:solidFill>
              </a:rPr>
              <a:t>从客户理解口径到电子云软件工厂产品主张</a:t>
            </a:r>
          </a:p>
        </p:txBody>
      </p:sp>
      <p:sp>
        <p:nvSpPr>
          <p:cNvPr id="4" name="">
            <a:extLst xmlns:a="http://schemas.openxmlformats.org/drawingml/2006/main">
              <a:ext uri="{FF2B5EF4-FFF2-40B4-BE49-F238E27FC236}">
                <a16:creationId xmlns:a16="http://schemas.microsoft.com/office/drawing/2014/main" id="{8518E023-D4B3-474E-8F5C-A1A58E124D8F}"/>
              </a:ext>
            </a:extLst>
          </p:cNvPr>
          <p:cNvSpPr>
            <a:spLocks xmlns:a="http://schemas.openxmlformats.org/drawingml/2006/main" noGrp="1"/>
          </p:cNvSpPr>
          <p:nvPr/>
        </p:nvSpPr>
        <p:spPr>
          <a:xfrm xmlns:a="http://schemas.openxmlformats.org/drawingml/2006/main">
            <a:off x="7905750" y="1047750"/>
            <a:ext cx="3333750" cy="3714750"/>
          </a:xfrm>
          <a:prstGeom xmlns:a="http://schemas.openxmlformats.org/drawingml/2006/main" prst="rect">
            <a:avLst/>
          </a:prstGeom>
          <a:solidFill xmlns:a="http://schemas.openxmlformats.org/drawingml/2006/main">
            <a:srgbClr val="F6F6F6"/>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2D714228-CCE7-4B29-9551-BC072FB82C3F}"/>
              </a:ext>
            </a:extLst>
          </p:cNvPr>
          <p:cNvSpPr>
            <a:spLocks xmlns:a="http://schemas.openxmlformats.org/drawingml/2006/main" noGrp="1"/>
          </p:cNvSpPr>
          <p:nvPr/>
        </p:nvSpPr>
        <p:spPr>
          <a:xfrm xmlns:a="http://schemas.openxmlformats.org/drawingml/2006/main">
            <a:off x="8172450" y="1381125"/>
            <a:ext cx="152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FF6B35"/>
                </a:solidFill>
              </a:defRPr>
            </a:pPr>
            <a:r>
              <a:rPr sz="1125" b="1">
                <a:solidFill>
                  <a:srgbClr val="FF6B35"/>
                </a:solidFill>
              </a:rPr>
              <a:t>核心结论</a:t>
            </a:r>
          </a:p>
        </p:txBody>
      </p:sp>
      <p:sp>
        <p:nvSpPr>
          <p:cNvPr id="6" name="">
            <a:extLst xmlns:a="http://schemas.openxmlformats.org/drawingml/2006/main">
              <a:ext uri="{FF2B5EF4-FFF2-40B4-BE49-F238E27FC236}">
                <a16:creationId xmlns:a16="http://schemas.microsoft.com/office/drawing/2014/main" id="{AAB7BAF7-A925-451A-98C7-6F5795D7619C}"/>
              </a:ext>
            </a:extLst>
          </p:cNvPr>
          <p:cNvSpPr>
            <a:spLocks xmlns:a="http://schemas.openxmlformats.org/drawingml/2006/main" noGrp="1"/>
          </p:cNvSpPr>
          <p:nvPr/>
        </p:nvSpPr>
        <p:spPr>
          <a:xfrm xmlns:a="http://schemas.openxmlformats.org/drawingml/2006/main">
            <a:off x="8172450" y="1762125"/>
            <a:ext cx="2714625"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100" b="1">
                <a:solidFill>
                  <a:srgbClr val="000000"/>
                </a:solidFill>
              </a:defRPr>
            </a:pPr>
            <a:r>
              <a:rPr sz="2100" b="1">
                <a:solidFill>
                  <a:srgbClr val="000000"/>
                </a:solidFill>
              </a:rPr>
              <a:t>630 现场验证了最小闭环，但不等于产品终局。</a:t>
            </a:r>
          </a:p>
        </p:txBody>
      </p:sp>
      <p:sp>
        <p:nvSpPr>
          <p:cNvPr id="7" name="">
            <a:extLst xmlns:a="http://schemas.openxmlformats.org/drawingml/2006/main">
              <a:ext uri="{FF2B5EF4-FFF2-40B4-BE49-F238E27FC236}">
                <a16:creationId xmlns:a16="http://schemas.microsoft.com/office/drawing/2014/main" id="{70EFC9A4-AD83-4EC7-9CAC-9F0931DAE1EF}"/>
              </a:ext>
            </a:extLst>
          </p:cNvPr>
          <p:cNvSpPr>
            <a:spLocks xmlns:a="http://schemas.openxmlformats.org/drawingml/2006/main" noGrp="1"/>
          </p:cNvSpPr>
          <p:nvPr/>
        </p:nvSpPr>
        <p:spPr>
          <a:xfrm xmlns:a="http://schemas.openxmlformats.org/drawingml/2006/main">
            <a:off x="8172450" y="3143250"/>
            <a:ext cx="2714625"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222222"/>
                </a:solidFill>
              </a:defRPr>
            </a:pPr>
            <a:r>
              <a:rPr sz="1350" b="0">
                <a:solidFill>
                  <a:srgbClr val="222222"/>
                </a:solidFill>
              </a:rPr>
              <a:t>长期主张：多 agent 管理协作、任务分发执行、领域能力包沉淀，并与云产品深度结合。</a:t>
            </a:r>
          </a:p>
        </p:txBody>
      </p:sp>
      <p:sp>
        <p:nvSpPr>
          <p:cNvPr id="8" name="">
            <a:extLst xmlns:a="http://schemas.openxmlformats.org/drawingml/2006/main">
              <a:ext uri="{FF2B5EF4-FFF2-40B4-BE49-F238E27FC236}">
                <a16:creationId xmlns:a16="http://schemas.microsoft.com/office/drawing/2014/main" id="{19B50C2E-4326-4679-81A1-B9119B44F5F5}"/>
              </a:ext>
            </a:extLst>
          </p:cNvPr>
          <p:cNvSpPr>
            <a:spLocks xmlns:a="http://schemas.openxmlformats.org/drawingml/2006/main" noGrp="1"/>
          </p:cNvSpPr>
          <p:nvPr/>
        </p:nvSpPr>
        <p:spPr>
          <a:xfrm xmlns:a="http://schemas.openxmlformats.org/drawingml/2006/main">
            <a:off x="514350" y="6000750"/>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555555"/>
                </a:solidFill>
              </a:defRPr>
            </a:pPr>
            <a:r>
              <a:rPr sz="1350" b="0">
                <a:solidFill>
                  <a:srgbClr val="555555"/>
                </a:solidFill>
              </a:rPr>
              <a:t>2026.06</a:t>
            </a:r>
          </a:p>
        </p:txBody>
      </p:sp>
    </p:spTree>
    <p:extLst>
      <p:ext uri="{BB962C8B-B14F-4D97-AF65-F5344CB8AC3E}">
        <p14:creationId xmlns:p14="http://schemas.microsoft.com/office/powerpoint/2010/main" val="144881082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76E96BD-F2B4-4332-BEB6-C461627FFD90}"/>
              </a:ext>
            </a:extLst>
          </p:cNvPr>
          <p:cNvSpPr>
            <a:spLocks xmlns:a="http://schemas.openxmlformats.org/drawingml/2006/main" noGrp="1"/>
          </p:cNvSpPr>
          <p:nvPr/>
        </p:nvSpPr>
        <p:spPr>
          <a:xfrm xmlns:a="http://schemas.openxmlformats.org/drawingml/2006/main">
            <a:off x="514350" y="381000"/>
            <a:ext cx="10001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00000"/>
                </a:solidFill>
              </a:defRPr>
            </a:pPr>
            <a:r>
              <a:rPr sz="2850" b="1">
                <a:solidFill>
                  <a:srgbClr val="000000"/>
                </a:solidFill>
              </a:rPr>
              <a:t>本次复盘分三层看</a:t>
            </a:r>
          </a:p>
        </p:txBody>
      </p:sp>
      <p:sp>
        <p:nvSpPr>
          <p:cNvPr id="2" name="">
            <a:extLst xmlns:a="http://schemas.openxmlformats.org/drawingml/2006/main">
              <a:ext uri="{FF2B5EF4-FFF2-40B4-BE49-F238E27FC236}">
                <a16:creationId xmlns:a16="http://schemas.microsoft.com/office/drawing/2014/main" id="{E4FCDD39-7668-412D-BAC0-29CA9D4BB12D}"/>
              </a:ext>
            </a:extLst>
          </p:cNvPr>
          <p:cNvSpPr>
            <a:spLocks xmlns:a="http://schemas.openxmlformats.org/drawingml/2006/main" noGrp="1"/>
          </p:cNvSpPr>
          <p:nvPr/>
        </p:nvSpPr>
        <p:spPr>
          <a:xfrm xmlns:a="http://schemas.openxmlformats.org/drawingml/2006/main">
            <a:off x="514350" y="990600"/>
            <a:ext cx="876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555555"/>
                </a:solidFill>
              </a:defRPr>
            </a:pPr>
            <a:r>
              <a:rPr sz="1350" b="0">
                <a:solidFill>
                  <a:srgbClr val="555555"/>
                </a:solidFill>
              </a:rPr>
              <a:t>客户口径是输入，交付验证是现状，产品主张决定下一步。</a:t>
            </a:r>
          </a:p>
        </p:txBody>
      </p:sp>
      <p:sp>
        <p:nvSpPr>
          <p:cNvPr id="3" name="">
            <a:extLst xmlns:a="http://schemas.openxmlformats.org/drawingml/2006/main">
              <a:ext uri="{FF2B5EF4-FFF2-40B4-BE49-F238E27FC236}">
                <a16:creationId xmlns:a16="http://schemas.microsoft.com/office/drawing/2014/main" id="{5E13F1AA-7EE9-452F-851C-91AE43ABAAD4}"/>
              </a:ext>
            </a:extLst>
          </p:cNvPr>
          <p:cNvSpPr>
            <a:spLocks xmlns:a="http://schemas.openxmlformats.org/drawingml/2006/main" noGrp="1"/>
          </p:cNvSpPr>
          <p:nvPr/>
        </p:nvSpPr>
        <p:spPr>
          <a:xfrm xmlns:a="http://schemas.openxmlformats.org/drawingml/2006/main">
            <a:off x="514350" y="1428750"/>
            <a:ext cx="111633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4" name="">
            <a:extLst xmlns:a="http://schemas.openxmlformats.org/drawingml/2006/main">
              <a:ext uri="{FF2B5EF4-FFF2-40B4-BE49-F238E27FC236}">
                <a16:creationId xmlns:a16="http://schemas.microsoft.com/office/drawing/2014/main" id="{E26A308E-66B8-42E0-BD89-F97188F18F6A}"/>
              </a:ext>
            </a:extLst>
          </p:cNvPr>
          <p:cNvSpPr>
            <a:spLocks xmlns:a="http://schemas.openxmlformats.org/drawingml/2006/main" noGrp="1"/>
          </p:cNvSpPr>
          <p:nvPr/>
        </p:nvSpPr>
        <p:spPr>
          <a:xfrm xmlns:a="http://schemas.openxmlformats.org/drawingml/2006/main">
            <a:off x="685800" y="2095500"/>
            <a:ext cx="3143250" cy="2667000"/>
          </a:xfrm>
          <a:prstGeom xmlns:a="http://schemas.openxmlformats.org/drawingml/2006/main" prst="rect">
            <a:avLst/>
          </a:prstGeom>
          <a:solidFill xmlns:a="http://schemas.openxmlformats.org/drawingml/2006/main">
            <a:srgbClr val="F6F6F6"/>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5E43146B-644D-41BF-A5CE-EA0B44FB7ADC}"/>
              </a:ext>
            </a:extLst>
          </p:cNvPr>
          <p:cNvSpPr>
            <a:spLocks xmlns:a="http://schemas.openxmlformats.org/drawingml/2006/main" noGrp="1"/>
          </p:cNvSpPr>
          <p:nvPr/>
        </p:nvSpPr>
        <p:spPr>
          <a:xfrm xmlns:a="http://schemas.openxmlformats.org/drawingml/2006/main">
            <a:off x="933450" y="2343150"/>
            <a:ext cx="762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550" b="1">
                <a:solidFill>
                  <a:srgbClr val="000000"/>
                </a:solidFill>
              </a:defRPr>
            </a:pPr>
            <a:r>
              <a:rPr sz="2550" b="1">
                <a:solidFill>
                  <a:srgbClr val="000000"/>
                </a:solidFill>
              </a:rPr>
              <a:t>01</a:t>
            </a:r>
          </a:p>
        </p:txBody>
      </p:sp>
      <p:sp>
        <p:nvSpPr>
          <p:cNvPr id="6" name="">
            <a:extLst xmlns:a="http://schemas.openxmlformats.org/drawingml/2006/main">
              <a:ext uri="{FF2B5EF4-FFF2-40B4-BE49-F238E27FC236}">
                <a16:creationId xmlns:a16="http://schemas.microsoft.com/office/drawing/2014/main" id="{64BD8251-0D1A-4808-AE62-452731A65C75}"/>
              </a:ext>
            </a:extLst>
          </p:cNvPr>
          <p:cNvSpPr>
            <a:spLocks xmlns:a="http://schemas.openxmlformats.org/drawingml/2006/main" noGrp="1"/>
          </p:cNvSpPr>
          <p:nvPr/>
        </p:nvSpPr>
        <p:spPr>
          <a:xfrm xmlns:a="http://schemas.openxmlformats.org/drawingml/2006/main">
            <a:off x="933450" y="3009900"/>
            <a:ext cx="2476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000000"/>
                </a:solidFill>
              </a:defRPr>
            </a:pPr>
            <a:r>
              <a:rPr sz="1950" b="1">
                <a:solidFill>
                  <a:srgbClr val="000000"/>
                </a:solidFill>
              </a:rPr>
              <a:t>客户理解口径</a:t>
            </a:r>
          </a:p>
        </p:txBody>
      </p:sp>
      <p:sp>
        <p:nvSpPr>
          <p:cNvPr id="7" name="">
            <a:extLst xmlns:a="http://schemas.openxmlformats.org/drawingml/2006/main">
              <a:ext uri="{FF2B5EF4-FFF2-40B4-BE49-F238E27FC236}">
                <a16:creationId xmlns:a16="http://schemas.microsoft.com/office/drawing/2014/main" id="{7288917E-81E3-438F-88AA-41FBC0898A86}"/>
              </a:ext>
            </a:extLst>
          </p:cNvPr>
          <p:cNvSpPr>
            <a:spLocks xmlns:a="http://schemas.openxmlformats.org/drawingml/2006/main" noGrp="1"/>
          </p:cNvSpPr>
          <p:nvPr/>
        </p:nvSpPr>
        <p:spPr>
          <a:xfrm xmlns:a="http://schemas.openxmlformats.org/drawingml/2006/main">
            <a:off x="933450" y="3562350"/>
            <a:ext cx="25717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222222"/>
                </a:solidFill>
              </a:defRPr>
            </a:pPr>
            <a:r>
              <a:rPr sz="1350" b="0">
                <a:solidFill>
                  <a:srgbClr val="222222"/>
                </a:solidFill>
              </a:rPr>
              <a:t>自然语言、多轮澄清、多 agent 协作、真实数据接入和应用生成。</a:t>
            </a:r>
          </a:p>
        </p:txBody>
      </p:sp>
      <p:sp>
        <p:nvSpPr>
          <p:cNvPr id="8" name="">
            <a:extLst xmlns:a="http://schemas.openxmlformats.org/drawingml/2006/main">
              <a:ext uri="{FF2B5EF4-FFF2-40B4-BE49-F238E27FC236}">
                <a16:creationId xmlns:a16="http://schemas.microsoft.com/office/drawing/2014/main" id="{DE802F40-8AE4-4EEA-B8F9-B218F6EA593B}"/>
              </a:ext>
            </a:extLst>
          </p:cNvPr>
          <p:cNvSpPr>
            <a:spLocks xmlns:a="http://schemas.openxmlformats.org/drawingml/2006/main" noGrp="1"/>
          </p:cNvSpPr>
          <p:nvPr/>
        </p:nvSpPr>
        <p:spPr>
          <a:xfrm xmlns:a="http://schemas.openxmlformats.org/drawingml/2006/main">
            <a:off x="4019550" y="3143250"/>
            <a:ext cx="4000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0">
                <a:solidFill>
                  <a:srgbClr val="555555"/>
                </a:solidFill>
              </a:defRPr>
            </a:pPr>
            <a:r>
              <a:rPr sz="2700" b="0">
                <a:solidFill>
                  <a:srgbClr val="555555"/>
                </a:solidFill>
              </a:rPr>
              <a:t>→</a:t>
            </a:r>
          </a:p>
        </p:txBody>
      </p:sp>
      <p:sp>
        <p:nvSpPr>
          <p:cNvPr id="9" name="">
            <a:extLst xmlns:a="http://schemas.openxmlformats.org/drawingml/2006/main">
              <a:ext uri="{FF2B5EF4-FFF2-40B4-BE49-F238E27FC236}">
                <a16:creationId xmlns:a16="http://schemas.microsoft.com/office/drawing/2014/main" id="{85EAE7BB-D230-466C-85CA-37D2F0FB5136}"/>
              </a:ext>
            </a:extLst>
          </p:cNvPr>
          <p:cNvSpPr>
            <a:spLocks xmlns:a="http://schemas.openxmlformats.org/drawingml/2006/main" noGrp="1"/>
          </p:cNvSpPr>
          <p:nvPr/>
        </p:nvSpPr>
        <p:spPr>
          <a:xfrm xmlns:a="http://schemas.openxmlformats.org/drawingml/2006/main">
            <a:off x="4305300" y="2095500"/>
            <a:ext cx="3143250" cy="2667000"/>
          </a:xfrm>
          <a:prstGeom xmlns:a="http://schemas.openxmlformats.org/drawingml/2006/main" prst="rect">
            <a:avLst/>
          </a:prstGeom>
          <a:solidFill xmlns:a="http://schemas.openxmlformats.org/drawingml/2006/main">
            <a:srgbClr val="F6F6F6"/>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B200CD8A-264B-4DD7-A40D-C5CB401637D0}"/>
              </a:ext>
            </a:extLst>
          </p:cNvPr>
          <p:cNvSpPr>
            <a:spLocks xmlns:a="http://schemas.openxmlformats.org/drawingml/2006/main" noGrp="1"/>
          </p:cNvSpPr>
          <p:nvPr/>
        </p:nvSpPr>
        <p:spPr>
          <a:xfrm xmlns:a="http://schemas.openxmlformats.org/drawingml/2006/main">
            <a:off x="4552950" y="2343150"/>
            <a:ext cx="762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550" b="1">
                <a:solidFill>
                  <a:srgbClr val="000000"/>
                </a:solidFill>
              </a:defRPr>
            </a:pPr>
            <a:r>
              <a:rPr sz="2550" b="1">
                <a:solidFill>
                  <a:srgbClr val="000000"/>
                </a:solidFill>
              </a:rPr>
              <a:t>02</a:t>
            </a:r>
          </a:p>
        </p:txBody>
      </p:sp>
      <p:sp>
        <p:nvSpPr>
          <p:cNvPr id="11" name="">
            <a:extLst xmlns:a="http://schemas.openxmlformats.org/drawingml/2006/main">
              <a:ext uri="{FF2B5EF4-FFF2-40B4-BE49-F238E27FC236}">
                <a16:creationId xmlns:a16="http://schemas.microsoft.com/office/drawing/2014/main" id="{9D9F170C-FA01-4FA2-AEB4-E05B826E6FAF}"/>
              </a:ext>
            </a:extLst>
          </p:cNvPr>
          <p:cNvSpPr>
            <a:spLocks xmlns:a="http://schemas.openxmlformats.org/drawingml/2006/main" noGrp="1"/>
          </p:cNvSpPr>
          <p:nvPr/>
        </p:nvSpPr>
        <p:spPr>
          <a:xfrm xmlns:a="http://schemas.openxmlformats.org/drawingml/2006/main">
            <a:off x="4552950" y="3009900"/>
            <a:ext cx="2476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000000"/>
                </a:solidFill>
              </a:defRPr>
            </a:pPr>
            <a:r>
              <a:rPr sz="1950" b="1">
                <a:solidFill>
                  <a:srgbClr val="000000"/>
                </a:solidFill>
              </a:rPr>
              <a:t>本次交付验证</a:t>
            </a:r>
          </a:p>
        </p:txBody>
      </p:sp>
      <p:sp>
        <p:nvSpPr>
          <p:cNvPr id="12" name="">
            <a:extLst xmlns:a="http://schemas.openxmlformats.org/drawingml/2006/main">
              <a:ext uri="{FF2B5EF4-FFF2-40B4-BE49-F238E27FC236}">
                <a16:creationId xmlns:a16="http://schemas.microsoft.com/office/drawing/2014/main" id="{7DD5C110-DF82-4014-8FBE-8AF5B238C14E}"/>
              </a:ext>
            </a:extLst>
          </p:cNvPr>
          <p:cNvSpPr>
            <a:spLocks xmlns:a="http://schemas.openxmlformats.org/drawingml/2006/main" noGrp="1"/>
          </p:cNvSpPr>
          <p:nvPr/>
        </p:nvSpPr>
        <p:spPr>
          <a:xfrm xmlns:a="http://schemas.openxmlformats.org/drawingml/2006/main">
            <a:off x="4552950" y="3562350"/>
            <a:ext cx="25717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222222"/>
                </a:solidFill>
              </a:defRPr>
            </a:pPr>
            <a:r>
              <a:rPr sz="1350" b="0">
                <a:solidFill>
                  <a:srgbClr val="222222"/>
                </a:solidFill>
              </a:rPr>
              <a:t>自然语言到应用、本体数据接入、真实数据展示和客户系统嵌入。</a:t>
            </a:r>
          </a:p>
        </p:txBody>
      </p:sp>
      <p:sp>
        <p:nvSpPr>
          <p:cNvPr id="13" name="">
            <a:extLst xmlns:a="http://schemas.openxmlformats.org/drawingml/2006/main">
              <a:ext uri="{FF2B5EF4-FFF2-40B4-BE49-F238E27FC236}">
                <a16:creationId xmlns:a16="http://schemas.microsoft.com/office/drawing/2014/main" id="{3BF0F03A-778F-4FDC-81AF-CE5D477D9DA2}"/>
              </a:ext>
            </a:extLst>
          </p:cNvPr>
          <p:cNvSpPr>
            <a:spLocks xmlns:a="http://schemas.openxmlformats.org/drawingml/2006/main" noGrp="1"/>
          </p:cNvSpPr>
          <p:nvPr/>
        </p:nvSpPr>
        <p:spPr>
          <a:xfrm xmlns:a="http://schemas.openxmlformats.org/drawingml/2006/main">
            <a:off x="7639050" y="3143250"/>
            <a:ext cx="4000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0">
                <a:solidFill>
                  <a:srgbClr val="555555"/>
                </a:solidFill>
              </a:defRPr>
            </a:pPr>
            <a:r>
              <a:rPr sz="2700" b="0">
                <a:solidFill>
                  <a:srgbClr val="555555"/>
                </a:solidFill>
              </a:rPr>
              <a:t>→</a:t>
            </a:r>
          </a:p>
        </p:txBody>
      </p:sp>
      <p:sp>
        <p:nvSpPr>
          <p:cNvPr id="14" name="">
            <a:extLst xmlns:a="http://schemas.openxmlformats.org/drawingml/2006/main">
              <a:ext uri="{FF2B5EF4-FFF2-40B4-BE49-F238E27FC236}">
                <a16:creationId xmlns:a16="http://schemas.microsoft.com/office/drawing/2014/main" id="{C6D7E3DE-30A7-4B53-9012-71B313662829}"/>
              </a:ext>
            </a:extLst>
          </p:cNvPr>
          <p:cNvSpPr>
            <a:spLocks xmlns:a="http://schemas.openxmlformats.org/drawingml/2006/main" noGrp="1"/>
          </p:cNvSpPr>
          <p:nvPr/>
        </p:nvSpPr>
        <p:spPr>
          <a:xfrm xmlns:a="http://schemas.openxmlformats.org/drawingml/2006/main">
            <a:off x="7924800" y="2095500"/>
            <a:ext cx="3143250" cy="2667000"/>
          </a:xfrm>
          <a:prstGeom xmlns:a="http://schemas.openxmlformats.org/drawingml/2006/main" prst="rect">
            <a:avLst/>
          </a:prstGeom>
          <a:solidFill xmlns:a="http://schemas.openxmlformats.org/drawingml/2006/main">
            <a:srgbClr val="FFF4EF"/>
          </a:solidFill>
          <a:ln xmlns:a="http://schemas.openxmlformats.org/drawingml/2006/main" w="9525">
            <a:solidFill>
              <a:srgbClr val="FF6B35"/>
            </a:solidFill>
            <a:prstDash val="solid"/>
          </a:ln>
        </p:spPr>
      </p:sp>
      <p:sp>
        <p:nvSpPr>
          <p:cNvPr id="15" name="">
            <a:extLst xmlns:a="http://schemas.openxmlformats.org/drawingml/2006/main">
              <a:ext uri="{FF2B5EF4-FFF2-40B4-BE49-F238E27FC236}">
                <a16:creationId xmlns:a16="http://schemas.microsoft.com/office/drawing/2014/main" id="{97A44CDA-CD0C-4378-AE6D-8B95FE09DEC7}"/>
              </a:ext>
            </a:extLst>
          </p:cNvPr>
          <p:cNvSpPr>
            <a:spLocks xmlns:a="http://schemas.openxmlformats.org/drawingml/2006/main" noGrp="1"/>
          </p:cNvSpPr>
          <p:nvPr/>
        </p:nvSpPr>
        <p:spPr>
          <a:xfrm xmlns:a="http://schemas.openxmlformats.org/drawingml/2006/main">
            <a:off x="8172450" y="2343150"/>
            <a:ext cx="762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550" b="1">
                <a:solidFill>
                  <a:srgbClr val="FF6B35"/>
                </a:solidFill>
              </a:defRPr>
            </a:pPr>
            <a:r>
              <a:rPr sz="2550" b="1">
                <a:solidFill>
                  <a:srgbClr val="FF6B35"/>
                </a:solidFill>
              </a:rPr>
              <a:t>03</a:t>
            </a:r>
          </a:p>
        </p:txBody>
      </p:sp>
      <p:sp>
        <p:nvSpPr>
          <p:cNvPr id="16" name="">
            <a:extLst xmlns:a="http://schemas.openxmlformats.org/drawingml/2006/main">
              <a:ext uri="{FF2B5EF4-FFF2-40B4-BE49-F238E27FC236}">
                <a16:creationId xmlns:a16="http://schemas.microsoft.com/office/drawing/2014/main" id="{331ABF3A-6C48-44AC-B167-B58F93FEBC35}"/>
              </a:ext>
            </a:extLst>
          </p:cNvPr>
          <p:cNvSpPr>
            <a:spLocks xmlns:a="http://schemas.openxmlformats.org/drawingml/2006/main" noGrp="1"/>
          </p:cNvSpPr>
          <p:nvPr/>
        </p:nvSpPr>
        <p:spPr>
          <a:xfrm xmlns:a="http://schemas.openxmlformats.org/drawingml/2006/main">
            <a:off x="8172450" y="3009900"/>
            <a:ext cx="2476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000000"/>
                </a:solidFill>
              </a:defRPr>
            </a:pPr>
            <a:r>
              <a:rPr sz="1950" b="1">
                <a:solidFill>
                  <a:srgbClr val="000000"/>
                </a:solidFill>
              </a:rPr>
              <a:t>产品主张</a:t>
            </a:r>
          </a:p>
        </p:txBody>
      </p:sp>
      <p:sp>
        <p:nvSpPr>
          <p:cNvPr id="17" name="">
            <a:extLst xmlns:a="http://schemas.openxmlformats.org/drawingml/2006/main">
              <a:ext uri="{FF2B5EF4-FFF2-40B4-BE49-F238E27FC236}">
                <a16:creationId xmlns:a16="http://schemas.microsoft.com/office/drawing/2014/main" id="{1E4C04F2-9B88-46C6-8AC9-2ADC52F7B93A}"/>
              </a:ext>
            </a:extLst>
          </p:cNvPr>
          <p:cNvSpPr>
            <a:spLocks xmlns:a="http://schemas.openxmlformats.org/drawingml/2006/main" noGrp="1"/>
          </p:cNvSpPr>
          <p:nvPr/>
        </p:nvSpPr>
        <p:spPr>
          <a:xfrm xmlns:a="http://schemas.openxmlformats.org/drawingml/2006/main">
            <a:off x="8172450" y="3562350"/>
            <a:ext cx="25717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222222"/>
                </a:solidFill>
              </a:defRPr>
            </a:pPr>
            <a:r>
              <a:rPr sz="1350" b="0">
                <a:solidFill>
                  <a:srgbClr val="222222"/>
                </a:solidFill>
              </a:rPr>
              <a:t>多 agent 管理协作、任务分发执行、领域能力包沉淀和云产品融合。</a:t>
            </a:r>
          </a:p>
        </p:txBody>
      </p:sp>
      <p:sp>
        <p:nvSpPr>
          <p:cNvPr id="18" name="">
            <a:extLst xmlns:a="http://schemas.openxmlformats.org/drawingml/2006/main">
              <a:ext uri="{FF2B5EF4-FFF2-40B4-BE49-F238E27FC236}">
                <a16:creationId xmlns:a16="http://schemas.microsoft.com/office/drawing/2014/main" id="{59DDAF29-0044-4032-ABEB-A1BE1E9AD088}"/>
              </a:ext>
            </a:extLst>
          </p:cNvPr>
          <p:cNvSpPr>
            <a:spLocks xmlns:a="http://schemas.openxmlformats.org/drawingml/2006/main" noGrp="1"/>
          </p:cNvSpPr>
          <p:nvPr/>
        </p:nvSpPr>
        <p:spPr>
          <a:xfrm xmlns:a="http://schemas.openxmlformats.org/drawingml/2006/main">
            <a:off x="514350" y="63817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555555"/>
                </a:solidFill>
              </a:defRPr>
            </a:pPr>
            <a:r>
              <a:rPr sz="1050" b="0">
                <a:solidFill>
                  <a:srgbClr val="555555"/>
                </a:solidFill>
              </a:rPr>
              <a:t>西安 630 项目软件工厂复盘</a:t>
            </a:r>
          </a:p>
        </p:txBody>
      </p:sp>
      <p:sp>
        <p:nvSpPr>
          <p:cNvPr id="19" name="">
            <a:extLst xmlns:a="http://schemas.openxmlformats.org/drawingml/2006/main">
              <a:ext uri="{FF2B5EF4-FFF2-40B4-BE49-F238E27FC236}">
                <a16:creationId xmlns:a16="http://schemas.microsoft.com/office/drawing/2014/main" id="{19A49154-FA33-4D7B-92D4-BE84BF28F7BE}"/>
              </a:ext>
            </a:extLst>
          </p:cNvPr>
          <p:cNvSpPr>
            <a:spLocks xmlns:a="http://schemas.openxmlformats.org/drawingml/2006/main" noGrp="1"/>
          </p:cNvSpPr>
          <p:nvPr/>
        </p:nvSpPr>
        <p:spPr>
          <a:xfrm xmlns:a="http://schemas.openxmlformats.org/drawingml/2006/main">
            <a:off x="11287125" y="6381750"/>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a:solidFill>
                  <a:srgbClr val="555555"/>
                </a:solidFill>
              </a:defRPr>
            </a:pPr>
            <a:r>
              <a:rPr sz="1050" b="1">
                <a:solidFill>
                  <a:srgbClr val="555555"/>
                </a:solidFill>
              </a:rPr>
              <a:t>02</a:t>
            </a:r>
          </a:p>
        </p:txBody>
      </p:sp>
    </p:spTree>
    <p:extLst>
      <p:ext uri="{BB962C8B-B14F-4D97-AF65-F5344CB8AC3E}">
        <p14:creationId xmlns:p14="http://schemas.microsoft.com/office/powerpoint/2010/main" val="194716319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7FA24CE-0298-4598-9704-FDAE84E1ECC8}"/>
              </a:ext>
            </a:extLst>
          </p:cNvPr>
          <p:cNvSpPr>
            <a:spLocks xmlns:a="http://schemas.openxmlformats.org/drawingml/2006/main" noGrp="1"/>
          </p:cNvSpPr>
          <p:nvPr/>
        </p:nvSpPr>
        <p:spPr>
          <a:xfrm xmlns:a="http://schemas.openxmlformats.org/drawingml/2006/main">
            <a:off x="514350" y="381000"/>
            <a:ext cx="10001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00000"/>
                </a:solidFill>
              </a:defRPr>
            </a:pPr>
            <a:r>
              <a:rPr sz="2850" b="1">
                <a:solidFill>
                  <a:srgbClr val="000000"/>
                </a:solidFill>
              </a:rPr>
              <a:t>客户关注的是全过程可信，而不只是生成代码</a:t>
            </a:r>
          </a:p>
        </p:txBody>
      </p:sp>
      <p:sp>
        <p:nvSpPr>
          <p:cNvPr id="2" name="">
            <a:extLst xmlns:a="http://schemas.openxmlformats.org/drawingml/2006/main">
              <a:ext uri="{FF2B5EF4-FFF2-40B4-BE49-F238E27FC236}">
                <a16:creationId xmlns:a16="http://schemas.microsoft.com/office/drawing/2014/main" id="{E37B3003-CD8E-489F-891E-DFCA92B313A6}"/>
              </a:ext>
            </a:extLst>
          </p:cNvPr>
          <p:cNvSpPr>
            <a:spLocks xmlns:a="http://schemas.openxmlformats.org/drawingml/2006/main" noGrp="1"/>
          </p:cNvSpPr>
          <p:nvPr/>
        </p:nvSpPr>
        <p:spPr>
          <a:xfrm xmlns:a="http://schemas.openxmlformats.org/drawingml/2006/main">
            <a:off x="514350" y="990600"/>
            <a:ext cx="876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555555"/>
                </a:solidFill>
              </a:defRPr>
            </a:pPr>
            <a:r>
              <a:rPr sz="1350" b="0">
                <a:solidFill>
                  <a:srgbClr val="555555"/>
                </a:solidFill>
              </a:rPr>
              <a:t>客户更关心需求、数据、协作、产物和交付是否可见、可控、可确认。</a:t>
            </a:r>
          </a:p>
        </p:txBody>
      </p:sp>
      <p:sp>
        <p:nvSpPr>
          <p:cNvPr id="3" name="">
            <a:extLst xmlns:a="http://schemas.openxmlformats.org/drawingml/2006/main">
              <a:ext uri="{FF2B5EF4-FFF2-40B4-BE49-F238E27FC236}">
                <a16:creationId xmlns:a16="http://schemas.microsoft.com/office/drawing/2014/main" id="{B81AFC6E-C754-4E85-82AE-6D363AB27AC1}"/>
              </a:ext>
            </a:extLst>
          </p:cNvPr>
          <p:cNvSpPr>
            <a:spLocks xmlns:a="http://schemas.openxmlformats.org/drawingml/2006/main" noGrp="1"/>
          </p:cNvSpPr>
          <p:nvPr/>
        </p:nvSpPr>
        <p:spPr>
          <a:xfrm xmlns:a="http://schemas.openxmlformats.org/drawingml/2006/main">
            <a:off x="514350" y="1428750"/>
            <a:ext cx="111633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4" name="">
            <a:extLst xmlns:a="http://schemas.openxmlformats.org/drawingml/2006/main">
              <a:ext uri="{FF2B5EF4-FFF2-40B4-BE49-F238E27FC236}">
                <a16:creationId xmlns:a16="http://schemas.microsoft.com/office/drawing/2014/main" id="{4BF114CE-B901-48E9-B4DC-94DADE925AC7}"/>
              </a:ext>
            </a:extLst>
          </p:cNvPr>
          <p:cNvSpPr>
            <a:spLocks xmlns:a="http://schemas.openxmlformats.org/drawingml/2006/main" noGrp="1"/>
          </p:cNvSpPr>
          <p:nvPr/>
        </p:nvSpPr>
        <p:spPr>
          <a:xfrm xmlns:a="http://schemas.openxmlformats.org/drawingml/2006/main">
            <a:off x="666750" y="1809750"/>
            <a:ext cx="3257550" cy="1009650"/>
          </a:xfrm>
          <a:prstGeom xmlns:a="http://schemas.openxmlformats.org/drawingml/2006/main" prst="rect">
            <a:avLst/>
          </a:prstGeom>
          <a:solidFill xmlns:a="http://schemas.openxmlformats.org/drawingml/2006/main">
            <a:srgbClr val="F6F6F6"/>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14557C0B-1873-4D67-9E74-351E395FDCEA}"/>
              </a:ext>
            </a:extLst>
          </p:cNvPr>
          <p:cNvSpPr>
            <a:spLocks xmlns:a="http://schemas.openxmlformats.org/drawingml/2006/main" noGrp="1"/>
          </p:cNvSpPr>
          <p:nvPr/>
        </p:nvSpPr>
        <p:spPr>
          <a:xfrm xmlns:a="http://schemas.openxmlformats.org/drawingml/2006/main">
            <a:off x="857250" y="1981200"/>
            <a:ext cx="2762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00000"/>
                </a:solidFill>
              </a:defRPr>
            </a:pPr>
            <a:r>
              <a:rPr sz="1575" b="1">
                <a:solidFill>
                  <a:srgbClr val="000000"/>
                </a:solidFill>
              </a:rPr>
              <a:t>需求理解与澄清</a:t>
            </a:r>
          </a:p>
        </p:txBody>
      </p:sp>
      <p:sp>
        <p:nvSpPr>
          <p:cNvPr id="6" name="">
            <a:extLst xmlns:a="http://schemas.openxmlformats.org/drawingml/2006/main">
              <a:ext uri="{FF2B5EF4-FFF2-40B4-BE49-F238E27FC236}">
                <a16:creationId xmlns:a16="http://schemas.microsoft.com/office/drawing/2014/main" id="{0527FD82-CA5E-4F29-BB0C-5BE70B41EF9C}"/>
              </a:ext>
            </a:extLst>
          </p:cNvPr>
          <p:cNvSpPr>
            <a:spLocks xmlns:a="http://schemas.openxmlformats.org/drawingml/2006/main" noGrp="1"/>
          </p:cNvSpPr>
          <p:nvPr/>
        </p:nvSpPr>
        <p:spPr>
          <a:xfrm xmlns:a="http://schemas.openxmlformats.org/drawingml/2006/main">
            <a:off x="857250" y="2324100"/>
            <a:ext cx="27813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555555"/>
                </a:solidFill>
              </a:defRPr>
            </a:pPr>
            <a:r>
              <a:rPr sz="1200" b="0">
                <a:solidFill>
                  <a:srgbClr val="555555"/>
                </a:solidFill>
              </a:rPr>
              <a:t>主动提出澄清项，持续让用户确认</a:t>
            </a:r>
          </a:p>
        </p:txBody>
      </p:sp>
      <p:sp>
        <p:nvSpPr>
          <p:cNvPr id="7" name="">
            <a:extLst xmlns:a="http://schemas.openxmlformats.org/drawingml/2006/main">
              <a:ext uri="{FF2B5EF4-FFF2-40B4-BE49-F238E27FC236}">
                <a16:creationId xmlns:a16="http://schemas.microsoft.com/office/drawing/2014/main" id="{21F32A01-6759-4E6C-8BC4-2B0EF22C4839}"/>
              </a:ext>
            </a:extLst>
          </p:cNvPr>
          <p:cNvSpPr>
            <a:spLocks xmlns:a="http://schemas.openxmlformats.org/drawingml/2006/main" noGrp="1"/>
          </p:cNvSpPr>
          <p:nvPr/>
        </p:nvSpPr>
        <p:spPr>
          <a:xfrm xmlns:a="http://schemas.openxmlformats.org/drawingml/2006/main">
            <a:off x="4400550" y="1809750"/>
            <a:ext cx="3257550" cy="1009650"/>
          </a:xfrm>
          <a:prstGeom xmlns:a="http://schemas.openxmlformats.org/drawingml/2006/main" prst="rect">
            <a:avLst/>
          </a:prstGeom>
          <a:solidFill xmlns:a="http://schemas.openxmlformats.org/drawingml/2006/main">
            <a:srgbClr val="FFF4EF"/>
          </a:solidFill>
          <a:ln xmlns:a="http://schemas.openxmlformats.org/drawingml/2006/main" w="9525">
            <a:solidFill>
              <a:srgbClr val="FF6B35"/>
            </a:solidFill>
            <a:prstDash val="solid"/>
          </a:ln>
        </p:spPr>
      </p:sp>
      <p:sp>
        <p:nvSpPr>
          <p:cNvPr id="8" name="">
            <a:extLst xmlns:a="http://schemas.openxmlformats.org/drawingml/2006/main">
              <a:ext uri="{FF2B5EF4-FFF2-40B4-BE49-F238E27FC236}">
                <a16:creationId xmlns:a16="http://schemas.microsoft.com/office/drawing/2014/main" id="{E04B6170-372A-41D9-B1A5-EA5EAE58AE2F}"/>
              </a:ext>
            </a:extLst>
          </p:cNvPr>
          <p:cNvSpPr>
            <a:spLocks xmlns:a="http://schemas.openxmlformats.org/drawingml/2006/main" noGrp="1"/>
          </p:cNvSpPr>
          <p:nvPr/>
        </p:nvSpPr>
        <p:spPr>
          <a:xfrm xmlns:a="http://schemas.openxmlformats.org/drawingml/2006/main">
            <a:off x="4591050" y="1981200"/>
            <a:ext cx="2762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00000"/>
                </a:solidFill>
              </a:defRPr>
            </a:pPr>
            <a:r>
              <a:rPr sz="1575" b="1">
                <a:solidFill>
                  <a:srgbClr val="000000"/>
                </a:solidFill>
              </a:rPr>
              <a:t>数据接入与流转</a:t>
            </a:r>
          </a:p>
        </p:txBody>
      </p:sp>
      <p:sp>
        <p:nvSpPr>
          <p:cNvPr id="9" name="">
            <a:extLst xmlns:a="http://schemas.openxmlformats.org/drawingml/2006/main">
              <a:ext uri="{FF2B5EF4-FFF2-40B4-BE49-F238E27FC236}">
                <a16:creationId xmlns:a16="http://schemas.microsoft.com/office/drawing/2014/main" id="{736487B3-3DE4-4107-B1B0-B56071D96C6C}"/>
              </a:ext>
            </a:extLst>
          </p:cNvPr>
          <p:cNvSpPr>
            <a:spLocks xmlns:a="http://schemas.openxmlformats.org/drawingml/2006/main" noGrp="1"/>
          </p:cNvSpPr>
          <p:nvPr/>
        </p:nvSpPr>
        <p:spPr>
          <a:xfrm xmlns:a="http://schemas.openxmlformats.org/drawingml/2006/main">
            <a:off x="4591050" y="2324100"/>
            <a:ext cx="27813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555555"/>
                </a:solidFill>
              </a:defRPr>
            </a:pPr>
            <a:r>
              <a:rPr sz="1200" b="0">
                <a:solidFill>
                  <a:srgbClr val="555555"/>
                </a:solidFill>
              </a:rPr>
              <a:t>说明来源、处理、分析输入和展示结果</a:t>
            </a:r>
          </a:p>
        </p:txBody>
      </p:sp>
      <p:sp>
        <p:nvSpPr>
          <p:cNvPr id="10" name="">
            <a:extLst xmlns:a="http://schemas.openxmlformats.org/drawingml/2006/main">
              <a:ext uri="{FF2B5EF4-FFF2-40B4-BE49-F238E27FC236}">
                <a16:creationId xmlns:a16="http://schemas.microsoft.com/office/drawing/2014/main" id="{B14BC83C-D4EF-4E14-BB00-BC6ACE9EBD47}"/>
              </a:ext>
            </a:extLst>
          </p:cNvPr>
          <p:cNvSpPr>
            <a:spLocks xmlns:a="http://schemas.openxmlformats.org/drawingml/2006/main" noGrp="1"/>
          </p:cNvSpPr>
          <p:nvPr/>
        </p:nvSpPr>
        <p:spPr>
          <a:xfrm xmlns:a="http://schemas.openxmlformats.org/drawingml/2006/main">
            <a:off x="8134350" y="1809750"/>
            <a:ext cx="3257550" cy="1009650"/>
          </a:xfrm>
          <a:prstGeom xmlns:a="http://schemas.openxmlformats.org/drawingml/2006/main" prst="rect">
            <a:avLst/>
          </a:prstGeom>
          <a:solidFill xmlns:a="http://schemas.openxmlformats.org/drawingml/2006/main">
            <a:srgbClr val="F6F6F6"/>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E74BBB27-47D7-417B-9BB2-C9DFAFDDB79E}"/>
              </a:ext>
            </a:extLst>
          </p:cNvPr>
          <p:cNvSpPr>
            <a:spLocks xmlns:a="http://schemas.openxmlformats.org/drawingml/2006/main" noGrp="1"/>
          </p:cNvSpPr>
          <p:nvPr/>
        </p:nvSpPr>
        <p:spPr>
          <a:xfrm xmlns:a="http://schemas.openxmlformats.org/drawingml/2006/main">
            <a:off x="8324850" y="1981200"/>
            <a:ext cx="2762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00000"/>
                </a:solidFill>
              </a:defRPr>
            </a:pPr>
            <a:r>
              <a:rPr sz="1575" b="1">
                <a:solidFill>
                  <a:srgbClr val="000000"/>
                </a:solidFill>
              </a:rPr>
              <a:t>方案设计可控</a:t>
            </a:r>
          </a:p>
        </p:txBody>
      </p:sp>
      <p:sp>
        <p:nvSpPr>
          <p:cNvPr id="12" name="">
            <a:extLst xmlns:a="http://schemas.openxmlformats.org/drawingml/2006/main">
              <a:ext uri="{FF2B5EF4-FFF2-40B4-BE49-F238E27FC236}">
                <a16:creationId xmlns:a16="http://schemas.microsoft.com/office/drawing/2014/main" id="{A804B8EF-B01F-4B55-97B2-2A11707A42C4}"/>
              </a:ext>
            </a:extLst>
          </p:cNvPr>
          <p:cNvSpPr>
            <a:spLocks xmlns:a="http://schemas.openxmlformats.org/drawingml/2006/main" noGrp="1"/>
          </p:cNvSpPr>
          <p:nvPr/>
        </p:nvSpPr>
        <p:spPr>
          <a:xfrm xmlns:a="http://schemas.openxmlformats.org/drawingml/2006/main">
            <a:off x="8324850" y="2324100"/>
            <a:ext cx="27813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555555"/>
                </a:solidFill>
              </a:defRPr>
            </a:pPr>
            <a:r>
              <a:rPr sz="1200" b="0">
                <a:solidFill>
                  <a:srgbClr val="555555"/>
                </a:solidFill>
              </a:rPr>
              <a:t>关键方案可人工调整</a:t>
            </a:r>
          </a:p>
        </p:txBody>
      </p:sp>
      <p:sp>
        <p:nvSpPr>
          <p:cNvPr id="13" name="">
            <a:extLst xmlns:a="http://schemas.openxmlformats.org/drawingml/2006/main">
              <a:ext uri="{FF2B5EF4-FFF2-40B4-BE49-F238E27FC236}">
                <a16:creationId xmlns:a16="http://schemas.microsoft.com/office/drawing/2014/main" id="{610951CE-F6B6-476B-8EFC-EB31B64C79D1}"/>
              </a:ext>
            </a:extLst>
          </p:cNvPr>
          <p:cNvSpPr>
            <a:spLocks xmlns:a="http://schemas.openxmlformats.org/drawingml/2006/main" noGrp="1"/>
          </p:cNvSpPr>
          <p:nvPr/>
        </p:nvSpPr>
        <p:spPr>
          <a:xfrm xmlns:a="http://schemas.openxmlformats.org/drawingml/2006/main">
            <a:off x="666750" y="3190875"/>
            <a:ext cx="3257550" cy="1009650"/>
          </a:xfrm>
          <a:prstGeom xmlns:a="http://schemas.openxmlformats.org/drawingml/2006/main" prst="rect">
            <a:avLst/>
          </a:prstGeom>
          <a:solidFill xmlns:a="http://schemas.openxmlformats.org/drawingml/2006/main">
            <a:srgbClr val="F6F6F6"/>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3972DE83-4D3D-490B-A8CB-B407B817C05D}"/>
              </a:ext>
            </a:extLst>
          </p:cNvPr>
          <p:cNvSpPr>
            <a:spLocks xmlns:a="http://schemas.openxmlformats.org/drawingml/2006/main" noGrp="1"/>
          </p:cNvSpPr>
          <p:nvPr/>
        </p:nvSpPr>
        <p:spPr>
          <a:xfrm xmlns:a="http://schemas.openxmlformats.org/drawingml/2006/main">
            <a:off x="857250" y="3362325"/>
            <a:ext cx="2762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00000"/>
                </a:solidFill>
              </a:defRPr>
            </a:pPr>
            <a:r>
              <a:rPr sz="1575" b="1">
                <a:solidFill>
                  <a:srgbClr val="000000"/>
                </a:solidFill>
              </a:rPr>
              <a:t>多 agent 协作可视化</a:t>
            </a:r>
          </a:p>
        </p:txBody>
      </p:sp>
      <p:sp>
        <p:nvSpPr>
          <p:cNvPr id="15" name="">
            <a:extLst xmlns:a="http://schemas.openxmlformats.org/drawingml/2006/main">
              <a:ext uri="{FF2B5EF4-FFF2-40B4-BE49-F238E27FC236}">
                <a16:creationId xmlns:a16="http://schemas.microsoft.com/office/drawing/2014/main" id="{8BF1A92C-EE14-4100-8CA1-3C5BF6CB2C97}"/>
              </a:ext>
            </a:extLst>
          </p:cNvPr>
          <p:cNvSpPr>
            <a:spLocks xmlns:a="http://schemas.openxmlformats.org/drawingml/2006/main" noGrp="1"/>
          </p:cNvSpPr>
          <p:nvPr/>
        </p:nvSpPr>
        <p:spPr>
          <a:xfrm xmlns:a="http://schemas.openxmlformats.org/drawingml/2006/main">
            <a:off x="857250" y="3705225"/>
            <a:ext cx="27813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555555"/>
                </a:solidFill>
              </a:defRPr>
            </a:pPr>
            <a:r>
              <a:rPr sz="1200" b="0">
                <a:solidFill>
                  <a:srgbClr val="555555"/>
                </a:solidFill>
              </a:rPr>
              <a:t>看协作图、状态、产物和失败重试</a:t>
            </a:r>
          </a:p>
        </p:txBody>
      </p:sp>
      <p:sp>
        <p:nvSpPr>
          <p:cNvPr id="16" name="">
            <a:extLst xmlns:a="http://schemas.openxmlformats.org/drawingml/2006/main">
              <a:ext uri="{FF2B5EF4-FFF2-40B4-BE49-F238E27FC236}">
                <a16:creationId xmlns:a16="http://schemas.microsoft.com/office/drawing/2014/main" id="{9131413B-328B-4645-A08D-6ACE84D5E160}"/>
              </a:ext>
            </a:extLst>
          </p:cNvPr>
          <p:cNvSpPr>
            <a:spLocks xmlns:a="http://schemas.openxmlformats.org/drawingml/2006/main" noGrp="1"/>
          </p:cNvSpPr>
          <p:nvPr/>
        </p:nvSpPr>
        <p:spPr>
          <a:xfrm xmlns:a="http://schemas.openxmlformats.org/drawingml/2006/main">
            <a:off x="4400550" y="3190875"/>
            <a:ext cx="3257550" cy="1009650"/>
          </a:xfrm>
          <a:prstGeom xmlns:a="http://schemas.openxmlformats.org/drawingml/2006/main" prst="rect">
            <a:avLst/>
          </a:prstGeom>
          <a:solidFill xmlns:a="http://schemas.openxmlformats.org/drawingml/2006/main">
            <a:srgbClr val="F6F6F6"/>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22B92CEE-E6F2-49FD-A2A3-5C7451933D1C}"/>
              </a:ext>
            </a:extLst>
          </p:cNvPr>
          <p:cNvSpPr>
            <a:spLocks xmlns:a="http://schemas.openxmlformats.org/drawingml/2006/main" noGrp="1"/>
          </p:cNvSpPr>
          <p:nvPr/>
        </p:nvSpPr>
        <p:spPr>
          <a:xfrm xmlns:a="http://schemas.openxmlformats.org/drawingml/2006/main">
            <a:off x="4591050" y="3362325"/>
            <a:ext cx="2762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00000"/>
                </a:solidFill>
              </a:defRPr>
            </a:pPr>
            <a:r>
              <a:rPr sz="1575" b="1">
                <a:solidFill>
                  <a:srgbClr val="000000"/>
                </a:solidFill>
              </a:rPr>
              <a:t>最终应用质量</a:t>
            </a:r>
          </a:p>
        </p:txBody>
      </p:sp>
      <p:sp>
        <p:nvSpPr>
          <p:cNvPr id="18" name="">
            <a:extLst xmlns:a="http://schemas.openxmlformats.org/drawingml/2006/main">
              <a:ext uri="{FF2B5EF4-FFF2-40B4-BE49-F238E27FC236}">
                <a16:creationId xmlns:a16="http://schemas.microsoft.com/office/drawing/2014/main" id="{FAE9F8B9-57E6-4FF5-B4A0-ABB69589D005}"/>
              </a:ext>
            </a:extLst>
          </p:cNvPr>
          <p:cNvSpPr>
            <a:spLocks xmlns:a="http://schemas.openxmlformats.org/drawingml/2006/main" noGrp="1"/>
          </p:cNvSpPr>
          <p:nvPr/>
        </p:nvSpPr>
        <p:spPr>
          <a:xfrm xmlns:a="http://schemas.openxmlformats.org/drawingml/2006/main">
            <a:off x="4591050" y="3705225"/>
            <a:ext cx="27813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555555"/>
                </a:solidFill>
              </a:defRPr>
            </a:pPr>
            <a:r>
              <a:rPr sz="1200" b="0">
                <a:solidFill>
                  <a:srgbClr val="555555"/>
                </a:solidFill>
              </a:rPr>
              <a:t>真实数据驱动、贴合系统、可嵌入</a:t>
            </a:r>
          </a:p>
        </p:txBody>
      </p:sp>
      <p:sp>
        <p:nvSpPr>
          <p:cNvPr id="19" name="">
            <a:extLst xmlns:a="http://schemas.openxmlformats.org/drawingml/2006/main">
              <a:ext uri="{FF2B5EF4-FFF2-40B4-BE49-F238E27FC236}">
                <a16:creationId xmlns:a16="http://schemas.microsoft.com/office/drawing/2014/main" id="{0F9A42FD-2B07-4CE4-A112-A5C468EA478C}"/>
              </a:ext>
            </a:extLst>
          </p:cNvPr>
          <p:cNvSpPr>
            <a:spLocks xmlns:a="http://schemas.openxmlformats.org/drawingml/2006/main" noGrp="1"/>
          </p:cNvSpPr>
          <p:nvPr/>
        </p:nvSpPr>
        <p:spPr>
          <a:xfrm xmlns:a="http://schemas.openxmlformats.org/drawingml/2006/main">
            <a:off x="8134350" y="3190875"/>
            <a:ext cx="3257550" cy="1009650"/>
          </a:xfrm>
          <a:prstGeom xmlns:a="http://schemas.openxmlformats.org/drawingml/2006/main" prst="rect">
            <a:avLst/>
          </a:prstGeom>
          <a:solidFill xmlns:a="http://schemas.openxmlformats.org/drawingml/2006/main">
            <a:srgbClr val="F6F6F6"/>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471530C3-BEED-4323-98D9-0466261ACD82}"/>
              </a:ext>
            </a:extLst>
          </p:cNvPr>
          <p:cNvSpPr>
            <a:spLocks xmlns:a="http://schemas.openxmlformats.org/drawingml/2006/main" noGrp="1"/>
          </p:cNvSpPr>
          <p:nvPr/>
        </p:nvSpPr>
        <p:spPr>
          <a:xfrm xmlns:a="http://schemas.openxmlformats.org/drawingml/2006/main">
            <a:off x="8324850" y="3362325"/>
            <a:ext cx="2762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00000"/>
                </a:solidFill>
              </a:defRPr>
            </a:pPr>
            <a:r>
              <a:rPr sz="1575" b="1">
                <a:solidFill>
                  <a:srgbClr val="000000"/>
                </a:solidFill>
              </a:rPr>
              <a:t>自我进化与沉淀</a:t>
            </a:r>
          </a:p>
        </p:txBody>
      </p:sp>
      <p:sp>
        <p:nvSpPr>
          <p:cNvPr id="21" name="">
            <a:extLst xmlns:a="http://schemas.openxmlformats.org/drawingml/2006/main">
              <a:ext uri="{FF2B5EF4-FFF2-40B4-BE49-F238E27FC236}">
                <a16:creationId xmlns:a16="http://schemas.microsoft.com/office/drawing/2014/main" id="{6102B87A-EC2E-4F80-BD25-2F8423066E57}"/>
              </a:ext>
            </a:extLst>
          </p:cNvPr>
          <p:cNvSpPr>
            <a:spLocks xmlns:a="http://schemas.openxmlformats.org/drawingml/2006/main" noGrp="1"/>
          </p:cNvSpPr>
          <p:nvPr/>
        </p:nvSpPr>
        <p:spPr>
          <a:xfrm xmlns:a="http://schemas.openxmlformats.org/drawingml/2006/main">
            <a:off x="8324850" y="3705225"/>
            <a:ext cx="27813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555555"/>
                </a:solidFill>
              </a:defRPr>
            </a:pPr>
            <a:r>
              <a:rPr sz="1200" b="0">
                <a:solidFill>
                  <a:srgbClr val="555555"/>
                </a:solidFill>
              </a:rPr>
              <a:t>沉淀 agent、skills 和过往经验</a:t>
            </a:r>
          </a:p>
        </p:txBody>
      </p:sp>
      <p:sp>
        <p:nvSpPr>
          <p:cNvPr id="22" name="">
            <a:extLst xmlns:a="http://schemas.openxmlformats.org/drawingml/2006/main">
              <a:ext uri="{FF2B5EF4-FFF2-40B4-BE49-F238E27FC236}">
                <a16:creationId xmlns:a16="http://schemas.microsoft.com/office/drawing/2014/main" id="{3ACDB047-C4C0-4BC2-B609-C1F4D5DDA92B}"/>
              </a:ext>
            </a:extLst>
          </p:cNvPr>
          <p:cNvSpPr>
            <a:spLocks xmlns:a="http://schemas.openxmlformats.org/drawingml/2006/main" noGrp="1"/>
          </p:cNvSpPr>
          <p:nvPr/>
        </p:nvSpPr>
        <p:spPr>
          <a:xfrm xmlns:a="http://schemas.openxmlformats.org/drawingml/2006/main">
            <a:off x="666750" y="4895850"/>
            <a:ext cx="1057275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23" name="">
            <a:extLst xmlns:a="http://schemas.openxmlformats.org/drawingml/2006/main">
              <a:ext uri="{FF2B5EF4-FFF2-40B4-BE49-F238E27FC236}">
                <a16:creationId xmlns:a16="http://schemas.microsoft.com/office/drawing/2014/main" id="{1E72D5FF-4DCA-406A-9931-C948D7212A8A}"/>
              </a:ext>
            </a:extLst>
          </p:cNvPr>
          <p:cNvSpPr>
            <a:spLocks xmlns:a="http://schemas.openxmlformats.org/drawingml/2006/main" noGrp="1"/>
          </p:cNvSpPr>
          <p:nvPr/>
        </p:nvSpPr>
        <p:spPr>
          <a:xfrm xmlns:a="http://schemas.openxmlformats.org/drawingml/2006/main">
            <a:off x="666750" y="5143500"/>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FF6B35"/>
                </a:solidFill>
              </a:defRPr>
            </a:pPr>
            <a:r>
              <a:rPr sz="1125" b="1">
                <a:solidFill>
                  <a:srgbClr val="FF6B35"/>
                </a:solidFill>
              </a:rPr>
              <a:t>客户场景暴露的底层要求</a:t>
            </a:r>
          </a:p>
        </p:txBody>
      </p:sp>
      <p:sp>
        <p:nvSpPr>
          <p:cNvPr id="24" name="">
            <a:extLst xmlns:a="http://schemas.openxmlformats.org/drawingml/2006/main">
              <a:ext uri="{FF2B5EF4-FFF2-40B4-BE49-F238E27FC236}">
                <a16:creationId xmlns:a16="http://schemas.microsoft.com/office/drawing/2014/main" id="{608C7BDB-A6D5-4064-9273-B0FD95785022}"/>
              </a:ext>
            </a:extLst>
          </p:cNvPr>
          <p:cNvSpPr>
            <a:spLocks xmlns:a="http://schemas.openxmlformats.org/drawingml/2006/main" noGrp="1"/>
          </p:cNvSpPr>
          <p:nvPr/>
        </p:nvSpPr>
        <p:spPr>
          <a:xfrm xmlns:a="http://schemas.openxmlformats.org/drawingml/2006/main">
            <a:off x="666750" y="5429250"/>
            <a:ext cx="10096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0000"/>
                </a:solidFill>
              </a:defRPr>
            </a:pPr>
            <a:r>
              <a:rPr sz="1650" b="1">
                <a:solidFill>
                  <a:srgbClr val="000000"/>
                </a:solidFill>
              </a:rPr>
              <a:t>强领域理解 + 外部数据接入 + 判断规则转应用逻辑 + 复杂前端表达 + 领域能力沉淀</a:t>
            </a:r>
          </a:p>
        </p:txBody>
      </p:sp>
      <p:sp>
        <p:nvSpPr>
          <p:cNvPr id="25" name="">
            <a:extLst xmlns:a="http://schemas.openxmlformats.org/drawingml/2006/main">
              <a:ext uri="{FF2B5EF4-FFF2-40B4-BE49-F238E27FC236}">
                <a16:creationId xmlns:a16="http://schemas.microsoft.com/office/drawing/2014/main" id="{E90464F7-82F4-4481-828A-02E7954DEFCB}"/>
              </a:ext>
            </a:extLst>
          </p:cNvPr>
          <p:cNvSpPr>
            <a:spLocks xmlns:a="http://schemas.openxmlformats.org/drawingml/2006/main" noGrp="1"/>
          </p:cNvSpPr>
          <p:nvPr/>
        </p:nvSpPr>
        <p:spPr>
          <a:xfrm xmlns:a="http://schemas.openxmlformats.org/drawingml/2006/main">
            <a:off x="514350" y="63817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555555"/>
                </a:solidFill>
              </a:defRPr>
            </a:pPr>
            <a:r>
              <a:rPr sz="1050" b="0">
                <a:solidFill>
                  <a:srgbClr val="555555"/>
                </a:solidFill>
              </a:rPr>
              <a:t>西安 630 项目软件工厂复盘</a:t>
            </a:r>
          </a:p>
        </p:txBody>
      </p:sp>
      <p:sp>
        <p:nvSpPr>
          <p:cNvPr id="26" name="">
            <a:extLst xmlns:a="http://schemas.openxmlformats.org/drawingml/2006/main">
              <a:ext uri="{FF2B5EF4-FFF2-40B4-BE49-F238E27FC236}">
                <a16:creationId xmlns:a16="http://schemas.microsoft.com/office/drawing/2014/main" id="{7B3A378F-C060-4D87-BC1F-2B10E8C704C0}"/>
              </a:ext>
            </a:extLst>
          </p:cNvPr>
          <p:cNvSpPr>
            <a:spLocks xmlns:a="http://schemas.openxmlformats.org/drawingml/2006/main" noGrp="1"/>
          </p:cNvSpPr>
          <p:nvPr/>
        </p:nvSpPr>
        <p:spPr>
          <a:xfrm xmlns:a="http://schemas.openxmlformats.org/drawingml/2006/main">
            <a:off x="11287125" y="6381750"/>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a:solidFill>
                  <a:srgbClr val="555555"/>
                </a:solidFill>
              </a:defRPr>
            </a:pPr>
            <a:r>
              <a:rPr sz="1050" b="1">
                <a:solidFill>
                  <a:srgbClr val="555555"/>
                </a:solidFill>
              </a:rPr>
              <a:t>03</a:t>
            </a:r>
          </a:p>
        </p:txBody>
      </p:sp>
    </p:spTree>
    <p:extLst>
      <p:ext uri="{BB962C8B-B14F-4D97-AF65-F5344CB8AC3E}">
        <p14:creationId xmlns:p14="http://schemas.microsoft.com/office/powerpoint/2010/main" val="200908893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309205F-9E43-4B5A-888F-AE184FC24CC0}"/>
              </a:ext>
            </a:extLst>
          </p:cNvPr>
          <p:cNvSpPr>
            <a:spLocks xmlns:a="http://schemas.openxmlformats.org/drawingml/2006/main" noGrp="1"/>
          </p:cNvSpPr>
          <p:nvPr/>
        </p:nvSpPr>
        <p:spPr>
          <a:xfrm xmlns:a="http://schemas.openxmlformats.org/drawingml/2006/main">
            <a:off x="514350" y="381000"/>
            <a:ext cx="10001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00000"/>
                </a:solidFill>
              </a:defRPr>
            </a:pPr>
            <a:r>
              <a:rPr sz="2850" b="1">
                <a:solidFill>
                  <a:srgbClr val="000000"/>
                </a:solidFill>
              </a:rPr>
              <a:t>电子云证明了闭环可用，但过程可信还要加强</a:t>
            </a:r>
          </a:p>
        </p:txBody>
      </p:sp>
      <p:sp>
        <p:nvSpPr>
          <p:cNvPr id="2" name="">
            <a:extLst xmlns:a="http://schemas.openxmlformats.org/drawingml/2006/main">
              <a:ext uri="{FF2B5EF4-FFF2-40B4-BE49-F238E27FC236}">
                <a16:creationId xmlns:a16="http://schemas.microsoft.com/office/drawing/2014/main" id="{05BA023F-51DB-4217-9F7B-17C8066BC8EC}"/>
              </a:ext>
            </a:extLst>
          </p:cNvPr>
          <p:cNvSpPr>
            <a:spLocks xmlns:a="http://schemas.openxmlformats.org/drawingml/2006/main" noGrp="1"/>
          </p:cNvSpPr>
          <p:nvPr/>
        </p:nvSpPr>
        <p:spPr>
          <a:xfrm xmlns:a="http://schemas.openxmlformats.org/drawingml/2006/main">
            <a:off x="514350" y="990600"/>
            <a:ext cx="876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555555"/>
                </a:solidFill>
              </a:defRPr>
            </a:pPr>
            <a:r>
              <a:rPr sz="1350" b="0">
                <a:solidFill>
                  <a:srgbClr val="555555"/>
                </a:solidFill>
              </a:rPr>
              <a:t>现场观察不应理解为厂商输赢，而应理解为客户认可能力差距。</a:t>
            </a:r>
          </a:p>
        </p:txBody>
      </p:sp>
      <p:sp>
        <p:nvSpPr>
          <p:cNvPr id="3" name="">
            <a:extLst xmlns:a="http://schemas.openxmlformats.org/drawingml/2006/main">
              <a:ext uri="{FF2B5EF4-FFF2-40B4-BE49-F238E27FC236}">
                <a16:creationId xmlns:a16="http://schemas.microsoft.com/office/drawing/2014/main" id="{4EE92CF9-3FCF-43D1-8C1A-127C5C4D94D1}"/>
              </a:ext>
            </a:extLst>
          </p:cNvPr>
          <p:cNvSpPr>
            <a:spLocks xmlns:a="http://schemas.openxmlformats.org/drawingml/2006/main" noGrp="1"/>
          </p:cNvSpPr>
          <p:nvPr/>
        </p:nvSpPr>
        <p:spPr>
          <a:xfrm xmlns:a="http://schemas.openxmlformats.org/drawingml/2006/main">
            <a:off x="514350" y="1428750"/>
            <a:ext cx="111633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4" name="">
            <a:extLst xmlns:a="http://schemas.openxmlformats.org/drawingml/2006/main">
              <a:ext uri="{FF2B5EF4-FFF2-40B4-BE49-F238E27FC236}">
                <a16:creationId xmlns:a16="http://schemas.microsoft.com/office/drawing/2014/main" id="{5A09C4AF-C29E-4F9F-8E09-5D9ECFF720C4}"/>
              </a:ext>
            </a:extLst>
          </p:cNvPr>
          <p:cNvSpPr>
            <a:spLocks xmlns:a="http://schemas.openxmlformats.org/drawingml/2006/main" noGrp="1"/>
          </p:cNvSpPr>
          <p:nvPr/>
        </p:nvSpPr>
        <p:spPr>
          <a:xfrm xmlns:a="http://schemas.openxmlformats.org/drawingml/2006/main">
            <a:off x="666750" y="1714500"/>
            <a:ext cx="152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FF6B35"/>
                </a:solidFill>
              </a:defRPr>
            </a:pPr>
            <a:r>
              <a:rPr sz="1125" b="1">
                <a:solidFill>
                  <a:srgbClr val="FF6B35"/>
                </a:solidFill>
              </a:rPr>
              <a:t>本次已验证</a:t>
            </a:r>
          </a:p>
        </p:txBody>
      </p:sp>
      <p:sp>
        <p:nvSpPr>
          <p:cNvPr id="5" name="">
            <a:extLst xmlns:a="http://schemas.openxmlformats.org/drawingml/2006/main">
              <a:ext uri="{FF2B5EF4-FFF2-40B4-BE49-F238E27FC236}">
                <a16:creationId xmlns:a16="http://schemas.microsoft.com/office/drawing/2014/main" id="{B2D801A0-780B-4DD7-9A23-E9C4E7E8595F}"/>
              </a:ext>
            </a:extLst>
          </p:cNvPr>
          <p:cNvSpPr>
            <a:spLocks xmlns:a="http://schemas.openxmlformats.org/drawingml/2006/main" noGrp="1"/>
          </p:cNvSpPr>
          <p:nvPr/>
        </p:nvSpPr>
        <p:spPr>
          <a:xfrm xmlns:a="http://schemas.openxmlformats.org/drawingml/2006/main">
            <a:off x="666750" y="2171700"/>
            <a:ext cx="76200" cy="76200"/>
          </a:xfrm>
          <a:prstGeom xmlns:a="http://schemas.openxmlformats.org/drawingml/2006/main" prst="rect">
            <a:avLst/>
          </a:prstGeom>
          <a:solidFill xmlns:a="http://schemas.openxmlformats.org/drawingml/2006/main">
            <a:srgbClr val="000000"/>
          </a:solidFill>
          <a:ln xmlns:a="http://schemas.openxmlformats.org/drawingml/2006/main" w="0">
            <a:solidFill>
              <a:srgbClr val="000000"/>
            </a:solidFill>
            <a:prstDash val="solid"/>
          </a:ln>
        </p:spPr>
      </p:sp>
      <p:sp>
        <p:nvSpPr>
          <p:cNvPr id="6" name="">
            <a:extLst xmlns:a="http://schemas.openxmlformats.org/drawingml/2006/main">
              <a:ext uri="{FF2B5EF4-FFF2-40B4-BE49-F238E27FC236}">
                <a16:creationId xmlns:a16="http://schemas.microsoft.com/office/drawing/2014/main" id="{C5E807EB-5956-4BF7-86B9-FA22CCEBA50D}"/>
              </a:ext>
            </a:extLst>
          </p:cNvPr>
          <p:cNvSpPr>
            <a:spLocks xmlns:a="http://schemas.openxmlformats.org/drawingml/2006/main" noGrp="1"/>
          </p:cNvSpPr>
          <p:nvPr/>
        </p:nvSpPr>
        <p:spPr>
          <a:xfrm xmlns:a="http://schemas.openxmlformats.org/drawingml/2006/main">
            <a:off x="838200" y="2095500"/>
            <a:ext cx="42576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000000"/>
                </a:solidFill>
              </a:defRPr>
            </a:pPr>
            <a:r>
              <a:rPr sz="1350" b="0">
                <a:solidFill>
                  <a:srgbClr val="000000"/>
                </a:solidFill>
              </a:rPr>
              <a:t>自然语言描述生成应用整体流程跑通</a:t>
            </a:r>
          </a:p>
        </p:txBody>
      </p:sp>
      <p:sp>
        <p:nvSpPr>
          <p:cNvPr id="7" name="">
            <a:extLst xmlns:a="http://schemas.openxmlformats.org/drawingml/2006/main">
              <a:ext uri="{FF2B5EF4-FFF2-40B4-BE49-F238E27FC236}">
                <a16:creationId xmlns:a16="http://schemas.microsoft.com/office/drawing/2014/main" id="{9AAE9D9C-F9A0-4AB8-B816-3201A0A33C32}"/>
              </a:ext>
            </a:extLst>
          </p:cNvPr>
          <p:cNvSpPr>
            <a:spLocks xmlns:a="http://schemas.openxmlformats.org/drawingml/2006/main" noGrp="1"/>
          </p:cNvSpPr>
          <p:nvPr/>
        </p:nvSpPr>
        <p:spPr>
          <a:xfrm xmlns:a="http://schemas.openxmlformats.org/drawingml/2006/main">
            <a:off x="666750" y="2628900"/>
            <a:ext cx="76200" cy="76200"/>
          </a:xfrm>
          <a:prstGeom xmlns:a="http://schemas.openxmlformats.org/drawingml/2006/main" prst="rect">
            <a:avLst/>
          </a:prstGeom>
          <a:solidFill xmlns:a="http://schemas.openxmlformats.org/drawingml/2006/main">
            <a:srgbClr val="000000"/>
          </a:solidFill>
          <a:ln xmlns:a="http://schemas.openxmlformats.org/drawingml/2006/main" w="0">
            <a:solidFill>
              <a:srgbClr val="000000"/>
            </a:solidFill>
            <a:prstDash val="solid"/>
          </a:ln>
        </p:spPr>
      </p:sp>
      <p:sp>
        <p:nvSpPr>
          <p:cNvPr id="8" name="">
            <a:extLst xmlns:a="http://schemas.openxmlformats.org/drawingml/2006/main">
              <a:ext uri="{FF2B5EF4-FFF2-40B4-BE49-F238E27FC236}">
                <a16:creationId xmlns:a16="http://schemas.microsoft.com/office/drawing/2014/main" id="{861C0DD6-3B18-4DF9-BF89-039B19882000}"/>
              </a:ext>
            </a:extLst>
          </p:cNvPr>
          <p:cNvSpPr>
            <a:spLocks xmlns:a="http://schemas.openxmlformats.org/drawingml/2006/main" noGrp="1"/>
          </p:cNvSpPr>
          <p:nvPr/>
        </p:nvSpPr>
        <p:spPr>
          <a:xfrm xmlns:a="http://schemas.openxmlformats.org/drawingml/2006/main">
            <a:off x="838200" y="2552700"/>
            <a:ext cx="42576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000000"/>
                </a:solidFill>
              </a:defRPr>
            </a:pPr>
            <a:r>
              <a:rPr sz="1350" b="0">
                <a:solidFill>
                  <a:srgbClr val="000000"/>
                </a:solidFill>
              </a:rPr>
              <a:t>本体数据源已对接</a:t>
            </a:r>
          </a:p>
        </p:txBody>
      </p:sp>
      <p:sp>
        <p:nvSpPr>
          <p:cNvPr id="9" name="">
            <a:extLst xmlns:a="http://schemas.openxmlformats.org/drawingml/2006/main">
              <a:ext uri="{FF2B5EF4-FFF2-40B4-BE49-F238E27FC236}">
                <a16:creationId xmlns:a16="http://schemas.microsoft.com/office/drawing/2014/main" id="{4D9E4DC0-5EC5-41D7-83FA-2529463B19A8}"/>
              </a:ext>
            </a:extLst>
          </p:cNvPr>
          <p:cNvSpPr>
            <a:spLocks xmlns:a="http://schemas.openxmlformats.org/drawingml/2006/main" noGrp="1"/>
          </p:cNvSpPr>
          <p:nvPr/>
        </p:nvSpPr>
        <p:spPr>
          <a:xfrm xmlns:a="http://schemas.openxmlformats.org/drawingml/2006/main">
            <a:off x="666750" y="3086100"/>
            <a:ext cx="76200" cy="76200"/>
          </a:xfrm>
          <a:prstGeom xmlns:a="http://schemas.openxmlformats.org/drawingml/2006/main" prst="rect">
            <a:avLst/>
          </a:prstGeom>
          <a:solidFill xmlns:a="http://schemas.openxmlformats.org/drawingml/2006/main">
            <a:srgbClr val="000000"/>
          </a:solidFill>
          <a:ln xmlns:a="http://schemas.openxmlformats.org/drawingml/2006/main" w="0">
            <a:solidFill>
              <a:srgbClr val="000000"/>
            </a:solidFill>
            <a:prstDash val="solid"/>
          </a:ln>
        </p:spPr>
      </p:sp>
      <p:sp>
        <p:nvSpPr>
          <p:cNvPr id="10" name="">
            <a:extLst xmlns:a="http://schemas.openxmlformats.org/drawingml/2006/main">
              <a:ext uri="{FF2B5EF4-FFF2-40B4-BE49-F238E27FC236}">
                <a16:creationId xmlns:a16="http://schemas.microsoft.com/office/drawing/2014/main" id="{7A0E2E59-86D0-40CC-93F4-810576797FC2}"/>
              </a:ext>
            </a:extLst>
          </p:cNvPr>
          <p:cNvSpPr>
            <a:spLocks xmlns:a="http://schemas.openxmlformats.org/drawingml/2006/main" noGrp="1"/>
          </p:cNvSpPr>
          <p:nvPr/>
        </p:nvSpPr>
        <p:spPr>
          <a:xfrm xmlns:a="http://schemas.openxmlformats.org/drawingml/2006/main">
            <a:off x="838200" y="3009900"/>
            <a:ext cx="42576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000000"/>
                </a:solidFill>
              </a:defRPr>
            </a:pPr>
            <a:r>
              <a:rPr sz="1350" b="0">
                <a:solidFill>
                  <a:srgbClr val="000000"/>
                </a:solidFill>
              </a:rPr>
              <a:t>生成应用调用本体数据并展示真实数据</a:t>
            </a:r>
          </a:p>
        </p:txBody>
      </p:sp>
      <p:sp>
        <p:nvSpPr>
          <p:cNvPr id="11" name="">
            <a:extLst xmlns:a="http://schemas.openxmlformats.org/drawingml/2006/main">
              <a:ext uri="{FF2B5EF4-FFF2-40B4-BE49-F238E27FC236}">
                <a16:creationId xmlns:a16="http://schemas.microsoft.com/office/drawing/2014/main" id="{E59E5CF0-5262-42A3-806C-88EF1B68A2DB}"/>
              </a:ext>
            </a:extLst>
          </p:cNvPr>
          <p:cNvSpPr>
            <a:spLocks xmlns:a="http://schemas.openxmlformats.org/drawingml/2006/main" noGrp="1"/>
          </p:cNvSpPr>
          <p:nvPr/>
        </p:nvSpPr>
        <p:spPr>
          <a:xfrm xmlns:a="http://schemas.openxmlformats.org/drawingml/2006/main">
            <a:off x="666750" y="3543300"/>
            <a:ext cx="76200" cy="76200"/>
          </a:xfrm>
          <a:prstGeom xmlns:a="http://schemas.openxmlformats.org/drawingml/2006/main" prst="rect">
            <a:avLst/>
          </a:prstGeom>
          <a:solidFill xmlns:a="http://schemas.openxmlformats.org/drawingml/2006/main">
            <a:srgbClr val="000000"/>
          </a:solidFill>
          <a:ln xmlns:a="http://schemas.openxmlformats.org/drawingml/2006/main" w="0">
            <a:solidFill>
              <a:srgbClr val="000000"/>
            </a:solidFill>
            <a:prstDash val="solid"/>
          </a:ln>
        </p:spPr>
      </p:sp>
      <p:sp>
        <p:nvSpPr>
          <p:cNvPr id="12" name="">
            <a:extLst xmlns:a="http://schemas.openxmlformats.org/drawingml/2006/main">
              <a:ext uri="{FF2B5EF4-FFF2-40B4-BE49-F238E27FC236}">
                <a16:creationId xmlns:a16="http://schemas.microsoft.com/office/drawing/2014/main" id="{787361A7-65A2-41C0-868A-81F4C08BA1E6}"/>
              </a:ext>
            </a:extLst>
          </p:cNvPr>
          <p:cNvSpPr>
            <a:spLocks xmlns:a="http://schemas.openxmlformats.org/drawingml/2006/main" noGrp="1"/>
          </p:cNvSpPr>
          <p:nvPr/>
        </p:nvSpPr>
        <p:spPr>
          <a:xfrm xmlns:a="http://schemas.openxmlformats.org/drawingml/2006/main">
            <a:off x="838200" y="3467100"/>
            <a:ext cx="42576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000000"/>
                </a:solidFill>
              </a:defRPr>
            </a:pPr>
            <a:r>
              <a:rPr sz="1350" b="0">
                <a:solidFill>
                  <a:srgbClr val="000000"/>
                </a:solidFill>
              </a:rPr>
              <a:t>界面样式贴合客户系统</a:t>
            </a:r>
          </a:p>
        </p:txBody>
      </p:sp>
      <p:sp>
        <p:nvSpPr>
          <p:cNvPr id="13" name="">
            <a:extLst xmlns:a="http://schemas.openxmlformats.org/drawingml/2006/main">
              <a:ext uri="{FF2B5EF4-FFF2-40B4-BE49-F238E27FC236}">
                <a16:creationId xmlns:a16="http://schemas.microsoft.com/office/drawing/2014/main" id="{E2D7DB87-9A1E-498D-9B18-AD47AB382D1A}"/>
              </a:ext>
            </a:extLst>
          </p:cNvPr>
          <p:cNvSpPr>
            <a:spLocks xmlns:a="http://schemas.openxmlformats.org/drawingml/2006/main" noGrp="1"/>
          </p:cNvSpPr>
          <p:nvPr/>
        </p:nvSpPr>
        <p:spPr>
          <a:xfrm xmlns:a="http://schemas.openxmlformats.org/drawingml/2006/main">
            <a:off x="666750" y="4000500"/>
            <a:ext cx="76200" cy="76200"/>
          </a:xfrm>
          <a:prstGeom xmlns:a="http://schemas.openxmlformats.org/drawingml/2006/main" prst="rect">
            <a:avLst/>
          </a:prstGeom>
          <a:solidFill xmlns:a="http://schemas.openxmlformats.org/drawingml/2006/main">
            <a:srgbClr val="000000"/>
          </a:solidFill>
          <a:ln xmlns:a="http://schemas.openxmlformats.org/drawingml/2006/main" w="0">
            <a:solidFill>
              <a:srgbClr val="000000"/>
            </a:solidFill>
            <a:prstDash val="solid"/>
          </a:ln>
        </p:spPr>
      </p:sp>
      <p:sp>
        <p:nvSpPr>
          <p:cNvPr id="14" name="">
            <a:extLst xmlns:a="http://schemas.openxmlformats.org/drawingml/2006/main">
              <a:ext uri="{FF2B5EF4-FFF2-40B4-BE49-F238E27FC236}">
                <a16:creationId xmlns:a16="http://schemas.microsoft.com/office/drawing/2014/main" id="{96467837-15FC-4013-ABB2-A4CA97820251}"/>
              </a:ext>
            </a:extLst>
          </p:cNvPr>
          <p:cNvSpPr>
            <a:spLocks xmlns:a="http://schemas.openxmlformats.org/drawingml/2006/main" noGrp="1"/>
          </p:cNvSpPr>
          <p:nvPr/>
        </p:nvSpPr>
        <p:spPr>
          <a:xfrm xmlns:a="http://schemas.openxmlformats.org/drawingml/2006/main">
            <a:off x="838200" y="3924300"/>
            <a:ext cx="42576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000000"/>
                </a:solidFill>
              </a:defRPr>
            </a:pPr>
            <a:r>
              <a:rPr sz="1350" b="0">
                <a:solidFill>
                  <a:srgbClr val="000000"/>
                </a:solidFill>
              </a:rPr>
              <a:t>生成应用具备嵌入客户系统的便利性</a:t>
            </a:r>
          </a:p>
        </p:txBody>
      </p:sp>
      <p:sp>
        <p:nvSpPr>
          <p:cNvPr id="15" name="">
            <a:extLst xmlns:a="http://schemas.openxmlformats.org/drawingml/2006/main">
              <a:ext uri="{FF2B5EF4-FFF2-40B4-BE49-F238E27FC236}">
                <a16:creationId xmlns:a16="http://schemas.microsoft.com/office/drawing/2014/main" id="{3E6561DF-4363-413D-BA8A-175A2DC1AA73}"/>
              </a:ext>
            </a:extLst>
          </p:cNvPr>
          <p:cNvSpPr>
            <a:spLocks xmlns:a="http://schemas.openxmlformats.org/drawingml/2006/main" noGrp="1"/>
          </p:cNvSpPr>
          <p:nvPr/>
        </p:nvSpPr>
        <p:spPr>
          <a:xfrm xmlns:a="http://schemas.openxmlformats.org/drawingml/2006/main">
            <a:off x="5753100" y="1695450"/>
            <a:ext cx="5619750" cy="3524250"/>
          </a:xfrm>
          <a:prstGeom xmlns:a="http://schemas.openxmlformats.org/drawingml/2006/main" prst="rect">
            <a:avLst/>
          </a:prstGeom>
          <a:solidFill xmlns:a="http://schemas.openxmlformats.org/drawingml/2006/main">
            <a:srgbClr val="F6F6F6"/>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93FB1626-BD69-4CBD-9D86-51C38149E69E}"/>
              </a:ext>
            </a:extLst>
          </p:cNvPr>
          <p:cNvSpPr>
            <a:spLocks xmlns:a="http://schemas.openxmlformats.org/drawingml/2006/main" noGrp="1"/>
          </p:cNvSpPr>
          <p:nvPr/>
        </p:nvSpPr>
        <p:spPr>
          <a:xfrm xmlns:a="http://schemas.openxmlformats.org/drawingml/2006/main">
            <a:off x="6038850" y="200025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FF6B35"/>
                </a:solidFill>
              </a:defRPr>
            </a:pPr>
            <a:r>
              <a:rPr sz="1125" b="1">
                <a:solidFill>
                  <a:srgbClr val="FF6B35"/>
                </a:solidFill>
              </a:rPr>
              <a:t>现场厂商观察</a:t>
            </a:r>
          </a:p>
        </p:txBody>
      </p:sp>
      <p:sp>
        <p:nvSpPr>
          <p:cNvPr id="17" name="">
            <a:extLst xmlns:a="http://schemas.openxmlformats.org/drawingml/2006/main">
              <a:ext uri="{FF2B5EF4-FFF2-40B4-BE49-F238E27FC236}">
                <a16:creationId xmlns:a16="http://schemas.microsoft.com/office/drawing/2014/main" id="{8C52CB50-23D7-44E2-89DA-10CADE7209F3}"/>
              </a:ext>
            </a:extLst>
          </p:cNvPr>
          <p:cNvSpPr>
            <a:spLocks xmlns:a="http://schemas.openxmlformats.org/drawingml/2006/main" noGrp="1"/>
          </p:cNvSpPr>
          <p:nvPr/>
        </p:nvSpPr>
        <p:spPr>
          <a:xfrm xmlns:a="http://schemas.openxmlformats.org/drawingml/2006/main">
            <a:off x="6038850" y="24574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00000"/>
                </a:solidFill>
              </a:defRPr>
            </a:pPr>
            <a:r>
              <a:rPr sz="1575" b="1">
                <a:solidFill>
                  <a:srgbClr val="000000"/>
                </a:solidFill>
              </a:rPr>
              <a:t>领铄</a:t>
            </a:r>
          </a:p>
        </p:txBody>
      </p:sp>
      <p:sp>
        <p:nvSpPr>
          <p:cNvPr id="18" name="">
            <a:extLst xmlns:a="http://schemas.openxmlformats.org/drawingml/2006/main">
              <a:ext uri="{FF2B5EF4-FFF2-40B4-BE49-F238E27FC236}">
                <a16:creationId xmlns:a16="http://schemas.microsoft.com/office/drawing/2014/main" id="{F8C0FFEA-ED1D-4642-9651-700541AD5B8D}"/>
              </a:ext>
            </a:extLst>
          </p:cNvPr>
          <p:cNvSpPr>
            <a:spLocks xmlns:a="http://schemas.openxmlformats.org/drawingml/2006/main" noGrp="1"/>
          </p:cNvSpPr>
          <p:nvPr/>
        </p:nvSpPr>
        <p:spPr>
          <a:xfrm xmlns:a="http://schemas.openxmlformats.org/drawingml/2006/main">
            <a:off x="7029450" y="2457450"/>
            <a:ext cx="3810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22222"/>
                </a:solidFill>
              </a:defRPr>
            </a:pPr>
            <a:r>
              <a:rPr sz="1275" b="0">
                <a:solidFill>
                  <a:srgbClr val="222222"/>
                </a:solidFill>
              </a:rPr>
              <a:t>需求分析交互、澄清项识别、数据处理过程更容易被客户感知。</a:t>
            </a:r>
          </a:p>
        </p:txBody>
      </p:sp>
      <p:sp>
        <p:nvSpPr>
          <p:cNvPr id="19" name="">
            <a:extLst xmlns:a="http://schemas.openxmlformats.org/drawingml/2006/main">
              <a:ext uri="{FF2B5EF4-FFF2-40B4-BE49-F238E27FC236}">
                <a16:creationId xmlns:a16="http://schemas.microsoft.com/office/drawing/2014/main" id="{260DF551-2DF3-4809-9481-44BF31BB67F5}"/>
              </a:ext>
            </a:extLst>
          </p:cNvPr>
          <p:cNvSpPr>
            <a:spLocks xmlns:a="http://schemas.openxmlformats.org/drawingml/2006/main" noGrp="1"/>
          </p:cNvSpPr>
          <p:nvPr/>
        </p:nvSpPr>
        <p:spPr>
          <a:xfrm xmlns:a="http://schemas.openxmlformats.org/drawingml/2006/main">
            <a:off x="6038850" y="3048000"/>
            <a:ext cx="485775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20" name="">
            <a:extLst xmlns:a="http://schemas.openxmlformats.org/drawingml/2006/main">
              <a:ext uri="{FF2B5EF4-FFF2-40B4-BE49-F238E27FC236}">
                <a16:creationId xmlns:a16="http://schemas.microsoft.com/office/drawing/2014/main" id="{F3E953A5-2202-4D07-8C97-1DA343A32DD7}"/>
              </a:ext>
            </a:extLst>
          </p:cNvPr>
          <p:cNvSpPr>
            <a:spLocks xmlns:a="http://schemas.openxmlformats.org/drawingml/2006/main" noGrp="1"/>
          </p:cNvSpPr>
          <p:nvPr/>
        </p:nvSpPr>
        <p:spPr>
          <a:xfrm xmlns:a="http://schemas.openxmlformats.org/drawingml/2006/main">
            <a:off x="6038850" y="323850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00000"/>
                </a:solidFill>
              </a:defRPr>
            </a:pPr>
            <a:r>
              <a:rPr sz="1575" b="1">
                <a:solidFill>
                  <a:srgbClr val="000000"/>
                </a:solidFill>
              </a:rPr>
              <a:t>电子云</a:t>
            </a:r>
          </a:p>
        </p:txBody>
      </p:sp>
      <p:sp>
        <p:nvSpPr>
          <p:cNvPr id="21" name="">
            <a:extLst xmlns:a="http://schemas.openxmlformats.org/drawingml/2006/main">
              <a:ext uri="{FF2B5EF4-FFF2-40B4-BE49-F238E27FC236}">
                <a16:creationId xmlns:a16="http://schemas.microsoft.com/office/drawing/2014/main" id="{91581DBF-FED5-4BEE-9062-98C1D6D4CE2F}"/>
              </a:ext>
            </a:extLst>
          </p:cNvPr>
          <p:cNvSpPr>
            <a:spLocks xmlns:a="http://schemas.openxmlformats.org/drawingml/2006/main" noGrp="1"/>
          </p:cNvSpPr>
          <p:nvPr/>
        </p:nvSpPr>
        <p:spPr>
          <a:xfrm xmlns:a="http://schemas.openxmlformats.org/drawingml/2006/main">
            <a:off x="7029450" y="3238500"/>
            <a:ext cx="3810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22222"/>
                </a:solidFill>
              </a:defRPr>
            </a:pPr>
            <a:r>
              <a:rPr sz="1275" b="0">
                <a:solidFill>
                  <a:srgbClr val="222222"/>
                </a:solidFill>
              </a:rPr>
              <a:t>真实数据应用生成闭环、客户系统嵌入能力、与电子云产品结合空间。</a:t>
            </a:r>
          </a:p>
        </p:txBody>
      </p:sp>
      <p:sp>
        <p:nvSpPr>
          <p:cNvPr id="22" name="">
            <a:extLst xmlns:a="http://schemas.openxmlformats.org/drawingml/2006/main">
              <a:ext uri="{FF2B5EF4-FFF2-40B4-BE49-F238E27FC236}">
                <a16:creationId xmlns:a16="http://schemas.microsoft.com/office/drawing/2014/main" id="{F7422B5F-62BE-4AB4-995B-CE11972FC736}"/>
              </a:ext>
            </a:extLst>
          </p:cNvPr>
          <p:cNvSpPr>
            <a:spLocks xmlns:a="http://schemas.openxmlformats.org/drawingml/2006/main" noGrp="1"/>
          </p:cNvSpPr>
          <p:nvPr/>
        </p:nvSpPr>
        <p:spPr>
          <a:xfrm xmlns:a="http://schemas.openxmlformats.org/drawingml/2006/main">
            <a:off x="6038850" y="3829050"/>
            <a:ext cx="485775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23" name="">
            <a:extLst xmlns:a="http://schemas.openxmlformats.org/drawingml/2006/main">
              <a:ext uri="{FF2B5EF4-FFF2-40B4-BE49-F238E27FC236}">
                <a16:creationId xmlns:a16="http://schemas.microsoft.com/office/drawing/2014/main" id="{61C89FBF-7432-413C-B6A2-C82519AFB6C6}"/>
              </a:ext>
            </a:extLst>
          </p:cNvPr>
          <p:cNvSpPr>
            <a:spLocks xmlns:a="http://schemas.openxmlformats.org/drawingml/2006/main" noGrp="1"/>
          </p:cNvSpPr>
          <p:nvPr/>
        </p:nvSpPr>
        <p:spPr>
          <a:xfrm xmlns:a="http://schemas.openxmlformats.org/drawingml/2006/main">
            <a:off x="6038850" y="40195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00000"/>
                </a:solidFill>
              </a:defRPr>
            </a:pPr>
            <a:r>
              <a:rPr sz="1575" b="1">
                <a:solidFill>
                  <a:srgbClr val="000000"/>
                </a:solidFill>
              </a:rPr>
              <a:t>15 所</a:t>
            </a:r>
          </a:p>
        </p:txBody>
      </p:sp>
      <p:sp>
        <p:nvSpPr>
          <p:cNvPr id="24" name="">
            <a:extLst xmlns:a="http://schemas.openxmlformats.org/drawingml/2006/main">
              <a:ext uri="{FF2B5EF4-FFF2-40B4-BE49-F238E27FC236}">
                <a16:creationId xmlns:a16="http://schemas.microsoft.com/office/drawing/2014/main" id="{6D1F7672-1607-489E-9492-261C3395A7EB}"/>
              </a:ext>
            </a:extLst>
          </p:cNvPr>
          <p:cNvSpPr>
            <a:spLocks xmlns:a="http://schemas.openxmlformats.org/drawingml/2006/main" noGrp="1"/>
          </p:cNvSpPr>
          <p:nvPr/>
        </p:nvSpPr>
        <p:spPr>
          <a:xfrm xmlns:a="http://schemas.openxmlformats.org/drawingml/2006/main">
            <a:off x="7029450" y="4019550"/>
            <a:ext cx="3810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22222"/>
                </a:solidFill>
              </a:defRPr>
            </a:pPr>
            <a:r>
              <a:rPr sz="1275" b="0">
                <a:solidFill>
                  <a:srgbClr val="222222"/>
                </a:solidFill>
              </a:rPr>
              <a:t>工程链路直接，但产品化展示和用户体验不足。</a:t>
            </a:r>
          </a:p>
        </p:txBody>
      </p:sp>
      <p:sp>
        <p:nvSpPr>
          <p:cNvPr id="25" name="">
            <a:extLst xmlns:a="http://schemas.openxmlformats.org/drawingml/2006/main">
              <a:ext uri="{FF2B5EF4-FFF2-40B4-BE49-F238E27FC236}">
                <a16:creationId xmlns:a16="http://schemas.microsoft.com/office/drawing/2014/main" id="{1700DABD-80F0-400A-8FE4-D291A490EA89}"/>
              </a:ext>
            </a:extLst>
          </p:cNvPr>
          <p:cNvSpPr>
            <a:spLocks xmlns:a="http://schemas.openxmlformats.org/drawingml/2006/main" noGrp="1"/>
          </p:cNvSpPr>
          <p:nvPr/>
        </p:nvSpPr>
        <p:spPr>
          <a:xfrm xmlns:a="http://schemas.openxmlformats.org/drawingml/2006/main">
            <a:off x="5753100" y="5572125"/>
            <a:ext cx="5619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000000"/>
                </a:solidFill>
              </a:defRPr>
            </a:pPr>
            <a:r>
              <a:rPr sz="1500" b="1">
                <a:solidFill>
                  <a:srgbClr val="000000"/>
                </a:solidFill>
              </a:rPr>
              <a:t>领铄更容易让客户看到“过程可信”；电子云更明确证明了“闭环可用”。</a:t>
            </a:r>
          </a:p>
        </p:txBody>
      </p:sp>
      <p:sp>
        <p:nvSpPr>
          <p:cNvPr id="26" name="">
            <a:extLst xmlns:a="http://schemas.openxmlformats.org/drawingml/2006/main">
              <a:ext uri="{FF2B5EF4-FFF2-40B4-BE49-F238E27FC236}">
                <a16:creationId xmlns:a16="http://schemas.microsoft.com/office/drawing/2014/main" id="{6DC89F1D-72EA-4341-A52E-936B7FECFBB1}"/>
              </a:ext>
            </a:extLst>
          </p:cNvPr>
          <p:cNvSpPr>
            <a:spLocks xmlns:a="http://schemas.openxmlformats.org/drawingml/2006/main" noGrp="1"/>
          </p:cNvSpPr>
          <p:nvPr/>
        </p:nvSpPr>
        <p:spPr>
          <a:xfrm xmlns:a="http://schemas.openxmlformats.org/drawingml/2006/main">
            <a:off x="514350" y="63817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555555"/>
                </a:solidFill>
              </a:defRPr>
            </a:pPr>
            <a:r>
              <a:rPr sz="1050" b="0">
                <a:solidFill>
                  <a:srgbClr val="555555"/>
                </a:solidFill>
              </a:rPr>
              <a:t>西安 630 项目软件工厂复盘</a:t>
            </a:r>
          </a:p>
        </p:txBody>
      </p:sp>
      <p:sp>
        <p:nvSpPr>
          <p:cNvPr id="27" name="">
            <a:extLst xmlns:a="http://schemas.openxmlformats.org/drawingml/2006/main">
              <a:ext uri="{FF2B5EF4-FFF2-40B4-BE49-F238E27FC236}">
                <a16:creationId xmlns:a16="http://schemas.microsoft.com/office/drawing/2014/main" id="{0A82F094-0834-4688-B5CD-339204498E68}"/>
              </a:ext>
            </a:extLst>
          </p:cNvPr>
          <p:cNvSpPr>
            <a:spLocks xmlns:a="http://schemas.openxmlformats.org/drawingml/2006/main" noGrp="1"/>
          </p:cNvSpPr>
          <p:nvPr/>
        </p:nvSpPr>
        <p:spPr>
          <a:xfrm xmlns:a="http://schemas.openxmlformats.org/drawingml/2006/main">
            <a:off x="11287125" y="6381750"/>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a:solidFill>
                  <a:srgbClr val="555555"/>
                </a:solidFill>
              </a:defRPr>
            </a:pPr>
            <a:r>
              <a:rPr sz="1050" b="1">
                <a:solidFill>
                  <a:srgbClr val="555555"/>
                </a:solidFill>
              </a:rPr>
              <a:t>04</a:t>
            </a:r>
          </a:p>
        </p:txBody>
      </p:sp>
    </p:spTree>
    <p:extLst>
      <p:ext uri="{BB962C8B-B14F-4D97-AF65-F5344CB8AC3E}">
        <p14:creationId xmlns:p14="http://schemas.microsoft.com/office/powerpoint/2010/main" val="123453019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58C5B65A-C213-4F54-B134-F7070D4645CD}"/>
              </a:ext>
            </a:extLst>
          </p:cNvPr>
          <p:cNvSpPr>
            <a:spLocks xmlns:a="http://schemas.openxmlformats.org/drawingml/2006/main" noGrp="1"/>
          </p:cNvSpPr>
          <p:nvPr/>
        </p:nvSpPr>
        <p:spPr>
          <a:xfrm xmlns:a="http://schemas.openxmlformats.org/drawingml/2006/main">
            <a:off x="514350" y="381000"/>
            <a:ext cx="10001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00000"/>
                </a:solidFill>
              </a:defRPr>
            </a:pPr>
            <a:r>
              <a:rPr sz="2850" b="1">
                <a:solidFill>
                  <a:srgbClr val="000000"/>
                </a:solidFill>
              </a:rPr>
              <a:t>下一阶段要把闭环可用升级为过程可信</a:t>
            </a:r>
          </a:p>
        </p:txBody>
      </p:sp>
      <p:sp>
        <p:nvSpPr>
          <p:cNvPr id="2" name="">
            <a:extLst xmlns:a="http://schemas.openxmlformats.org/drawingml/2006/main">
              <a:ext uri="{FF2B5EF4-FFF2-40B4-BE49-F238E27FC236}">
                <a16:creationId xmlns:a16="http://schemas.microsoft.com/office/drawing/2014/main" id="{2E373A5D-90B1-418A-AF2E-283D4DE5B13D}"/>
              </a:ext>
            </a:extLst>
          </p:cNvPr>
          <p:cNvSpPr>
            <a:spLocks xmlns:a="http://schemas.openxmlformats.org/drawingml/2006/main" noGrp="1"/>
          </p:cNvSpPr>
          <p:nvPr/>
        </p:nvSpPr>
        <p:spPr>
          <a:xfrm xmlns:a="http://schemas.openxmlformats.org/drawingml/2006/main">
            <a:off x="514350" y="990600"/>
            <a:ext cx="876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555555"/>
                </a:solidFill>
              </a:defRPr>
            </a:pPr>
            <a:r>
              <a:rPr sz="1350" b="0">
                <a:solidFill>
                  <a:srgbClr val="555555"/>
                </a:solidFill>
              </a:rPr>
              <a:t>客户高感知能力决定现场认可度，产品主轴能力决定长期形态。</a:t>
            </a:r>
          </a:p>
        </p:txBody>
      </p:sp>
      <p:sp>
        <p:nvSpPr>
          <p:cNvPr id="3" name="">
            <a:extLst xmlns:a="http://schemas.openxmlformats.org/drawingml/2006/main">
              <a:ext uri="{FF2B5EF4-FFF2-40B4-BE49-F238E27FC236}">
                <a16:creationId xmlns:a16="http://schemas.microsoft.com/office/drawing/2014/main" id="{1B639299-7215-432F-B4E3-4F06729BC095}"/>
              </a:ext>
            </a:extLst>
          </p:cNvPr>
          <p:cNvSpPr>
            <a:spLocks xmlns:a="http://schemas.openxmlformats.org/drawingml/2006/main" noGrp="1"/>
          </p:cNvSpPr>
          <p:nvPr/>
        </p:nvSpPr>
        <p:spPr>
          <a:xfrm xmlns:a="http://schemas.openxmlformats.org/drawingml/2006/main">
            <a:off x="514350" y="1428750"/>
            <a:ext cx="111633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4" name="">
            <a:extLst xmlns:a="http://schemas.openxmlformats.org/drawingml/2006/main">
              <a:ext uri="{FF2B5EF4-FFF2-40B4-BE49-F238E27FC236}">
                <a16:creationId xmlns:a16="http://schemas.microsoft.com/office/drawing/2014/main" id="{8C48B03B-C1B7-4DE0-B167-EE0407A2FF90}"/>
              </a:ext>
            </a:extLst>
          </p:cNvPr>
          <p:cNvSpPr>
            <a:spLocks xmlns:a="http://schemas.openxmlformats.org/drawingml/2006/main" noGrp="1"/>
          </p:cNvSpPr>
          <p:nvPr/>
        </p:nvSpPr>
        <p:spPr>
          <a:xfrm xmlns:a="http://schemas.openxmlformats.org/drawingml/2006/main">
            <a:off x="666750" y="1809750"/>
            <a:ext cx="4000500" cy="990600"/>
          </a:xfrm>
          <a:prstGeom xmlns:a="http://schemas.openxmlformats.org/drawingml/2006/main" prst="rect">
            <a:avLst/>
          </a:prstGeom>
          <a:solidFill xmlns:a="http://schemas.openxmlformats.org/drawingml/2006/main">
            <a:srgbClr val="FFF4EF"/>
          </a:solidFill>
          <a:ln xmlns:a="http://schemas.openxmlformats.org/drawingml/2006/main" w="9525">
            <a:solidFill>
              <a:srgbClr val="FF6B35"/>
            </a:solidFill>
            <a:prstDash val="solid"/>
          </a:ln>
        </p:spPr>
      </p:sp>
      <p:sp>
        <p:nvSpPr>
          <p:cNvPr id="5" name="">
            <a:extLst xmlns:a="http://schemas.openxmlformats.org/drawingml/2006/main">
              <a:ext uri="{FF2B5EF4-FFF2-40B4-BE49-F238E27FC236}">
                <a16:creationId xmlns:a16="http://schemas.microsoft.com/office/drawing/2014/main" id="{DD2FF9F8-2334-4E4F-AE6F-7FBEA1535FE2}"/>
              </a:ext>
            </a:extLst>
          </p:cNvPr>
          <p:cNvSpPr>
            <a:spLocks xmlns:a="http://schemas.openxmlformats.org/drawingml/2006/main" noGrp="1"/>
          </p:cNvSpPr>
          <p:nvPr/>
        </p:nvSpPr>
        <p:spPr>
          <a:xfrm xmlns:a="http://schemas.openxmlformats.org/drawingml/2006/main">
            <a:off x="876300" y="1981200"/>
            <a:ext cx="1524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000000"/>
                </a:solidFill>
              </a:defRPr>
            </a:pPr>
            <a:r>
              <a:rPr sz="1800" b="1">
                <a:solidFill>
                  <a:srgbClr val="000000"/>
                </a:solidFill>
              </a:rPr>
              <a:t>过程可信</a:t>
            </a:r>
          </a:p>
        </p:txBody>
      </p:sp>
      <p:sp>
        <p:nvSpPr>
          <p:cNvPr id="6" name="">
            <a:extLst xmlns:a="http://schemas.openxmlformats.org/drawingml/2006/main">
              <a:ext uri="{FF2B5EF4-FFF2-40B4-BE49-F238E27FC236}">
                <a16:creationId xmlns:a16="http://schemas.microsoft.com/office/drawing/2014/main" id="{AC6366BA-6A34-49B3-BC13-58D97595A5F1}"/>
              </a:ext>
            </a:extLst>
          </p:cNvPr>
          <p:cNvSpPr>
            <a:spLocks xmlns:a="http://schemas.openxmlformats.org/drawingml/2006/main" noGrp="1"/>
          </p:cNvSpPr>
          <p:nvPr/>
        </p:nvSpPr>
        <p:spPr>
          <a:xfrm xmlns:a="http://schemas.openxmlformats.org/drawingml/2006/main">
            <a:off x="876300" y="2362200"/>
            <a:ext cx="342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555555"/>
                </a:solidFill>
              </a:defRPr>
            </a:pPr>
            <a:r>
              <a:rPr sz="1200" b="0">
                <a:solidFill>
                  <a:srgbClr val="555555"/>
                </a:solidFill>
              </a:rPr>
              <a:t>需求澄清、数据流转、agent 协作过程可见</a:t>
            </a:r>
          </a:p>
        </p:txBody>
      </p:sp>
      <p:sp>
        <p:nvSpPr>
          <p:cNvPr id="7" name="">
            <a:extLst xmlns:a="http://schemas.openxmlformats.org/drawingml/2006/main">
              <a:ext uri="{FF2B5EF4-FFF2-40B4-BE49-F238E27FC236}">
                <a16:creationId xmlns:a16="http://schemas.microsoft.com/office/drawing/2014/main" id="{8D0CF9A2-863A-4401-864D-981C4733A033}"/>
              </a:ext>
            </a:extLst>
          </p:cNvPr>
          <p:cNvSpPr>
            <a:spLocks xmlns:a="http://schemas.openxmlformats.org/drawingml/2006/main" noGrp="1"/>
          </p:cNvSpPr>
          <p:nvPr/>
        </p:nvSpPr>
        <p:spPr>
          <a:xfrm xmlns:a="http://schemas.openxmlformats.org/drawingml/2006/main">
            <a:off x="5143500" y="1809750"/>
            <a:ext cx="4000500" cy="990600"/>
          </a:xfrm>
          <a:prstGeom xmlns:a="http://schemas.openxmlformats.org/drawingml/2006/main" prst="rect">
            <a:avLst/>
          </a:prstGeom>
          <a:solidFill xmlns:a="http://schemas.openxmlformats.org/drawingml/2006/main">
            <a:srgbClr val="F6F6F6"/>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989CEA03-AB61-4174-9AD3-E699E201CF48}"/>
              </a:ext>
            </a:extLst>
          </p:cNvPr>
          <p:cNvSpPr>
            <a:spLocks xmlns:a="http://schemas.openxmlformats.org/drawingml/2006/main" noGrp="1"/>
          </p:cNvSpPr>
          <p:nvPr/>
        </p:nvSpPr>
        <p:spPr>
          <a:xfrm xmlns:a="http://schemas.openxmlformats.org/drawingml/2006/main">
            <a:off x="5353050" y="1981200"/>
            <a:ext cx="1524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000000"/>
                </a:solidFill>
              </a:defRPr>
            </a:pPr>
            <a:r>
              <a:rPr sz="1800" b="1">
                <a:solidFill>
                  <a:srgbClr val="000000"/>
                </a:solidFill>
              </a:rPr>
              <a:t>产物稳定</a:t>
            </a:r>
          </a:p>
        </p:txBody>
      </p:sp>
      <p:sp>
        <p:nvSpPr>
          <p:cNvPr id="9" name="">
            <a:extLst xmlns:a="http://schemas.openxmlformats.org/drawingml/2006/main">
              <a:ext uri="{FF2B5EF4-FFF2-40B4-BE49-F238E27FC236}">
                <a16:creationId xmlns:a16="http://schemas.microsoft.com/office/drawing/2014/main" id="{817CEF43-3C29-454A-BA60-2F904C5F1ACD}"/>
              </a:ext>
            </a:extLst>
          </p:cNvPr>
          <p:cNvSpPr>
            <a:spLocks xmlns:a="http://schemas.openxmlformats.org/drawingml/2006/main" noGrp="1"/>
          </p:cNvSpPr>
          <p:nvPr/>
        </p:nvSpPr>
        <p:spPr>
          <a:xfrm xmlns:a="http://schemas.openxmlformats.org/drawingml/2006/main">
            <a:off x="5353050" y="2362200"/>
            <a:ext cx="342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555555"/>
                </a:solidFill>
              </a:defRPr>
            </a:pPr>
            <a:r>
              <a:rPr sz="1200" b="0">
                <a:solidFill>
                  <a:srgbClr val="555555"/>
                </a:solidFill>
              </a:rPr>
              <a:t>应用质量、真实数据接入、部署验证更稳定</a:t>
            </a:r>
          </a:p>
        </p:txBody>
      </p:sp>
      <p:sp>
        <p:nvSpPr>
          <p:cNvPr id="10" name="">
            <a:extLst xmlns:a="http://schemas.openxmlformats.org/drawingml/2006/main">
              <a:ext uri="{FF2B5EF4-FFF2-40B4-BE49-F238E27FC236}">
                <a16:creationId xmlns:a16="http://schemas.microsoft.com/office/drawing/2014/main" id="{1DAF38BD-FC3A-4EAA-8760-8182902F45C2}"/>
              </a:ext>
            </a:extLst>
          </p:cNvPr>
          <p:cNvSpPr>
            <a:spLocks xmlns:a="http://schemas.openxmlformats.org/drawingml/2006/main" noGrp="1"/>
          </p:cNvSpPr>
          <p:nvPr/>
        </p:nvSpPr>
        <p:spPr>
          <a:xfrm xmlns:a="http://schemas.openxmlformats.org/drawingml/2006/main">
            <a:off x="666750" y="3238500"/>
            <a:ext cx="4000500" cy="990600"/>
          </a:xfrm>
          <a:prstGeom xmlns:a="http://schemas.openxmlformats.org/drawingml/2006/main" prst="rect">
            <a:avLst/>
          </a:prstGeom>
          <a:solidFill xmlns:a="http://schemas.openxmlformats.org/drawingml/2006/main">
            <a:srgbClr val="F6F6F6"/>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56AD2D96-A494-43E5-AFF1-30F6B6B33316}"/>
              </a:ext>
            </a:extLst>
          </p:cNvPr>
          <p:cNvSpPr>
            <a:spLocks xmlns:a="http://schemas.openxmlformats.org/drawingml/2006/main" noGrp="1"/>
          </p:cNvSpPr>
          <p:nvPr/>
        </p:nvSpPr>
        <p:spPr>
          <a:xfrm xmlns:a="http://schemas.openxmlformats.org/drawingml/2006/main">
            <a:off x="876300" y="3409950"/>
            <a:ext cx="1524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000000"/>
                </a:solidFill>
              </a:defRPr>
            </a:pPr>
            <a:r>
              <a:rPr sz="1800" b="1">
                <a:solidFill>
                  <a:srgbClr val="000000"/>
                </a:solidFill>
              </a:rPr>
              <a:t>能力可沉淀</a:t>
            </a:r>
          </a:p>
        </p:txBody>
      </p:sp>
      <p:sp>
        <p:nvSpPr>
          <p:cNvPr id="12" name="">
            <a:extLst xmlns:a="http://schemas.openxmlformats.org/drawingml/2006/main">
              <a:ext uri="{FF2B5EF4-FFF2-40B4-BE49-F238E27FC236}">
                <a16:creationId xmlns:a16="http://schemas.microsoft.com/office/drawing/2014/main" id="{7BF9486B-14DA-4D14-B980-6F7F89F5D8AA}"/>
              </a:ext>
            </a:extLst>
          </p:cNvPr>
          <p:cNvSpPr>
            <a:spLocks xmlns:a="http://schemas.openxmlformats.org/drawingml/2006/main" noGrp="1"/>
          </p:cNvSpPr>
          <p:nvPr/>
        </p:nvSpPr>
        <p:spPr>
          <a:xfrm xmlns:a="http://schemas.openxmlformats.org/drawingml/2006/main">
            <a:off x="876300" y="3790950"/>
            <a:ext cx="342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555555"/>
                </a:solidFill>
              </a:defRPr>
            </a:pPr>
            <a:r>
              <a:rPr sz="1200" b="0">
                <a:solidFill>
                  <a:srgbClr val="555555"/>
                </a:solidFill>
              </a:rPr>
              <a:t>领域经验、skills、subagent、应用蓝本可复用</a:t>
            </a:r>
          </a:p>
        </p:txBody>
      </p:sp>
      <p:sp>
        <p:nvSpPr>
          <p:cNvPr id="13" name="">
            <a:extLst xmlns:a="http://schemas.openxmlformats.org/drawingml/2006/main">
              <a:ext uri="{FF2B5EF4-FFF2-40B4-BE49-F238E27FC236}">
                <a16:creationId xmlns:a16="http://schemas.microsoft.com/office/drawing/2014/main" id="{575E540A-960D-4280-96EF-C9442A687EF6}"/>
              </a:ext>
            </a:extLst>
          </p:cNvPr>
          <p:cNvSpPr>
            <a:spLocks xmlns:a="http://schemas.openxmlformats.org/drawingml/2006/main" noGrp="1"/>
          </p:cNvSpPr>
          <p:nvPr/>
        </p:nvSpPr>
        <p:spPr>
          <a:xfrm xmlns:a="http://schemas.openxmlformats.org/drawingml/2006/main">
            <a:off x="5143500" y="3238500"/>
            <a:ext cx="4000500" cy="990600"/>
          </a:xfrm>
          <a:prstGeom xmlns:a="http://schemas.openxmlformats.org/drawingml/2006/main" prst="rect">
            <a:avLst/>
          </a:prstGeom>
          <a:solidFill xmlns:a="http://schemas.openxmlformats.org/drawingml/2006/main">
            <a:srgbClr val="F6F6F6"/>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5C438072-CC08-41A1-A61B-741C1361238F}"/>
              </a:ext>
            </a:extLst>
          </p:cNvPr>
          <p:cNvSpPr>
            <a:spLocks xmlns:a="http://schemas.openxmlformats.org/drawingml/2006/main" noGrp="1"/>
          </p:cNvSpPr>
          <p:nvPr/>
        </p:nvSpPr>
        <p:spPr>
          <a:xfrm xmlns:a="http://schemas.openxmlformats.org/drawingml/2006/main">
            <a:off x="5353050" y="3409950"/>
            <a:ext cx="1524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000000"/>
                </a:solidFill>
              </a:defRPr>
            </a:pPr>
            <a:r>
              <a:rPr sz="1800" b="1">
                <a:solidFill>
                  <a:srgbClr val="000000"/>
                </a:solidFill>
              </a:rPr>
              <a:t>工程可进入</a:t>
            </a:r>
          </a:p>
        </p:txBody>
      </p:sp>
      <p:sp>
        <p:nvSpPr>
          <p:cNvPr id="15" name="">
            <a:extLst xmlns:a="http://schemas.openxmlformats.org/drawingml/2006/main">
              <a:ext uri="{FF2B5EF4-FFF2-40B4-BE49-F238E27FC236}">
                <a16:creationId xmlns:a16="http://schemas.microsoft.com/office/drawing/2014/main" id="{E970E68D-5AC1-4611-A214-19FC7BB87BC0}"/>
              </a:ext>
            </a:extLst>
          </p:cNvPr>
          <p:cNvSpPr>
            <a:spLocks xmlns:a="http://schemas.openxmlformats.org/drawingml/2006/main" noGrp="1"/>
          </p:cNvSpPr>
          <p:nvPr/>
        </p:nvSpPr>
        <p:spPr>
          <a:xfrm xmlns:a="http://schemas.openxmlformats.org/drawingml/2006/main">
            <a:off x="5353050" y="3790950"/>
            <a:ext cx="342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555555"/>
                </a:solidFill>
              </a:defRPr>
            </a:pPr>
            <a:r>
              <a:rPr sz="1200" b="0">
                <a:solidFill>
                  <a:srgbClr val="555555"/>
                </a:solidFill>
              </a:rPr>
              <a:t>agent 产物进入 DevOps、低代码、微服务、网关、观测</a:t>
            </a:r>
          </a:p>
        </p:txBody>
      </p:sp>
      <p:sp>
        <p:nvSpPr>
          <p:cNvPr id="16" name="">
            <a:extLst xmlns:a="http://schemas.openxmlformats.org/drawingml/2006/main">
              <a:ext uri="{FF2B5EF4-FFF2-40B4-BE49-F238E27FC236}">
                <a16:creationId xmlns:a16="http://schemas.microsoft.com/office/drawing/2014/main" id="{1B60D140-DA72-4DEA-8738-0E9AA54563DF}"/>
              </a:ext>
            </a:extLst>
          </p:cNvPr>
          <p:cNvSpPr>
            <a:spLocks xmlns:a="http://schemas.openxmlformats.org/drawingml/2006/main" noGrp="1"/>
          </p:cNvSpPr>
          <p:nvPr/>
        </p:nvSpPr>
        <p:spPr>
          <a:xfrm xmlns:a="http://schemas.openxmlformats.org/drawingml/2006/main">
            <a:off x="9525000" y="1809750"/>
            <a:ext cx="1809750" cy="241935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71A5AB26-3175-4BFC-AF0F-2869F18E1603}"/>
              </a:ext>
            </a:extLst>
          </p:cNvPr>
          <p:cNvSpPr>
            <a:spLocks xmlns:a="http://schemas.openxmlformats.org/drawingml/2006/main" noGrp="1"/>
          </p:cNvSpPr>
          <p:nvPr/>
        </p:nvSpPr>
        <p:spPr>
          <a:xfrm xmlns:a="http://schemas.openxmlformats.org/drawingml/2006/main">
            <a:off x="9715500" y="2038350"/>
            <a:ext cx="1428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a:solidFill>
                  <a:srgbClr val="000000"/>
                </a:solidFill>
              </a:defRPr>
            </a:pPr>
            <a:r>
              <a:rPr sz="1800" b="1">
                <a:solidFill>
                  <a:srgbClr val="000000"/>
                </a:solidFill>
              </a:rPr>
              <a:t>客户高感知</a:t>
            </a:r>
          </a:p>
          <a:p xmlns:a="http://schemas.openxmlformats.org/drawingml/2006/main">
            <a:pPr algn="ctr">
              <a:defRPr sz="1800" b="1">
                <a:solidFill>
                  <a:srgbClr val="000000"/>
                </a:solidFill>
              </a:defRPr>
            </a:pPr>
            <a:r>
              <a:rPr sz="1800" b="1">
                <a:solidFill>
                  <a:srgbClr val="000000"/>
                </a:solidFill>
              </a:rPr>
              <a:t>优先级</a:t>
            </a:r>
          </a:p>
        </p:txBody>
      </p:sp>
      <p:sp>
        <p:nvSpPr>
          <p:cNvPr id="18" name="">
            <a:extLst xmlns:a="http://schemas.openxmlformats.org/drawingml/2006/main">
              <a:ext uri="{FF2B5EF4-FFF2-40B4-BE49-F238E27FC236}">
                <a16:creationId xmlns:a16="http://schemas.microsoft.com/office/drawing/2014/main" id="{86634A5E-452C-4E8E-92CF-D46E49FF1E77}"/>
              </a:ext>
            </a:extLst>
          </p:cNvPr>
          <p:cNvSpPr>
            <a:spLocks xmlns:a="http://schemas.openxmlformats.org/drawingml/2006/main" noGrp="1"/>
          </p:cNvSpPr>
          <p:nvPr/>
        </p:nvSpPr>
        <p:spPr>
          <a:xfrm xmlns:a="http://schemas.openxmlformats.org/drawingml/2006/main">
            <a:off x="9744075" y="2800350"/>
            <a:ext cx="1381125"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222222"/>
                </a:solidFill>
              </a:defRPr>
            </a:pPr>
            <a:r>
              <a:rPr sz="1200" b="0">
                <a:solidFill>
                  <a:srgbClr val="222222"/>
                </a:solidFill>
              </a:rPr>
              <a:t>1 数据流转可视化</a:t>
            </a:r>
          </a:p>
          <a:p xmlns:a="http://schemas.openxmlformats.org/drawingml/2006/main">
            <a:pPr algn="l">
              <a:defRPr sz="1200" b="0">
                <a:solidFill>
                  <a:srgbClr val="222222"/>
                </a:solidFill>
              </a:defRPr>
            </a:pPr>
            <a:r>
              <a:rPr sz="1200" b="0">
                <a:solidFill>
                  <a:srgbClr val="222222"/>
                </a:solidFill>
              </a:rPr>
              <a:t>2 需求澄清</a:t>
            </a:r>
          </a:p>
          <a:p xmlns:a="http://schemas.openxmlformats.org/drawingml/2006/main">
            <a:pPr algn="l">
              <a:defRPr sz="1200" b="0">
                <a:solidFill>
                  <a:srgbClr val="222222"/>
                </a:solidFill>
              </a:defRPr>
            </a:pPr>
            <a:r>
              <a:rPr sz="1200" b="0">
                <a:solidFill>
                  <a:srgbClr val="222222"/>
                </a:solidFill>
              </a:rPr>
              <a:t>3 多 agent 状态</a:t>
            </a:r>
          </a:p>
          <a:p xmlns:a="http://schemas.openxmlformats.org/drawingml/2006/main">
            <a:pPr algn="l">
              <a:defRPr sz="1200" b="0">
                <a:solidFill>
                  <a:srgbClr val="222222"/>
                </a:solidFill>
              </a:defRPr>
            </a:pPr>
            <a:r>
              <a:rPr sz="1200" b="0">
                <a:solidFill>
                  <a:srgbClr val="222222"/>
                </a:solidFill>
              </a:rPr>
              <a:t>4 应用效果</a:t>
            </a:r>
          </a:p>
          <a:p xmlns:a="http://schemas.openxmlformats.org/drawingml/2006/main">
            <a:pPr algn="l">
              <a:defRPr sz="1200" b="0">
                <a:solidFill>
                  <a:srgbClr val="222222"/>
                </a:solidFill>
              </a:defRPr>
            </a:pPr>
            <a:r>
              <a:rPr sz="1200" b="0">
                <a:solidFill>
                  <a:srgbClr val="222222"/>
                </a:solidFill>
              </a:rPr>
              <a:t>5 能力沉淀</a:t>
            </a:r>
          </a:p>
        </p:txBody>
      </p:sp>
      <p:sp>
        <p:nvSpPr>
          <p:cNvPr id="19" name="">
            <a:extLst xmlns:a="http://schemas.openxmlformats.org/drawingml/2006/main">
              <a:ext uri="{FF2B5EF4-FFF2-40B4-BE49-F238E27FC236}">
                <a16:creationId xmlns:a16="http://schemas.microsoft.com/office/drawing/2014/main" id="{5BD9AB7D-1CE2-410F-AEB5-CD556CB9C725}"/>
              </a:ext>
            </a:extLst>
          </p:cNvPr>
          <p:cNvSpPr>
            <a:spLocks xmlns:a="http://schemas.openxmlformats.org/drawingml/2006/main" noGrp="1"/>
          </p:cNvSpPr>
          <p:nvPr/>
        </p:nvSpPr>
        <p:spPr>
          <a:xfrm xmlns:a="http://schemas.openxmlformats.org/drawingml/2006/main">
            <a:off x="666750" y="5381625"/>
            <a:ext cx="8953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000000"/>
                </a:solidFill>
              </a:defRPr>
            </a:pPr>
            <a:r>
              <a:rPr sz="1800" b="1">
                <a:solidFill>
                  <a:srgbClr val="000000"/>
                </a:solidFill>
              </a:rPr>
              <a:t>数据链路讲清楚，多 agent 和生成应用才更可信。</a:t>
            </a:r>
          </a:p>
        </p:txBody>
      </p:sp>
      <p:sp>
        <p:nvSpPr>
          <p:cNvPr id="20" name="">
            <a:extLst xmlns:a="http://schemas.openxmlformats.org/drawingml/2006/main">
              <a:ext uri="{FF2B5EF4-FFF2-40B4-BE49-F238E27FC236}">
                <a16:creationId xmlns:a16="http://schemas.microsoft.com/office/drawing/2014/main" id="{FF3FE0DC-4F1A-4F51-831A-7240DA5C51E3}"/>
              </a:ext>
            </a:extLst>
          </p:cNvPr>
          <p:cNvSpPr>
            <a:spLocks xmlns:a="http://schemas.openxmlformats.org/drawingml/2006/main" noGrp="1"/>
          </p:cNvSpPr>
          <p:nvPr/>
        </p:nvSpPr>
        <p:spPr>
          <a:xfrm xmlns:a="http://schemas.openxmlformats.org/drawingml/2006/main">
            <a:off x="514350" y="63817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555555"/>
                </a:solidFill>
              </a:defRPr>
            </a:pPr>
            <a:r>
              <a:rPr sz="1050" b="0">
                <a:solidFill>
                  <a:srgbClr val="555555"/>
                </a:solidFill>
              </a:rPr>
              <a:t>西安 630 项目软件工厂复盘</a:t>
            </a:r>
          </a:p>
        </p:txBody>
      </p:sp>
      <p:sp>
        <p:nvSpPr>
          <p:cNvPr id="21" name="">
            <a:extLst xmlns:a="http://schemas.openxmlformats.org/drawingml/2006/main">
              <a:ext uri="{FF2B5EF4-FFF2-40B4-BE49-F238E27FC236}">
                <a16:creationId xmlns:a16="http://schemas.microsoft.com/office/drawing/2014/main" id="{0DC86D40-9ECD-4541-9709-071AFF32D99A}"/>
              </a:ext>
            </a:extLst>
          </p:cNvPr>
          <p:cNvSpPr>
            <a:spLocks xmlns:a="http://schemas.openxmlformats.org/drawingml/2006/main" noGrp="1"/>
          </p:cNvSpPr>
          <p:nvPr/>
        </p:nvSpPr>
        <p:spPr>
          <a:xfrm xmlns:a="http://schemas.openxmlformats.org/drawingml/2006/main">
            <a:off x="11287125" y="6381750"/>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a:solidFill>
                  <a:srgbClr val="555555"/>
                </a:solidFill>
              </a:defRPr>
            </a:pPr>
            <a:r>
              <a:rPr sz="1050" b="1">
                <a:solidFill>
                  <a:srgbClr val="555555"/>
                </a:solidFill>
              </a:rPr>
              <a:t>05</a:t>
            </a:r>
          </a:p>
        </p:txBody>
      </p:sp>
    </p:spTree>
    <p:extLst>
      <p:ext uri="{BB962C8B-B14F-4D97-AF65-F5344CB8AC3E}">
        <p14:creationId xmlns:p14="http://schemas.microsoft.com/office/powerpoint/2010/main" val="67089029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093A4A64-5062-4172-83A4-7336F338D2A1}"/>
              </a:ext>
            </a:extLst>
          </p:cNvPr>
          <p:cNvSpPr>
            <a:spLocks xmlns:a="http://schemas.openxmlformats.org/drawingml/2006/main" noGrp="1"/>
          </p:cNvSpPr>
          <p:nvPr/>
        </p:nvSpPr>
        <p:spPr>
          <a:xfrm xmlns:a="http://schemas.openxmlformats.org/drawingml/2006/main">
            <a:off x="514350" y="381000"/>
            <a:ext cx="10001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00000"/>
                </a:solidFill>
              </a:defRPr>
            </a:pPr>
            <a:r>
              <a:rPr sz="2850" b="1">
                <a:solidFill>
                  <a:srgbClr val="000000"/>
                </a:solidFill>
              </a:rPr>
              <a:t>软件工厂不是 demo 生成器，也不是云产品的 AI 包装层</a:t>
            </a:r>
          </a:p>
        </p:txBody>
      </p:sp>
      <p:sp>
        <p:nvSpPr>
          <p:cNvPr id="2" name="">
            <a:extLst xmlns:a="http://schemas.openxmlformats.org/drawingml/2006/main">
              <a:ext uri="{FF2B5EF4-FFF2-40B4-BE49-F238E27FC236}">
                <a16:creationId xmlns:a16="http://schemas.microsoft.com/office/drawing/2014/main" id="{23E03A83-E38E-4D22-BE39-E75A5CD79918}"/>
              </a:ext>
            </a:extLst>
          </p:cNvPr>
          <p:cNvSpPr>
            <a:spLocks xmlns:a="http://schemas.openxmlformats.org/drawingml/2006/main" noGrp="1"/>
          </p:cNvSpPr>
          <p:nvPr/>
        </p:nvSpPr>
        <p:spPr>
          <a:xfrm xmlns:a="http://schemas.openxmlformats.org/drawingml/2006/main">
            <a:off x="514350" y="990600"/>
            <a:ext cx="876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555555"/>
                </a:solidFill>
              </a:defRPr>
            </a:pPr>
            <a:r>
              <a:rPr sz="1350" b="0">
                <a:solidFill>
                  <a:srgbClr val="555555"/>
                </a:solidFill>
              </a:rPr>
              <a:t>长期主轴是多 agent 管理协作、任务分发执行和领域能力包沉淀。</a:t>
            </a:r>
          </a:p>
        </p:txBody>
      </p:sp>
      <p:sp>
        <p:nvSpPr>
          <p:cNvPr id="3" name="">
            <a:extLst xmlns:a="http://schemas.openxmlformats.org/drawingml/2006/main">
              <a:ext uri="{FF2B5EF4-FFF2-40B4-BE49-F238E27FC236}">
                <a16:creationId xmlns:a16="http://schemas.microsoft.com/office/drawing/2014/main" id="{B72D9D6C-BA6A-4266-9593-A50689E557EF}"/>
              </a:ext>
            </a:extLst>
          </p:cNvPr>
          <p:cNvSpPr>
            <a:spLocks xmlns:a="http://schemas.openxmlformats.org/drawingml/2006/main" noGrp="1"/>
          </p:cNvSpPr>
          <p:nvPr/>
        </p:nvSpPr>
        <p:spPr>
          <a:xfrm xmlns:a="http://schemas.openxmlformats.org/drawingml/2006/main">
            <a:off x="514350" y="1428750"/>
            <a:ext cx="111633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4" name="">
            <a:extLst xmlns:a="http://schemas.openxmlformats.org/drawingml/2006/main">
              <a:ext uri="{FF2B5EF4-FFF2-40B4-BE49-F238E27FC236}">
                <a16:creationId xmlns:a16="http://schemas.microsoft.com/office/drawing/2014/main" id="{F1F9069D-1AC4-4458-9FEE-4BE195849E3F}"/>
              </a:ext>
            </a:extLst>
          </p:cNvPr>
          <p:cNvSpPr>
            <a:spLocks xmlns:a="http://schemas.openxmlformats.org/drawingml/2006/main" noGrp="1"/>
          </p:cNvSpPr>
          <p:nvPr/>
        </p:nvSpPr>
        <p:spPr>
          <a:xfrm xmlns:a="http://schemas.openxmlformats.org/drawingml/2006/main">
            <a:off x="3714750" y="1952625"/>
            <a:ext cx="4762500" cy="1428750"/>
          </a:xfrm>
          <a:prstGeom xmlns:a="http://schemas.openxmlformats.org/drawingml/2006/main" prst="rect">
            <a:avLst/>
          </a:prstGeom>
          <a:solidFill xmlns:a="http://schemas.openxmlformats.org/drawingml/2006/main">
            <a:srgbClr val="FFF4EF"/>
          </a:solidFill>
          <a:ln xmlns:a="http://schemas.openxmlformats.org/drawingml/2006/main" w="9525">
            <a:solidFill>
              <a:srgbClr val="FF6B35"/>
            </a:solidFill>
            <a:prstDash val="solid"/>
          </a:ln>
        </p:spPr>
      </p:sp>
      <p:sp>
        <p:nvSpPr>
          <p:cNvPr id="5" name="">
            <a:extLst xmlns:a="http://schemas.openxmlformats.org/drawingml/2006/main">
              <a:ext uri="{FF2B5EF4-FFF2-40B4-BE49-F238E27FC236}">
                <a16:creationId xmlns:a16="http://schemas.microsoft.com/office/drawing/2014/main" id="{154878B4-E513-450C-AD55-1E3EA788388B}"/>
              </a:ext>
            </a:extLst>
          </p:cNvPr>
          <p:cNvSpPr>
            <a:spLocks xmlns:a="http://schemas.openxmlformats.org/drawingml/2006/main" noGrp="1"/>
          </p:cNvSpPr>
          <p:nvPr/>
        </p:nvSpPr>
        <p:spPr>
          <a:xfrm xmlns:a="http://schemas.openxmlformats.org/drawingml/2006/main">
            <a:off x="4048125" y="2247900"/>
            <a:ext cx="40957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400" b="1">
                <a:solidFill>
                  <a:srgbClr val="000000"/>
                </a:solidFill>
              </a:defRPr>
            </a:pPr>
            <a:r>
              <a:rPr sz="2400" b="1">
                <a:solidFill>
                  <a:srgbClr val="000000"/>
                </a:solidFill>
              </a:rPr>
              <a:t>多 agent 管理协作</a:t>
            </a:r>
          </a:p>
          <a:p xmlns:a="http://schemas.openxmlformats.org/drawingml/2006/main">
            <a:pPr algn="ctr">
              <a:defRPr sz="2400" b="1">
                <a:solidFill>
                  <a:srgbClr val="000000"/>
                </a:solidFill>
              </a:defRPr>
            </a:pPr>
            <a:r>
              <a:rPr sz="2400" b="1">
                <a:solidFill>
                  <a:srgbClr val="000000"/>
                </a:solidFill>
              </a:rPr>
              <a:t>与任务分发执行</a:t>
            </a:r>
          </a:p>
        </p:txBody>
      </p:sp>
      <p:sp>
        <p:nvSpPr>
          <p:cNvPr id="6" name="">
            <a:extLst xmlns:a="http://schemas.openxmlformats.org/drawingml/2006/main">
              <a:ext uri="{FF2B5EF4-FFF2-40B4-BE49-F238E27FC236}">
                <a16:creationId xmlns:a16="http://schemas.microsoft.com/office/drawing/2014/main" id="{702BFFA5-238F-48EA-95FF-4EE33BE99529}"/>
              </a:ext>
            </a:extLst>
          </p:cNvPr>
          <p:cNvSpPr>
            <a:spLocks xmlns:a="http://schemas.openxmlformats.org/drawingml/2006/main" noGrp="1"/>
          </p:cNvSpPr>
          <p:nvPr/>
        </p:nvSpPr>
        <p:spPr>
          <a:xfrm xmlns:a="http://schemas.openxmlformats.org/drawingml/2006/main">
            <a:off x="666750" y="1905000"/>
            <a:ext cx="2476500" cy="933450"/>
          </a:xfrm>
          <a:prstGeom xmlns:a="http://schemas.openxmlformats.org/drawingml/2006/main" prst="rect">
            <a:avLst/>
          </a:prstGeom>
          <a:solidFill xmlns:a="http://schemas.openxmlformats.org/drawingml/2006/main">
            <a:srgbClr val="F6F6F6"/>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5B9C6521-66CD-4A73-84AB-6E788A45EA7C}"/>
              </a:ext>
            </a:extLst>
          </p:cNvPr>
          <p:cNvSpPr>
            <a:spLocks xmlns:a="http://schemas.openxmlformats.org/drawingml/2006/main" noGrp="1"/>
          </p:cNvSpPr>
          <p:nvPr/>
        </p:nvSpPr>
        <p:spPr>
          <a:xfrm xmlns:a="http://schemas.openxmlformats.org/drawingml/2006/main">
            <a:off x="876300" y="2190750"/>
            <a:ext cx="2057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a:solidFill>
                  <a:srgbClr val="000000"/>
                </a:solidFill>
              </a:defRPr>
            </a:pPr>
            <a:r>
              <a:rPr sz="1650" b="1">
                <a:solidFill>
                  <a:srgbClr val="000000"/>
                </a:solidFill>
              </a:rPr>
              <a:t>软件工厂工作台</a:t>
            </a:r>
          </a:p>
        </p:txBody>
      </p:sp>
      <p:sp>
        <p:nvSpPr>
          <p:cNvPr id="8" name="">
            <a:extLst xmlns:a="http://schemas.openxmlformats.org/drawingml/2006/main">
              <a:ext uri="{FF2B5EF4-FFF2-40B4-BE49-F238E27FC236}">
                <a16:creationId xmlns:a16="http://schemas.microsoft.com/office/drawing/2014/main" id="{35ECD068-440A-4BE3-8267-E879FCC6A89F}"/>
              </a:ext>
            </a:extLst>
          </p:cNvPr>
          <p:cNvSpPr>
            <a:spLocks xmlns:a="http://schemas.openxmlformats.org/drawingml/2006/main" noGrp="1"/>
          </p:cNvSpPr>
          <p:nvPr/>
        </p:nvSpPr>
        <p:spPr>
          <a:xfrm xmlns:a="http://schemas.openxmlformats.org/drawingml/2006/main">
            <a:off x="8858250" y="1905000"/>
            <a:ext cx="2476500" cy="933450"/>
          </a:xfrm>
          <a:prstGeom xmlns:a="http://schemas.openxmlformats.org/drawingml/2006/main" prst="rect">
            <a:avLst/>
          </a:prstGeom>
          <a:solidFill xmlns:a="http://schemas.openxmlformats.org/drawingml/2006/main">
            <a:srgbClr val="F6F6F6"/>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50C8A7C0-797A-41DF-9C32-F8FBE380172B}"/>
              </a:ext>
            </a:extLst>
          </p:cNvPr>
          <p:cNvSpPr>
            <a:spLocks xmlns:a="http://schemas.openxmlformats.org/drawingml/2006/main" noGrp="1"/>
          </p:cNvSpPr>
          <p:nvPr/>
        </p:nvSpPr>
        <p:spPr>
          <a:xfrm xmlns:a="http://schemas.openxmlformats.org/drawingml/2006/main">
            <a:off x="9067800" y="2190750"/>
            <a:ext cx="2057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a:solidFill>
                  <a:srgbClr val="000000"/>
                </a:solidFill>
              </a:defRPr>
            </a:pPr>
            <a:r>
              <a:rPr sz="1650" b="1">
                <a:solidFill>
                  <a:srgbClr val="000000"/>
                </a:solidFill>
              </a:rPr>
              <a:t>领域能力包沉淀</a:t>
            </a:r>
          </a:p>
        </p:txBody>
      </p:sp>
      <p:sp>
        <p:nvSpPr>
          <p:cNvPr id="10" name="">
            <a:extLst xmlns:a="http://schemas.openxmlformats.org/drawingml/2006/main">
              <a:ext uri="{FF2B5EF4-FFF2-40B4-BE49-F238E27FC236}">
                <a16:creationId xmlns:a16="http://schemas.microsoft.com/office/drawing/2014/main" id="{B2501B6F-A251-44EB-894A-83E387A6065D}"/>
              </a:ext>
            </a:extLst>
          </p:cNvPr>
          <p:cNvSpPr>
            <a:spLocks xmlns:a="http://schemas.openxmlformats.org/drawingml/2006/main" noGrp="1"/>
          </p:cNvSpPr>
          <p:nvPr/>
        </p:nvSpPr>
        <p:spPr>
          <a:xfrm xmlns:a="http://schemas.openxmlformats.org/drawingml/2006/main">
            <a:off x="666750" y="4095750"/>
            <a:ext cx="2476500" cy="933450"/>
          </a:xfrm>
          <a:prstGeom xmlns:a="http://schemas.openxmlformats.org/drawingml/2006/main" prst="rect">
            <a:avLst/>
          </a:prstGeom>
          <a:solidFill xmlns:a="http://schemas.openxmlformats.org/drawingml/2006/main">
            <a:srgbClr val="F6F6F6"/>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9449A797-A3BF-4A4F-BB88-9A0BA8F7E764}"/>
              </a:ext>
            </a:extLst>
          </p:cNvPr>
          <p:cNvSpPr>
            <a:spLocks xmlns:a="http://schemas.openxmlformats.org/drawingml/2006/main" noGrp="1"/>
          </p:cNvSpPr>
          <p:nvPr/>
        </p:nvSpPr>
        <p:spPr>
          <a:xfrm xmlns:a="http://schemas.openxmlformats.org/drawingml/2006/main">
            <a:off x="876300" y="4381500"/>
            <a:ext cx="2057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a:solidFill>
                  <a:srgbClr val="000000"/>
                </a:solidFill>
              </a:defRPr>
            </a:pPr>
            <a:r>
              <a:rPr sz="1650" b="1">
                <a:solidFill>
                  <a:srgbClr val="000000"/>
                </a:solidFill>
              </a:rPr>
              <a:t>Agent / Skills 市场</a:t>
            </a:r>
          </a:p>
        </p:txBody>
      </p:sp>
      <p:sp>
        <p:nvSpPr>
          <p:cNvPr id="12" name="">
            <a:extLst xmlns:a="http://schemas.openxmlformats.org/drawingml/2006/main">
              <a:ext uri="{FF2B5EF4-FFF2-40B4-BE49-F238E27FC236}">
                <a16:creationId xmlns:a16="http://schemas.microsoft.com/office/drawing/2014/main" id="{6613393A-1170-46F1-A89E-7DA4B3F8DAA8}"/>
              </a:ext>
            </a:extLst>
          </p:cNvPr>
          <p:cNvSpPr>
            <a:spLocks xmlns:a="http://schemas.openxmlformats.org/drawingml/2006/main" noGrp="1"/>
          </p:cNvSpPr>
          <p:nvPr/>
        </p:nvSpPr>
        <p:spPr>
          <a:xfrm xmlns:a="http://schemas.openxmlformats.org/drawingml/2006/main">
            <a:off x="8858250" y="4095750"/>
            <a:ext cx="2476500" cy="933450"/>
          </a:xfrm>
          <a:prstGeom xmlns:a="http://schemas.openxmlformats.org/drawingml/2006/main" prst="rect">
            <a:avLst/>
          </a:prstGeom>
          <a:solidFill xmlns:a="http://schemas.openxmlformats.org/drawingml/2006/main">
            <a:srgbClr val="F6F6F6"/>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11EE2B07-4EC9-462D-8E52-84D5D13090AD}"/>
              </a:ext>
            </a:extLst>
          </p:cNvPr>
          <p:cNvSpPr>
            <a:spLocks xmlns:a="http://schemas.openxmlformats.org/drawingml/2006/main" noGrp="1"/>
          </p:cNvSpPr>
          <p:nvPr/>
        </p:nvSpPr>
        <p:spPr>
          <a:xfrm xmlns:a="http://schemas.openxmlformats.org/drawingml/2006/main">
            <a:off x="9067800" y="4381500"/>
            <a:ext cx="2057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a:solidFill>
                  <a:srgbClr val="000000"/>
                </a:solidFill>
              </a:defRPr>
            </a:pPr>
            <a:r>
              <a:rPr sz="1650" b="1">
                <a:solidFill>
                  <a:srgbClr val="000000"/>
                </a:solidFill>
              </a:rPr>
              <a:t>云产品能力底座</a:t>
            </a:r>
          </a:p>
        </p:txBody>
      </p:sp>
      <p:sp>
        <p:nvSpPr>
          <p:cNvPr id="14" name="">
            <a:extLst xmlns:a="http://schemas.openxmlformats.org/drawingml/2006/main">
              <a:ext uri="{FF2B5EF4-FFF2-40B4-BE49-F238E27FC236}">
                <a16:creationId xmlns:a16="http://schemas.microsoft.com/office/drawing/2014/main" id="{DC76CA5B-B6DA-4454-BB21-67BAF1D2331C}"/>
              </a:ext>
            </a:extLst>
          </p:cNvPr>
          <p:cNvSpPr>
            <a:spLocks xmlns:a="http://schemas.openxmlformats.org/drawingml/2006/main" noGrp="1"/>
          </p:cNvSpPr>
          <p:nvPr/>
        </p:nvSpPr>
        <p:spPr>
          <a:xfrm xmlns:a="http://schemas.openxmlformats.org/drawingml/2006/main">
            <a:off x="2000250" y="5429250"/>
            <a:ext cx="8191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a:solidFill>
                  <a:srgbClr val="000000"/>
                </a:solidFill>
              </a:defRPr>
            </a:pPr>
            <a:r>
              <a:rPr sz="1650" b="1">
                <a:solidFill>
                  <a:srgbClr val="000000"/>
                </a:solidFill>
              </a:rPr>
              <a:t>核心对象：agent、skills、subagent、任务、编排、领域知识、产物</a:t>
            </a:r>
          </a:p>
        </p:txBody>
      </p:sp>
      <p:sp>
        <p:nvSpPr>
          <p:cNvPr id="15" name="">
            <a:extLst xmlns:a="http://schemas.openxmlformats.org/drawingml/2006/main">
              <a:ext uri="{FF2B5EF4-FFF2-40B4-BE49-F238E27FC236}">
                <a16:creationId xmlns:a16="http://schemas.microsoft.com/office/drawing/2014/main" id="{51A9F812-1DC2-4A60-8CFF-72752EE7AAFF}"/>
              </a:ext>
            </a:extLst>
          </p:cNvPr>
          <p:cNvSpPr>
            <a:spLocks xmlns:a="http://schemas.openxmlformats.org/drawingml/2006/main" noGrp="1"/>
          </p:cNvSpPr>
          <p:nvPr/>
        </p:nvSpPr>
        <p:spPr>
          <a:xfrm xmlns:a="http://schemas.openxmlformats.org/drawingml/2006/main">
            <a:off x="514350" y="63817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555555"/>
                </a:solidFill>
              </a:defRPr>
            </a:pPr>
            <a:r>
              <a:rPr sz="1050" b="0">
                <a:solidFill>
                  <a:srgbClr val="555555"/>
                </a:solidFill>
              </a:rPr>
              <a:t>西安 630 项目软件工厂复盘</a:t>
            </a:r>
          </a:p>
        </p:txBody>
      </p:sp>
      <p:sp>
        <p:nvSpPr>
          <p:cNvPr id="16" name="">
            <a:extLst xmlns:a="http://schemas.openxmlformats.org/drawingml/2006/main">
              <a:ext uri="{FF2B5EF4-FFF2-40B4-BE49-F238E27FC236}">
                <a16:creationId xmlns:a16="http://schemas.microsoft.com/office/drawing/2014/main" id="{48C5D427-7015-4BE7-A5BB-7F3CC137BCA0}"/>
              </a:ext>
            </a:extLst>
          </p:cNvPr>
          <p:cNvSpPr>
            <a:spLocks xmlns:a="http://schemas.openxmlformats.org/drawingml/2006/main" noGrp="1"/>
          </p:cNvSpPr>
          <p:nvPr/>
        </p:nvSpPr>
        <p:spPr>
          <a:xfrm xmlns:a="http://schemas.openxmlformats.org/drawingml/2006/main">
            <a:off x="11287125" y="6381750"/>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a:solidFill>
                  <a:srgbClr val="555555"/>
                </a:solidFill>
              </a:defRPr>
            </a:pPr>
            <a:r>
              <a:rPr sz="1050" b="1">
                <a:solidFill>
                  <a:srgbClr val="555555"/>
                </a:solidFill>
              </a:rPr>
              <a:t>06</a:t>
            </a:r>
          </a:p>
        </p:txBody>
      </p:sp>
    </p:spTree>
    <p:extLst>
      <p:ext uri="{BB962C8B-B14F-4D97-AF65-F5344CB8AC3E}">
        <p14:creationId xmlns:p14="http://schemas.microsoft.com/office/powerpoint/2010/main" val="24344313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3577AEA-E70C-4EF1-89E3-9AD168F142C5}"/>
              </a:ext>
            </a:extLst>
          </p:cNvPr>
          <p:cNvSpPr>
            <a:spLocks xmlns:a="http://schemas.openxmlformats.org/drawingml/2006/main" noGrp="1"/>
          </p:cNvSpPr>
          <p:nvPr/>
        </p:nvSpPr>
        <p:spPr>
          <a:xfrm xmlns:a="http://schemas.openxmlformats.org/drawingml/2006/main">
            <a:off x="514350" y="381000"/>
            <a:ext cx="10001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00000"/>
                </a:solidFill>
              </a:defRPr>
            </a:pPr>
            <a:r>
              <a:rPr sz="2850" b="1">
                <a:solidFill>
                  <a:srgbClr val="000000"/>
                </a:solidFill>
              </a:rPr>
              <a:t>默认主链路、动态 agent 和能力市场共同构成扩展机制</a:t>
            </a:r>
          </a:p>
        </p:txBody>
      </p:sp>
      <p:sp>
        <p:nvSpPr>
          <p:cNvPr id="2" name="">
            <a:extLst xmlns:a="http://schemas.openxmlformats.org/drawingml/2006/main">
              <a:ext uri="{FF2B5EF4-FFF2-40B4-BE49-F238E27FC236}">
                <a16:creationId xmlns:a16="http://schemas.microsoft.com/office/drawing/2014/main" id="{054CC105-FC2A-44C2-A966-5336195CFBAD}"/>
              </a:ext>
            </a:extLst>
          </p:cNvPr>
          <p:cNvSpPr>
            <a:spLocks xmlns:a="http://schemas.openxmlformats.org/drawingml/2006/main" noGrp="1"/>
          </p:cNvSpPr>
          <p:nvPr/>
        </p:nvSpPr>
        <p:spPr>
          <a:xfrm xmlns:a="http://schemas.openxmlformats.org/drawingml/2006/main">
            <a:off x="514350" y="990600"/>
            <a:ext cx="876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555555"/>
                </a:solidFill>
              </a:defRPr>
            </a:pPr>
            <a:r>
              <a:rPr sz="1350" b="0">
                <a:solidFill>
                  <a:srgbClr val="555555"/>
                </a:solidFill>
              </a:rPr>
              <a:t>市场负责发现和分发，库负责本地可用和治理。</a:t>
            </a:r>
          </a:p>
        </p:txBody>
      </p:sp>
      <p:sp>
        <p:nvSpPr>
          <p:cNvPr id="3" name="">
            <a:extLst xmlns:a="http://schemas.openxmlformats.org/drawingml/2006/main">
              <a:ext uri="{FF2B5EF4-FFF2-40B4-BE49-F238E27FC236}">
                <a16:creationId xmlns:a16="http://schemas.microsoft.com/office/drawing/2014/main" id="{BBB16D34-0D33-4591-9814-DF67BF019E59}"/>
              </a:ext>
            </a:extLst>
          </p:cNvPr>
          <p:cNvSpPr>
            <a:spLocks xmlns:a="http://schemas.openxmlformats.org/drawingml/2006/main" noGrp="1"/>
          </p:cNvSpPr>
          <p:nvPr/>
        </p:nvSpPr>
        <p:spPr>
          <a:xfrm xmlns:a="http://schemas.openxmlformats.org/drawingml/2006/main">
            <a:off x="514350" y="1428750"/>
            <a:ext cx="111633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4" name="">
            <a:extLst xmlns:a="http://schemas.openxmlformats.org/drawingml/2006/main">
              <a:ext uri="{FF2B5EF4-FFF2-40B4-BE49-F238E27FC236}">
                <a16:creationId xmlns:a16="http://schemas.microsoft.com/office/drawing/2014/main" id="{49682B4A-5EED-4F1F-A166-9C883E33F352}"/>
              </a:ext>
            </a:extLst>
          </p:cNvPr>
          <p:cNvSpPr>
            <a:spLocks xmlns:a="http://schemas.openxmlformats.org/drawingml/2006/main" noGrp="1"/>
          </p:cNvSpPr>
          <p:nvPr/>
        </p:nvSpPr>
        <p:spPr>
          <a:xfrm xmlns:a="http://schemas.openxmlformats.org/drawingml/2006/main">
            <a:off x="666750" y="1809750"/>
            <a:ext cx="3295650" cy="3571875"/>
          </a:xfrm>
          <a:prstGeom xmlns:a="http://schemas.openxmlformats.org/drawingml/2006/main" prst="rect">
            <a:avLst/>
          </a:prstGeom>
          <a:solidFill xmlns:a="http://schemas.openxmlformats.org/drawingml/2006/main">
            <a:srgbClr val="F6F6F6"/>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A99A868A-52FE-4DF2-BF1C-76D150EFBDD9}"/>
              </a:ext>
            </a:extLst>
          </p:cNvPr>
          <p:cNvSpPr>
            <a:spLocks xmlns:a="http://schemas.openxmlformats.org/drawingml/2006/main" noGrp="1"/>
          </p:cNvSpPr>
          <p:nvPr/>
        </p:nvSpPr>
        <p:spPr>
          <a:xfrm xmlns:a="http://schemas.openxmlformats.org/drawingml/2006/main">
            <a:off x="895350" y="2095500"/>
            <a:ext cx="2838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000000"/>
                </a:solidFill>
              </a:defRPr>
            </a:pPr>
            <a:r>
              <a:rPr sz="1725" b="1">
                <a:solidFill>
                  <a:srgbClr val="000000"/>
                </a:solidFill>
              </a:rPr>
              <a:t>默认生产主链路</a:t>
            </a:r>
          </a:p>
        </p:txBody>
      </p:sp>
      <p:sp>
        <p:nvSpPr>
          <p:cNvPr id="6" name="">
            <a:extLst xmlns:a="http://schemas.openxmlformats.org/drawingml/2006/main">
              <a:ext uri="{FF2B5EF4-FFF2-40B4-BE49-F238E27FC236}">
                <a16:creationId xmlns:a16="http://schemas.microsoft.com/office/drawing/2014/main" id="{CBF88DDE-59C9-429E-9759-E7BF3CB94865}"/>
              </a:ext>
            </a:extLst>
          </p:cNvPr>
          <p:cNvSpPr>
            <a:spLocks xmlns:a="http://schemas.openxmlformats.org/drawingml/2006/main" noGrp="1"/>
          </p:cNvSpPr>
          <p:nvPr/>
        </p:nvSpPr>
        <p:spPr>
          <a:xfrm xmlns:a="http://schemas.openxmlformats.org/drawingml/2006/main">
            <a:off x="895350" y="2743200"/>
            <a:ext cx="76200" cy="76200"/>
          </a:xfrm>
          <a:prstGeom xmlns:a="http://schemas.openxmlformats.org/drawingml/2006/main" prst="rect">
            <a:avLst/>
          </a:prstGeom>
          <a:solidFill xmlns:a="http://schemas.openxmlformats.org/drawingml/2006/main">
            <a:srgbClr val="000000"/>
          </a:solidFill>
          <a:ln xmlns:a="http://schemas.openxmlformats.org/drawingml/2006/main" w="0">
            <a:solidFill>
              <a:srgbClr val="000000"/>
            </a:solidFill>
            <a:prstDash val="solid"/>
          </a:ln>
        </p:spPr>
      </p:sp>
      <p:sp>
        <p:nvSpPr>
          <p:cNvPr id="7" name="">
            <a:extLst xmlns:a="http://schemas.openxmlformats.org/drawingml/2006/main">
              <a:ext uri="{FF2B5EF4-FFF2-40B4-BE49-F238E27FC236}">
                <a16:creationId xmlns:a16="http://schemas.microsoft.com/office/drawing/2014/main" id="{6CB3CE90-E4B7-4AAE-B81F-EF6FF0130BE8}"/>
              </a:ext>
            </a:extLst>
          </p:cNvPr>
          <p:cNvSpPr>
            <a:spLocks xmlns:a="http://schemas.openxmlformats.org/drawingml/2006/main" noGrp="1"/>
          </p:cNvSpPr>
          <p:nvPr/>
        </p:nvSpPr>
        <p:spPr>
          <a:xfrm xmlns:a="http://schemas.openxmlformats.org/drawingml/2006/main">
            <a:off x="1066800" y="2667000"/>
            <a:ext cx="2667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000000"/>
                </a:solidFill>
              </a:defRPr>
            </a:pPr>
            <a:r>
              <a:rPr sz="1200" b="0">
                <a:solidFill>
                  <a:srgbClr val="000000"/>
                </a:solidFill>
              </a:rPr>
              <a:t>需求分析</a:t>
            </a:r>
          </a:p>
        </p:txBody>
      </p:sp>
      <p:sp>
        <p:nvSpPr>
          <p:cNvPr id="8" name="">
            <a:extLst xmlns:a="http://schemas.openxmlformats.org/drawingml/2006/main">
              <a:ext uri="{FF2B5EF4-FFF2-40B4-BE49-F238E27FC236}">
                <a16:creationId xmlns:a16="http://schemas.microsoft.com/office/drawing/2014/main" id="{CD824FF5-DC80-456B-8154-CDA6BC8CB3F6}"/>
              </a:ext>
            </a:extLst>
          </p:cNvPr>
          <p:cNvSpPr>
            <a:spLocks xmlns:a="http://schemas.openxmlformats.org/drawingml/2006/main" noGrp="1"/>
          </p:cNvSpPr>
          <p:nvPr/>
        </p:nvSpPr>
        <p:spPr>
          <a:xfrm xmlns:a="http://schemas.openxmlformats.org/drawingml/2006/main">
            <a:off x="895350" y="3048000"/>
            <a:ext cx="76200" cy="76200"/>
          </a:xfrm>
          <a:prstGeom xmlns:a="http://schemas.openxmlformats.org/drawingml/2006/main" prst="rect">
            <a:avLst/>
          </a:prstGeom>
          <a:solidFill xmlns:a="http://schemas.openxmlformats.org/drawingml/2006/main">
            <a:srgbClr val="000000"/>
          </a:solidFill>
          <a:ln xmlns:a="http://schemas.openxmlformats.org/drawingml/2006/main" w="0">
            <a:solidFill>
              <a:srgbClr val="000000"/>
            </a:solidFill>
            <a:prstDash val="solid"/>
          </a:ln>
        </p:spPr>
      </p:sp>
      <p:sp>
        <p:nvSpPr>
          <p:cNvPr id="9" name="">
            <a:extLst xmlns:a="http://schemas.openxmlformats.org/drawingml/2006/main">
              <a:ext uri="{FF2B5EF4-FFF2-40B4-BE49-F238E27FC236}">
                <a16:creationId xmlns:a16="http://schemas.microsoft.com/office/drawing/2014/main" id="{99CBB7A2-D798-491D-97F1-5541F31B5ADD}"/>
              </a:ext>
            </a:extLst>
          </p:cNvPr>
          <p:cNvSpPr>
            <a:spLocks xmlns:a="http://schemas.openxmlformats.org/drawingml/2006/main" noGrp="1"/>
          </p:cNvSpPr>
          <p:nvPr/>
        </p:nvSpPr>
        <p:spPr>
          <a:xfrm xmlns:a="http://schemas.openxmlformats.org/drawingml/2006/main">
            <a:off x="1066800" y="2971800"/>
            <a:ext cx="2667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000000"/>
                </a:solidFill>
              </a:defRPr>
            </a:pPr>
            <a:r>
              <a:rPr sz="1200" b="0">
                <a:solidFill>
                  <a:srgbClr val="000000"/>
                </a:solidFill>
              </a:rPr>
              <a:t>测试设计</a:t>
            </a:r>
          </a:p>
        </p:txBody>
      </p:sp>
      <p:sp>
        <p:nvSpPr>
          <p:cNvPr id="10" name="">
            <a:extLst xmlns:a="http://schemas.openxmlformats.org/drawingml/2006/main">
              <a:ext uri="{FF2B5EF4-FFF2-40B4-BE49-F238E27FC236}">
                <a16:creationId xmlns:a16="http://schemas.microsoft.com/office/drawing/2014/main" id="{51F40749-E165-471D-8236-10DB5925642E}"/>
              </a:ext>
            </a:extLst>
          </p:cNvPr>
          <p:cNvSpPr>
            <a:spLocks xmlns:a="http://schemas.openxmlformats.org/drawingml/2006/main" noGrp="1"/>
          </p:cNvSpPr>
          <p:nvPr/>
        </p:nvSpPr>
        <p:spPr>
          <a:xfrm xmlns:a="http://schemas.openxmlformats.org/drawingml/2006/main">
            <a:off x="895350" y="3352800"/>
            <a:ext cx="76200" cy="76200"/>
          </a:xfrm>
          <a:prstGeom xmlns:a="http://schemas.openxmlformats.org/drawingml/2006/main" prst="rect">
            <a:avLst/>
          </a:prstGeom>
          <a:solidFill xmlns:a="http://schemas.openxmlformats.org/drawingml/2006/main">
            <a:srgbClr val="000000"/>
          </a:solidFill>
          <a:ln xmlns:a="http://schemas.openxmlformats.org/drawingml/2006/main" w="0">
            <a:solidFill>
              <a:srgbClr val="000000"/>
            </a:solidFill>
            <a:prstDash val="solid"/>
          </a:ln>
        </p:spPr>
      </p:sp>
      <p:sp>
        <p:nvSpPr>
          <p:cNvPr id="11" name="">
            <a:extLst xmlns:a="http://schemas.openxmlformats.org/drawingml/2006/main">
              <a:ext uri="{FF2B5EF4-FFF2-40B4-BE49-F238E27FC236}">
                <a16:creationId xmlns:a16="http://schemas.microsoft.com/office/drawing/2014/main" id="{1697FF1F-7B95-49DB-A1D3-B2A3CADD3918}"/>
              </a:ext>
            </a:extLst>
          </p:cNvPr>
          <p:cNvSpPr>
            <a:spLocks xmlns:a="http://schemas.openxmlformats.org/drawingml/2006/main" noGrp="1"/>
          </p:cNvSpPr>
          <p:nvPr/>
        </p:nvSpPr>
        <p:spPr>
          <a:xfrm xmlns:a="http://schemas.openxmlformats.org/drawingml/2006/main">
            <a:off x="1066800" y="3276600"/>
            <a:ext cx="2667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000000"/>
                </a:solidFill>
              </a:defRPr>
            </a:pPr>
            <a:r>
              <a:rPr sz="1200" b="0">
                <a:solidFill>
                  <a:srgbClr val="000000"/>
                </a:solidFill>
              </a:rPr>
              <a:t>方案设计</a:t>
            </a:r>
          </a:p>
        </p:txBody>
      </p:sp>
      <p:sp>
        <p:nvSpPr>
          <p:cNvPr id="12" name="">
            <a:extLst xmlns:a="http://schemas.openxmlformats.org/drawingml/2006/main">
              <a:ext uri="{FF2B5EF4-FFF2-40B4-BE49-F238E27FC236}">
                <a16:creationId xmlns:a16="http://schemas.microsoft.com/office/drawing/2014/main" id="{6D2CED17-0278-4717-ADF1-A4B2141C434A}"/>
              </a:ext>
            </a:extLst>
          </p:cNvPr>
          <p:cNvSpPr>
            <a:spLocks xmlns:a="http://schemas.openxmlformats.org/drawingml/2006/main" noGrp="1"/>
          </p:cNvSpPr>
          <p:nvPr/>
        </p:nvSpPr>
        <p:spPr>
          <a:xfrm xmlns:a="http://schemas.openxmlformats.org/drawingml/2006/main">
            <a:off x="895350" y="3657600"/>
            <a:ext cx="76200" cy="76200"/>
          </a:xfrm>
          <a:prstGeom xmlns:a="http://schemas.openxmlformats.org/drawingml/2006/main" prst="rect">
            <a:avLst/>
          </a:prstGeom>
          <a:solidFill xmlns:a="http://schemas.openxmlformats.org/drawingml/2006/main">
            <a:srgbClr val="000000"/>
          </a:solidFill>
          <a:ln xmlns:a="http://schemas.openxmlformats.org/drawingml/2006/main" w="0">
            <a:solidFill>
              <a:srgbClr val="000000"/>
            </a:solidFill>
            <a:prstDash val="solid"/>
          </a:ln>
        </p:spPr>
      </p:sp>
      <p:sp>
        <p:nvSpPr>
          <p:cNvPr id="13" name="">
            <a:extLst xmlns:a="http://schemas.openxmlformats.org/drawingml/2006/main">
              <a:ext uri="{FF2B5EF4-FFF2-40B4-BE49-F238E27FC236}">
                <a16:creationId xmlns:a16="http://schemas.microsoft.com/office/drawing/2014/main" id="{71318E22-6FBE-4D42-8728-A045166A60AB}"/>
              </a:ext>
            </a:extLst>
          </p:cNvPr>
          <p:cNvSpPr>
            <a:spLocks xmlns:a="http://schemas.openxmlformats.org/drawingml/2006/main" noGrp="1"/>
          </p:cNvSpPr>
          <p:nvPr/>
        </p:nvSpPr>
        <p:spPr>
          <a:xfrm xmlns:a="http://schemas.openxmlformats.org/drawingml/2006/main">
            <a:off x="1066800" y="3581400"/>
            <a:ext cx="2667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000000"/>
                </a:solidFill>
              </a:defRPr>
            </a:pPr>
            <a:r>
              <a:rPr sz="1200" b="0">
                <a:solidFill>
                  <a:srgbClr val="000000"/>
                </a:solidFill>
              </a:rPr>
              <a:t>代码生成</a:t>
            </a:r>
          </a:p>
        </p:txBody>
      </p:sp>
      <p:sp>
        <p:nvSpPr>
          <p:cNvPr id="14" name="">
            <a:extLst xmlns:a="http://schemas.openxmlformats.org/drawingml/2006/main">
              <a:ext uri="{FF2B5EF4-FFF2-40B4-BE49-F238E27FC236}">
                <a16:creationId xmlns:a16="http://schemas.microsoft.com/office/drawing/2014/main" id="{28671A71-D6C1-4E9B-9584-F4A4C0174116}"/>
              </a:ext>
            </a:extLst>
          </p:cNvPr>
          <p:cNvSpPr>
            <a:spLocks xmlns:a="http://schemas.openxmlformats.org/drawingml/2006/main" noGrp="1"/>
          </p:cNvSpPr>
          <p:nvPr/>
        </p:nvSpPr>
        <p:spPr>
          <a:xfrm xmlns:a="http://schemas.openxmlformats.org/drawingml/2006/main">
            <a:off x="895350" y="3962400"/>
            <a:ext cx="76200" cy="76200"/>
          </a:xfrm>
          <a:prstGeom xmlns:a="http://schemas.openxmlformats.org/drawingml/2006/main" prst="rect">
            <a:avLst/>
          </a:prstGeom>
          <a:solidFill xmlns:a="http://schemas.openxmlformats.org/drawingml/2006/main">
            <a:srgbClr val="000000"/>
          </a:solidFill>
          <a:ln xmlns:a="http://schemas.openxmlformats.org/drawingml/2006/main" w="0">
            <a:solidFill>
              <a:srgbClr val="000000"/>
            </a:solidFill>
            <a:prstDash val="solid"/>
          </a:ln>
        </p:spPr>
      </p:sp>
      <p:sp>
        <p:nvSpPr>
          <p:cNvPr id="15" name="">
            <a:extLst xmlns:a="http://schemas.openxmlformats.org/drawingml/2006/main">
              <a:ext uri="{FF2B5EF4-FFF2-40B4-BE49-F238E27FC236}">
                <a16:creationId xmlns:a16="http://schemas.microsoft.com/office/drawing/2014/main" id="{D87F3DEC-9450-4E79-A64B-286977C5BDE5}"/>
              </a:ext>
            </a:extLst>
          </p:cNvPr>
          <p:cNvSpPr>
            <a:spLocks xmlns:a="http://schemas.openxmlformats.org/drawingml/2006/main" noGrp="1"/>
          </p:cNvSpPr>
          <p:nvPr/>
        </p:nvSpPr>
        <p:spPr>
          <a:xfrm xmlns:a="http://schemas.openxmlformats.org/drawingml/2006/main">
            <a:off x="1066800" y="3886200"/>
            <a:ext cx="2667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000000"/>
                </a:solidFill>
              </a:defRPr>
            </a:pPr>
            <a:r>
              <a:rPr sz="1200" b="0">
                <a:solidFill>
                  <a:srgbClr val="000000"/>
                </a:solidFill>
              </a:rPr>
              <a:t>测试生成</a:t>
            </a:r>
          </a:p>
        </p:txBody>
      </p:sp>
      <p:sp>
        <p:nvSpPr>
          <p:cNvPr id="16" name="">
            <a:extLst xmlns:a="http://schemas.openxmlformats.org/drawingml/2006/main">
              <a:ext uri="{FF2B5EF4-FFF2-40B4-BE49-F238E27FC236}">
                <a16:creationId xmlns:a16="http://schemas.microsoft.com/office/drawing/2014/main" id="{A699232A-04DB-4E22-BEAD-01936ACEA895}"/>
              </a:ext>
            </a:extLst>
          </p:cNvPr>
          <p:cNvSpPr>
            <a:spLocks xmlns:a="http://schemas.openxmlformats.org/drawingml/2006/main" noGrp="1"/>
          </p:cNvSpPr>
          <p:nvPr/>
        </p:nvSpPr>
        <p:spPr>
          <a:xfrm xmlns:a="http://schemas.openxmlformats.org/drawingml/2006/main">
            <a:off x="895350" y="4267200"/>
            <a:ext cx="76200" cy="76200"/>
          </a:xfrm>
          <a:prstGeom xmlns:a="http://schemas.openxmlformats.org/drawingml/2006/main" prst="rect">
            <a:avLst/>
          </a:prstGeom>
          <a:solidFill xmlns:a="http://schemas.openxmlformats.org/drawingml/2006/main">
            <a:srgbClr val="000000"/>
          </a:solidFill>
          <a:ln xmlns:a="http://schemas.openxmlformats.org/drawingml/2006/main" w="0">
            <a:solidFill>
              <a:srgbClr val="000000"/>
            </a:solidFill>
            <a:prstDash val="solid"/>
          </a:ln>
        </p:spPr>
      </p:sp>
      <p:sp>
        <p:nvSpPr>
          <p:cNvPr id="17" name="">
            <a:extLst xmlns:a="http://schemas.openxmlformats.org/drawingml/2006/main">
              <a:ext uri="{FF2B5EF4-FFF2-40B4-BE49-F238E27FC236}">
                <a16:creationId xmlns:a16="http://schemas.microsoft.com/office/drawing/2014/main" id="{1FD6D26F-276D-466A-8C02-61A8EF6D54B3}"/>
              </a:ext>
            </a:extLst>
          </p:cNvPr>
          <p:cNvSpPr>
            <a:spLocks xmlns:a="http://schemas.openxmlformats.org/drawingml/2006/main" noGrp="1"/>
          </p:cNvSpPr>
          <p:nvPr/>
        </p:nvSpPr>
        <p:spPr>
          <a:xfrm xmlns:a="http://schemas.openxmlformats.org/drawingml/2006/main">
            <a:off x="1066800" y="4191000"/>
            <a:ext cx="2667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000000"/>
                </a:solidFill>
              </a:defRPr>
            </a:pPr>
            <a:r>
              <a:rPr sz="1200" b="0">
                <a:solidFill>
                  <a:srgbClr val="000000"/>
                </a:solidFill>
              </a:rPr>
              <a:t>测试验证</a:t>
            </a:r>
          </a:p>
        </p:txBody>
      </p:sp>
      <p:sp>
        <p:nvSpPr>
          <p:cNvPr id="18" name="">
            <a:extLst xmlns:a="http://schemas.openxmlformats.org/drawingml/2006/main">
              <a:ext uri="{FF2B5EF4-FFF2-40B4-BE49-F238E27FC236}">
                <a16:creationId xmlns:a16="http://schemas.microsoft.com/office/drawing/2014/main" id="{ADB2FAC7-1559-488E-9FD3-FE8B47D8AC63}"/>
              </a:ext>
            </a:extLst>
          </p:cNvPr>
          <p:cNvSpPr>
            <a:spLocks xmlns:a="http://schemas.openxmlformats.org/drawingml/2006/main" noGrp="1"/>
          </p:cNvSpPr>
          <p:nvPr/>
        </p:nvSpPr>
        <p:spPr>
          <a:xfrm xmlns:a="http://schemas.openxmlformats.org/drawingml/2006/main">
            <a:off x="895350" y="4572000"/>
            <a:ext cx="76200" cy="76200"/>
          </a:xfrm>
          <a:prstGeom xmlns:a="http://schemas.openxmlformats.org/drawingml/2006/main" prst="rect">
            <a:avLst/>
          </a:prstGeom>
          <a:solidFill xmlns:a="http://schemas.openxmlformats.org/drawingml/2006/main">
            <a:srgbClr val="000000"/>
          </a:solidFill>
          <a:ln xmlns:a="http://schemas.openxmlformats.org/drawingml/2006/main" w="0">
            <a:solidFill>
              <a:srgbClr val="000000"/>
            </a:solidFill>
            <a:prstDash val="solid"/>
          </a:ln>
        </p:spPr>
      </p:sp>
      <p:sp>
        <p:nvSpPr>
          <p:cNvPr id="19" name="">
            <a:extLst xmlns:a="http://schemas.openxmlformats.org/drawingml/2006/main">
              <a:ext uri="{FF2B5EF4-FFF2-40B4-BE49-F238E27FC236}">
                <a16:creationId xmlns:a16="http://schemas.microsoft.com/office/drawing/2014/main" id="{04D3CA40-0327-4C90-A5E6-733B0A1EA47C}"/>
              </a:ext>
            </a:extLst>
          </p:cNvPr>
          <p:cNvSpPr>
            <a:spLocks xmlns:a="http://schemas.openxmlformats.org/drawingml/2006/main" noGrp="1"/>
          </p:cNvSpPr>
          <p:nvPr/>
        </p:nvSpPr>
        <p:spPr>
          <a:xfrm xmlns:a="http://schemas.openxmlformats.org/drawingml/2006/main">
            <a:off x="1066800" y="4495800"/>
            <a:ext cx="2667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000000"/>
                </a:solidFill>
              </a:defRPr>
            </a:pPr>
            <a:r>
              <a:rPr sz="1200" b="0">
                <a:solidFill>
                  <a:srgbClr val="000000"/>
                </a:solidFill>
              </a:rPr>
              <a:t>代码审查</a:t>
            </a:r>
          </a:p>
        </p:txBody>
      </p:sp>
      <p:sp>
        <p:nvSpPr>
          <p:cNvPr id="20" name="">
            <a:extLst xmlns:a="http://schemas.openxmlformats.org/drawingml/2006/main">
              <a:ext uri="{FF2B5EF4-FFF2-40B4-BE49-F238E27FC236}">
                <a16:creationId xmlns:a16="http://schemas.microsoft.com/office/drawing/2014/main" id="{A8EC1A9C-8EF8-449A-8936-13D7F0F91F9E}"/>
              </a:ext>
            </a:extLst>
          </p:cNvPr>
          <p:cNvSpPr>
            <a:spLocks xmlns:a="http://schemas.openxmlformats.org/drawingml/2006/main" noGrp="1"/>
          </p:cNvSpPr>
          <p:nvPr/>
        </p:nvSpPr>
        <p:spPr>
          <a:xfrm xmlns:a="http://schemas.openxmlformats.org/drawingml/2006/main">
            <a:off x="895350" y="4876800"/>
            <a:ext cx="76200" cy="76200"/>
          </a:xfrm>
          <a:prstGeom xmlns:a="http://schemas.openxmlformats.org/drawingml/2006/main" prst="rect">
            <a:avLst/>
          </a:prstGeom>
          <a:solidFill xmlns:a="http://schemas.openxmlformats.org/drawingml/2006/main">
            <a:srgbClr val="000000"/>
          </a:solidFill>
          <a:ln xmlns:a="http://schemas.openxmlformats.org/drawingml/2006/main" w="0">
            <a:solidFill>
              <a:srgbClr val="000000"/>
            </a:solidFill>
            <a:prstDash val="solid"/>
          </a:ln>
        </p:spPr>
      </p:sp>
      <p:sp>
        <p:nvSpPr>
          <p:cNvPr id="21" name="">
            <a:extLst xmlns:a="http://schemas.openxmlformats.org/drawingml/2006/main">
              <a:ext uri="{FF2B5EF4-FFF2-40B4-BE49-F238E27FC236}">
                <a16:creationId xmlns:a16="http://schemas.microsoft.com/office/drawing/2014/main" id="{B1B339C6-CA97-4A8F-BA91-BD12086C507A}"/>
              </a:ext>
            </a:extLst>
          </p:cNvPr>
          <p:cNvSpPr>
            <a:spLocks xmlns:a="http://schemas.openxmlformats.org/drawingml/2006/main" noGrp="1"/>
          </p:cNvSpPr>
          <p:nvPr/>
        </p:nvSpPr>
        <p:spPr>
          <a:xfrm xmlns:a="http://schemas.openxmlformats.org/drawingml/2006/main">
            <a:off x="1066800" y="4800600"/>
            <a:ext cx="2667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000000"/>
                </a:solidFill>
              </a:defRPr>
            </a:pPr>
            <a:r>
              <a:rPr sz="1200" b="0">
                <a:solidFill>
                  <a:srgbClr val="000000"/>
                </a:solidFill>
              </a:rPr>
              <a:t>部署交付</a:t>
            </a:r>
          </a:p>
        </p:txBody>
      </p:sp>
      <p:sp>
        <p:nvSpPr>
          <p:cNvPr id="22" name="">
            <a:extLst xmlns:a="http://schemas.openxmlformats.org/drawingml/2006/main">
              <a:ext uri="{FF2B5EF4-FFF2-40B4-BE49-F238E27FC236}">
                <a16:creationId xmlns:a16="http://schemas.microsoft.com/office/drawing/2014/main" id="{DFBB6A1E-7CBB-41DF-95FD-B871025B729F}"/>
              </a:ext>
            </a:extLst>
          </p:cNvPr>
          <p:cNvSpPr>
            <a:spLocks xmlns:a="http://schemas.openxmlformats.org/drawingml/2006/main" noGrp="1"/>
          </p:cNvSpPr>
          <p:nvPr/>
        </p:nvSpPr>
        <p:spPr>
          <a:xfrm xmlns:a="http://schemas.openxmlformats.org/drawingml/2006/main">
            <a:off x="895350" y="5181600"/>
            <a:ext cx="76200" cy="76200"/>
          </a:xfrm>
          <a:prstGeom xmlns:a="http://schemas.openxmlformats.org/drawingml/2006/main" prst="rect">
            <a:avLst/>
          </a:prstGeom>
          <a:solidFill xmlns:a="http://schemas.openxmlformats.org/drawingml/2006/main">
            <a:srgbClr val="000000"/>
          </a:solidFill>
          <a:ln xmlns:a="http://schemas.openxmlformats.org/drawingml/2006/main" w="0">
            <a:solidFill>
              <a:srgbClr val="000000"/>
            </a:solidFill>
            <a:prstDash val="solid"/>
          </a:ln>
        </p:spPr>
      </p:sp>
      <p:sp>
        <p:nvSpPr>
          <p:cNvPr id="23" name="">
            <a:extLst xmlns:a="http://schemas.openxmlformats.org/drawingml/2006/main">
              <a:ext uri="{FF2B5EF4-FFF2-40B4-BE49-F238E27FC236}">
                <a16:creationId xmlns:a16="http://schemas.microsoft.com/office/drawing/2014/main" id="{55B7C947-59CA-417B-8559-E127686BBF31}"/>
              </a:ext>
            </a:extLst>
          </p:cNvPr>
          <p:cNvSpPr>
            <a:spLocks xmlns:a="http://schemas.openxmlformats.org/drawingml/2006/main" noGrp="1"/>
          </p:cNvSpPr>
          <p:nvPr/>
        </p:nvSpPr>
        <p:spPr>
          <a:xfrm xmlns:a="http://schemas.openxmlformats.org/drawingml/2006/main">
            <a:off x="1066800" y="5105400"/>
            <a:ext cx="2667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000000"/>
                </a:solidFill>
              </a:defRPr>
            </a:pPr>
            <a:r>
              <a:rPr sz="1200" b="0">
                <a:solidFill>
                  <a:srgbClr val="000000"/>
                </a:solidFill>
              </a:rPr>
              <a:t>观测回写</a:t>
            </a:r>
          </a:p>
        </p:txBody>
      </p:sp>
      <p:sp>
        <p:nvSpPr>
          <p:cNvPr id="24" name="">
            <a:extLst xmlns:a="http://schemas.openxmlformats.org/drawingml/2006/main">
              <a:ext uri="{FF2B5EF4-FFF2-40B4-BE49-F238E27FC236}">
                <a16:creationId xmlns:a16="http://schemas.microsoft.com/office/drawing/2014/main" id="{907CA8A3-C792-476A-A368-8C339EFA4F24}"/>
              </a:ext>
            </a:extLst>
          </p:cNvPr>
          <p:cNvSpPr>
            <a:spLocks xmlns:a="http://schemas.openxmlformats.org/drawingml/2006/main" noGrp="1"/>
          </p:cNvSpPr>
          <p:nvPr/>
        </p:nvSpPr>
        <p:spPr>
          <a:xfrm xmlns:a="http://schemas.openxmlformats.org/drawingml/2006/main">
            <a:off x="4438650" y="1809750"/>
            <a:ext cx="3295650" cy="3571875"/>
          </a:xfrm>
          <a:prstGeom xmlns:a="http://schemas.openxmlformats.org/drawingml/2006/main" prst="rect">
            <a:avLst/>
          </a:prstGeom>
          <a:solidFill xmlns:a="http://schemas.openxmlformats.org/drawingml/2006/main">
            <a:srgbClr val="F6F6F6"/>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645350AC-63E4-4043-9EAA-1C2EC3036A0B}"/>
              </a:ext>
            </a:extLst>
          </p:cNvPr>
          <p:cNvSpPr>
            <a:spLocks xmlns:a="http://schemas.openxmlformats.org/drawingml/2006/main" noGrp="1"/>
          </p:cNvSpPr>
          <p:nvPr/>
        </p:nvSpPr>
        <p:spPr>
          <a:xfrm xmlns:a="http://schemas.openxmlformats.org/drawingml/2006/main">
            <a:off x="4667250" y="2095500"/>
            <a:ext cx="2838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000000"/>
                </a:solidFill>
              </a:defRPr>
            </a:pPr>
            <a:r>
              <a:rPr sz="1725" b="1">
                <a:solidFill>
                  <a:srgbClr val="000000"/>
                </a:solidFill>
              </a:rPr>
              <a:t>动态扩展专业 agent</a:t>
            </a:r>
          </a:p>
        </p:txBody>
      </p:sp>
      <p:sp>
        <p:nvSpPr>
          <p:cNvPr id="26" name="">
            <a:extLst xmlns:a="http://schemas.openxmlformats.org/drawingml/2006/main">
              <a:ext uri="{FF2B5EF4-FFF2-40B4-BE49-F238E27FC236}">
                <a16:creationId xmlns:a16="http://schemas.microsoft.com/office/drawing/2014/main" id="{76EAE6B0-3349-4995-97F7-62D3B5AF9388}"/>
              </a:ext>
            </a:extLst>
          </p:cNvPr>
          <p:cNvSpPr>
            <a:spLocks xmlns:a="http://schemas.openxmlformats.org/drawingml/2006/main" noGrp="1"/>
          </p:cNvSpPr>
          <p:nvPr/>
        </p:nvSpPr>
        <p:spPr>
          <a:xfrm xmlns:a="http://schemas.openxmlformats.org/drawingml/2006/main">
            <a:off x="4667250" y="2743200"/>
            <a:ext cx="76200" cy="76200"/>
          </a:xfrm>
          <a:prstGeom xmlns:a="http://schemas.openxmlformats.org/drawingml/2006/main" prst="rect">
            <a:avLst/>
          </a:prstGeom>
          <a:solidFill xmlns:a="http://schemas.openxmlformats.org/drawingml/2006/main">
            <a:srgbClr val="000000"/>
          </a:solidFill>
          <a:ln xmlns:a="http://schemas.openxmlformats.org/drawingml/2006/main" w="0">
            <a:solidFill>
              <a:srgbClr val="000000"/>
            </a:solidFill>
            <a:prstDash val="solid"/>
          </a:ln>
        </p:spPr>
      </p:sp>
      <p:sp>
        <p:nvSpPr>
          <p:cNvPr id="27" name="">
            <a:extLst xmlns:a="http://schemas.openxmlformats.org/drawingml/2006/main">
              <a:ext uri="{FF2B5EF4-FFF2-40B4-BE49-F238E27FC236}">
                <a16:creationId xmlns:a16="http://schemas.microsoft.com/office/drawing/2014/main" id="{725E96EC-0112-4FC2-A4AC-4964B473BBF4}"/>
              </a:ext>
            </a:extLst>
          </p:cNvPr>
          <p:cNvSpPr>
            <a:spLocks xmlns:a="http://schemas.openxmlformats.org/drawingml/2006/main" noGrp="1"/>
          </p:cNvSpPr>
          <p:nvPr/>
        </p:nvSpPr>
        <p:spPr>
          <a:xfrm xmlns:a="http://schemas.openxmlformats.org/drawingml/2006/main">
            <a:off x="4838700" y="2667000"/>
            <a:ext cx="2667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000000"/>
                </a:solidFill>
              </a:defRPr>
            </a:pPr>
            <a:r>
              <a:rPr sz="1200" b="0">
                <a:solidFill>
                  <a:srgbClr val="000000"/>
                </a:solidFill>
              </a:rPr>
              <a:t>领域知识 agent</a:t>
            </a:r>
          </a:p>
        </p:txBody>
      </p:sp>
      <p:sp>
        <p:nvSpPr>
          <p:cNvPr id="28" name="">
            <a:extLst xmlns:a="http://schemas.openxmlformats.org/drawingml/2006/main">
              <a:ext uri="{FF2B5EF4-FFF2-40B4-BE49-F238E27FC236}">
                <a16:creationId xmlns:a16="http://schemas.microsoft.com/office/drawing/2014/main" id="{64930FEF-3B5F-4C68-916F-44CEDBECFFD6}"/>
              </a:ext>
            </a:extLst>
          </p:cNvPr>
          <p:cNvSpPr>
            <a:spLocks xmlns:a="http://schemas.openxmlformats.org/drawingml/2006/main" noGrp="1"/>
          </p:cNvSpPr>
          <p:nvPr/>
        </p:nvSpPr>
        <p:spPr>
          <a:xfrm xmlns:a="http://schemas.openxmlformats.org/drawingml/2006/main">
            <a:off x="4667250" y="3048000"/>
            <a:ext cx="76200" cy="76200"/>
          </a:xfrm>
          <a:prstGeom xmlns:a="http://schemas.openxmlformats.org/drawingml/2006/main" prst="rect">
            <a:avLst/>
          </a:prstGeom>
          <a:solidFill xmlns:a="http://schemas.openxmlformats.org/drawingml/2006/main">
            <a:srgbClr val="000000"/>
          </a:solidFill>
          <a:ln xmlns:a="http://schemas.openxmlformats.org/drawingml/2006/main" w="0">
            <a:solidFill>
              <a:srgbClr val="000000"/>
            </a:solidFill>
            <a:prstDash val="solid"/>
          </a:ln>
        </p:spPr>
      </p:sp>
      <p:sp>
        <p:nvSpPr>
          <p:cNvPr id="29" name="">
            <a:extLst xmlns:a="http://schemas.openxmlformats.org/drawingml/2006/main">
              <a:ext uri="{FF2B5EF4-FFF2-40B4-BE49-F238E27FC236}">
                <a16:creationId xmlns:a16="http://schemas.microsoft.com/office/drawing/2014/main" id="{4FC3769A-90B2-4A93-9611-91CA55E6F775}"/>
              </a:ext>
            </a:extLst>
          </p:cNvPr>
          <p:cNvSpPr>
            <a:spLocks xmlns:a="http://schemas.openxmlformats.org/drawingml/2006/main" noGrp="1"/>
          </p:cNvSpPr>
          <p:nvPr/>
        </p:nvSpPr>
        <p:spPr>
          <a:xfrm xmlns:a="http://schemas.openxmlformats.org/drawingml/2006/main">
            <a:off x="4838700" y="2971800"/>
            <a:ext cx="2667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000000"/>
                </a:solidFill>
              </a:defRPr>
            </a:pPr>
            <a:r>
              <a:rPr sz="1200" b="0">
                <a:solidFill>
                  <a:srgbClr val="000000"/>
                </a:solidFill>
              </a:rPr>
              <a:t>系统集成 agent</a:t>
            </a:r>
          </a:p>
        </p:txBody>
      </p:sp>
      <p:sp>
        <p:nvSpPr>
          <p:cNvPr id="30" name="">
            <a:extLst xmlns:a="http://schemas.openxmlformats.org/drawingml/2006/main">
              <a:ext uri="{FF2B5EF4-FFF2-40B4-BE49-F238E27FC236}">
                <a16:creationId xmlns:a16="http://schemas.microsoft.com/office/drawing/2014/main" id="{15B66192-6151-4391-89E4-54E52EB0C953}"/>
              </a:ext>
            </a:extLst>
          </p:cNvPr>
          <p:cNvSpPr>
            <a:spLocks xmlns:a="http://schemas.openxmlformats.org/drawingml/2006/main" noGrp="1"/>
          </p:cNvSpPr>
          <p:nvPr/>
        </p:nvSpPr>
        <p:spPr>
          <a:xfrm xmlns:a="http://schemas.openxmlformats.org/drawingml/2006/main">
            <a:off x="4667250" y="3352800"/>
            <a:ext cx="76200" cy="76200"/>
          </a:xfrm>
          <a:prstGeom xmlns:a="http://schemas.openxmlformats.org/drawingml/2006/main" prst="rect">
            <a:avLst/>
          </a:prstGeom>
          <a:solidFill xmlns:a="http://schemas.openxmlformats.org/drawingml/2006/main">
            <a:srgbClr val="000000"/>
          </a:solidFill>
          <a:ln xmlns:a="http://schemas.openxmlformats.org/drawingml/2006/main" w="0">
            <a:solidFill>
              <a:srgbClr val="000000"/>
            </a:solidFill>
            <a:prstDash val="solid"/>
          </a:ln>
        </p:spPr>
      </p:sp>
      <p:sp>
        <p:nvSpPr>
          <p:cNvPr id="31" name="">
            <a:extLst xmlns:a="http://schemas.openxmlformats.org/drawingml/2006/main">
              <a:ext uri="{FF2B5EF4-FFF2-40B4-BE49-F238E27FC236}">
                <a16:creationId xmlns:a16="http://schemas.microsoft.com/office/drawing/2014/main" id="{667194A3-26D5-4C3B-BE6B-A5F178FBD326}"/>
              </a:ext>
            </a:extLst>
          </p:cNvPr>
          <p:cNvSpPr>
            <a:spLocks xmlns:a="http://schemas.openxmlformats.org/drawingml/2006/main" noGrp="1"/>
          </p:cNvSpPr>
          <p:nvPr/>
        </p:nvSpPr>
        <p:spPr>
          <a:xfrm xmlns:a="http://schemas.openxmlformats.org/drawingml/2006/main">
            <a:off x="4838700" y="3276600"/>
            <a:ext cx="2667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000000"/>
                </a:solidFill>
              </a:defRPr>
            </a:pPr>
            <a:r>
              <a:rPr sz="1200" b="0">
                <a:solidFill>
                  <a:srgbClr val="000000"/>
                </a:solidFill>
              </a:rPr>
              <a:t>数据接入 agent</a:t>
            </a:r>
          </a:p>
        </p:txBody>
      </p:sp>
      <p:sp>
        <p:nvSpPr>
          <p:cNvPr id="32" name="">
            <a:extLst xmlns:a="http://schemas.openxmlformats.org/drawingml/2006/main">
              <a:ext uri="{FF2B5EF4-FFF2-40B4-BE49-F238E27FC236}">
                <a16:creationId xmlns:a16="http://schemas.microsoft.com/office/drawing/2014/main" id="{102D3C4E-4081-4A02-B65D-8BA19A127646}"/>
              </a:ext>
            </a:extLst>
          </p:cNvPr>
          <p:cNvSpPr>
            <a:spLocks xmlns:a="http://schemas.openxmlformats.org/drawingml/2006/main" noGrp="1"/>
          </p:cNvSpPr>
          <p:nvPr/>
        </p:nvSpPr>
        <p:spPr>
          <a:xfrm xmlns:a="http://schemas.openxmlformats.org/drawingml/2006/main">
            <a:off x="4667250" y="3657600"/>
            <a:ext cx="76200" cy="76200"/>
          </a:xfrm>
          <a:prstGeom xmlns:a="http://schemas.openxmlformats.org/drawingml/2006/main" prst="rect">
            <a:avLst/>
          </a:prstGeom>
          <a:solidFill xmlns:a="http://schemas.openxmlformats.org/drawingml/2006/main">
            <a:srgbClr val="000000"/>
          </a:solidFill>
          <a:ln xmlns:a="http://schemas.openxmlformats.org/drawingml/2006/main" w="0">
            <a:solidFill>
              <a:srgbClr val="000000"/>
            </a:solidFill>
            <a:prstDash val="solid"/>
          </a:ln>
        </p:spPr>
      </p:sp>
      <p:sp>
        <p:nvSpPr>
          <p:cNvPr id="33" name="">
            <a:extLst xmlns:a="http://schemas.openxmlformats.org/drawingml/2006/main">
              <a:ext uri="{FF2B5EF4-FFF2-40B4-BE49-F238E27FC236}">
                <a16:creationId xmlns:a16="http://schemas.microsoft.com/office/drawing/2014/main" id="{4C247960-14EE-44BB-A158-E02FF485194B}"/>
              </a:ext>
            </a:extLst>
          </p:cNvPr>
          <p:cNvSpPr>
            <a:spLocks xmlns:a="http://schemas.openxmlformats.org/drawingml/2006/main" noGrp="1"/>
          </p:cNvSpPr>
          <p:nvPr/>
        </p:nvSpPr>
        <p:spPr>
          <a:xfrm xmlns:a="http://schemas.openxmlformats.org/drawingml/2006/main">
            <a:off x="4838700" y="3581400"/>
            <a:ext cx="2667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000000"/>
                </a:solidFill>
              </a:defRPr>
            </a:pPr>
            <a:r>
              <a:rPr sz="1200" b="0">
                <a:solidFill>
                  <a:srgbClr val="000000"/>
                </a:solidFill>
              </a:rPr>
              <a:t>安全审查 agent</a:t>
            </a:r>
          </a:p>
        </p:txBody>
      </p:sp>
      <p:sp>
        <p:nvSpPr>
          <p:cNvPr id="34" name="">
            <a:extLst xmlns:a="http://schemas.openxmlformats.org/drawingml/2006/main">
              <a:ext uri="{FF2B5EF4-FFF2-40B4-BE49-F238E27FC236}">
                <a16:creationId xmlns:a16="http://schemas.microsoft.com/office/drawing/2014/main" id="{0B1566E1-B5C2-4492-9360-75A588EE096C}"/>
              </a:ext>
            </a:extLst>
          </p:cNvPr>
          <p:cNvSpPr>
            <a:spLocks xmlns:a="http://schemas.openxmlformats.org/drawingml/2006/main" noGrp="1"/>
          </p:cNvSpPr>
          <p:nvPr/>
        </p:nvSpPr>
        <p:spPr>
          <a:xfrm xmlns:a="http://schemas.openxmlformats.org/drawingml/2006/main">
            <a:off x="4667250" y="3962400"/>
            <a:ext cx="76200" cy="76200"/>
          </a:xfrm>
          <a:prstGeom xmlns:a="http://schemas.openxmlformats.org/drawingml/2006/main" prst="rect">
            <a:avLst/>
          </a:prstGeom>
          <a:solidFill xmlns:a="http://schemas.openxmlformats.org/drawingml/2006/main">
            <a:srgbClr val="000000"/>
          </a:solidFill>
          <a:ln xmlns:a="http://schemas.openxmlformats.org/drawingml/2006/main" w="0">
            <a:solidFill>
              <a:srgbClr val="000000"/>
            </a:solidFill>
            <a:prstDash val="solid"/>
          </a:ln>
        </p:spPr>
      </p:sp>
      <p:sp>
        <p:nvSpPr>
          <p:cNvPr id="35" name="">
            <a:extLst xmlns:a="http://schemas.openxmlformats.org/drawingml/2006/main">
              <a:ext uri="{FF2B5EF4-FFF2-40B4-BE49-F238E27FC236}">
                <a16:creationId xmlns:a16="http://schemas.microsoft.com/office/drawing/2014/main" id="{D0E799CC-3AEB-48ED-ACE0-F9480AE0170F}"/>
              </a:ext>
            </a:extLst>
          </p:cNvPr>
          <p:cNvSpPr>
            <a:spLocks xmlns:a="http://schemas.openxmlformats.org/drawingml/2006/main" noGrp="1"/>
          </p:cNvSpPr>
          <p:nvPr/>
        </p:nvSpPr>
        <p:spPr>
          <a:xfrm xmlns:a="http://schemas.openxmlformats.org/drawingml/2006/main">
            <a:off x="4838700" y="3886200"/>
            <a:ext cx="2667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000000"/>
                </a:solidFill>
              </a:defRPr>
            </a:pPr>
            <a:r>
              <a:rPr sz="1200" b="0">
                <a:solidFill>
                  <a:srgbClr val="000000"/>
                </a:solidFill>
              </a:rPr>
              <a:t>低代码 agent</a:t>
            </a:r>
          </a:p>
        </p:txBody>
      </p:sp>
      <p:sp>
        <p:nvSpPr>
          <p:cNvPr id="36" name="">
            <a:extLst xmlns:a="http://schemas.openxmlformats.org/drawingml/2006/main">
              <a:ext uri="{FF2B5EF4-FFF2-40B4-BE49-F238E27FC236}">
                <a16:creationId xmlns:a16="http://schemas.microsoft.com/office/drawing/2014/main" id="{676AAAEE-8E04-4573-B762-623D62E3E333}"/>
              </a:ext>
            </a:extLst>
          </p:cNvPr>
          <p:cNvSpPr>
            <a:spLocks xmlns:a="http://schemas.openxmlformats.org/drawingml/2006/main" noGrp="1"/>
          </p:cNvSpPr>
          <p:nvPr/>
        </p:nvSpPr>
        <p:spPr>
          <a:xfrm xmlns:a="http://schemas.openxmlformats.org/drawingml/2006/main">
            <a:off x="4667250" y="4267200"/>
            <a:ext cx="76200" cy="76200"/>
          </a:xfrm>
          <a:prstGeom xmlns:a="http://schemas.openxmlformats.org/drawingml/2006/main" prst="rect">
            <a:avLst/>
          </a:prstGeom>
          <a:solidFill xmlns:a="http://schemas.openxmlformats.org/drawingml/2006/main">
            <a:srgbClr val="000000"/>
          </a:solidFill>
          <a:ln xmlns:a="http://schemas.openxmlformats.org/drawingml/2006/main" w="0">
            <a:solidFill>
              <a:srgbClr val="000000"/>
            </a:solidFill>
            <a:prstDash val="solid"/>
          </a:ln>
        </p:spPr>
      </p:sp>
      <p:sp>
        <p:nvSpPr>
          <p:cNvPr id="37" name="">
            <a:extLst xmlns:a="http://schemas.openxmlformats.org/drawingml/2006/main">
              <a:ext uri="{FF2B5EF4-FFF2-40B4-BE49-F238E27FC236}">
                <a16:creationId xmlns:a16="http://schemas.microsoft.com/office/drawing/2014/main" id="{B3857ABA-BC86-49CF-A431-AD62B1862ED9}"/>
              </a:ext>
            </a:extLst>
          </p:cNvPr>
          <p:cNvSpPr>
            <a:spLocks xmlns:a="http://schemas.openxmlformats.org/drawingml/2006/main" noGrp="1"/>
          </p:cNvSpPr>
          <p:nvPr/>
        </p:nvSpPr>
        <p:spPr>
          <a:xfrm xmlns:a="http://schemas.openxmlformats.org/drawingml/2006/main">
            <a:off x="4838700" y="4191000"/>
            <a:ext cx="2667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000000"/>
                </a:solidFill>
              </a:defRPr>
            </a:pPr>
            <a:r>
              <a:rPr sz="1200" b="0">
                <a:solidFill>
                  <a:srgbClr val="000000"/>
                </a:solidFill>
              </a:rPr>
              <a:t>网关集成 agent</a:t>
            </a:r>
          </a:p>
        </p:txBody>
      </p:sp>
      <p:sp>
        <p:nvSpPr>
          <p:cNvPr id="38" name="">
            <a:extLst xmlns:a="http://schemas.openxmlformats.org/drawingml/2006/main">
              <a:ext uri="{FF2B5EF4-FFF2-40B4-BE49-F238E27FC236}">
                <a16:creationId xmlns:a16="http://schemas.microsoft.com/office/drawing/2014/main" id="{2F3DD135-657C-4981-BB80-62C975C49945}"/>
              </a:ext>
            </a:extLst>
          </p:cNvPr>
          <p:cNvSpPr>
            <a:spLocks xmlns:a="http://schemas.openxmlformats.org/drawingml/2006/main" noGrp="1"/>
          </p:cNvSpPr>
          <p:nvPr/>
        </p:nvSpPr>
        <p:spPr>
          <a:xfrm xmlns:a="http://schemas.openxmlformats.org/drawingml/2006/main">
            <a:off x="4667250" y="4572000"/>
            <a:ext cx="76200" cy="76200"/>
          </a:xfrm>
          <a:prstGeom xmlns:a="http://schemas.openxmlformats.org/drawingml/2006/main" prst="rect">
            <a:avLst/>
          </a:prstGeom>
          <a:solidFill xmlns:a="http://schemas.openxmlformats.org/drawingml/2006/main">
            <a:srgbClr val="000000"/>
          </a:solidFill>
          <a:ln xmlns:a="http://schemas.openxmlformats.org/drawingml/2006/main" w="0">
            <a:solidFill>
              <a:srgbClr val="000000"/>
            </a:solidFill>
            <a:prstDash val="solid"/>
          </a:ln>
        </p:spPr>
      </p:sp>
      <p:sp>
        <p:nvSpPr>
          <p:cNvPr id="39" name="">
            <a:extLst xmlns:a="http://schemas.openxmlformats.org/drawingml/2006/main">
              <a:ext uri="{FF2B5EF4-FFF2-40B4-BE49-F238E27FC236}">
                <a16:creationId xmlns:a16="http://schemas.microsoft.com/office/drawing/2014/main" id="{2B8F4C10-759D-436C-AA7B-627B5FBA3EFB}"/>
              </a:ext>
            </a:extLst>
          </p:cNvPr>
          <p:cNvSpPr>
            <a:spLocks xmlns:a="http://schemas.openxmlformats.org/drawingml/2006/main" noGrp="1"/>
          </p:cNvSpPr>
          <p:nvPr/>
        </p:nvSpPr>
        <p:spPr>
          <a:xfrm xmlns:a="http://schemas.openxmlformats.org/drawingml/2006/main">
            <a:off x="4838700" y="4495800"/>
            <a:ext cx="2667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000000"/>
                </a:solidFill>
              </a:defRPr>
            </a:pPr>
            <a:r>
              <a:rPr sz="1200" b="0">
                <a:solidFill>
                  <a:srgbClr val="000000"/>
                </a:solidFill>
              </a:rPr>
              <a:t>微服务 agent</a:t>
            </a:r>
          </a:p>
        </p:txBody>
      </p:sp>
      <p:sp>
        <p:nvSpPr>
          <p:cNvPr id="40" name="">
            <a:extLst xmlns:a="http://schemas.openxmlformats.org/drawingml/2006/main">
              <a:ext uri="{FF2B5EF4-FFF2-40B4-BE49-F238E27FC236}">
                <a16:creationId xmlns:a16="http://schemas.microsoft.com/office/drawing/2014/main" id="{31ECDDEA-1BB4-4458-B664-153EE0ABB8E3}"/>
              </a:ext>
            </a:extLst>
          </p:cNvPr>
          <p:cNvSpPr>
            <a:spLocks xmlns:a="http://schemas.openxmlformats.org/drawingml/2006/main" noGrp="1"/>
          </p:cNvSpPr>
          <p:nvPr/>
        </p:nvSpPr>
        <p:spPr>
          <a:xfrm xmlns:a="http://schemas.openxmlformats.org/drawingml/2006/main">
            <a:off x="4667250" y="4876800"/>
            <a:ext cx="76200" cy="76200"/>
          </a:xfrm>
          <a:prstGeom xmlns:a="http://schemas.openxmlformats.org/drawingml/2006/main" prst="rect">
            <a:avLst/>
          </a:prstGeom>
          <a:solidFill xmlns:a="http://schemas.openxmlformats.org/drawingml/2006/main">
            <a:srgbClr val="000000"/>
          </a:solidFill>
          <a:ln xmlns:a="http://schemas.openxmlformats.org/drawingml/2006/main" w="0">
            <a:solidFill>
              <a:srgbClr val="000000"/>
            </a:solidFill>
            <a:prstDash val="solid"/>
          </a:ln>
        </p:spPr>
      </p:sp>
      <p:sp>
        <p:nvSpPr>
          <p:cNvPr id="41" name="">
            <a:extLst xmlns:a="http://schemas.openxmlformats.org/drawingml/2006/main">
              <a:ext uri="{FF2B5EF4-FFF2-40B4-BE49-F238E27FC236}">
                <a16:creationId xmlns:a16="http://schemas.microsoft.com/office/drawing/2014/main" id="{3A6EE154-730E-4BA0-8FD6-1D00B4E86AA9}"/>
              </a:ext>
            </a:extLst>
          </p:cNvPr>
          <p:cNvSpPr>
            <a:spLocks xmlns:a="http://schemas.openxmlformats.org/drawingml/2006/main" noGrp="1"/>
          </p:cNvSpPr>
          <p:nvPr/>
        </p:nvSpPr>
        <p:spPr>
          <a:xfrm xmlns:a="http://schemas.openxmlformats.org/drawingml/2006/main">
            <a:off x="4838700" y="4800600"/>
            <a:ext cx="2667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000000"/>
                </a:solidFill>
              </a:defRPr>
            </a:pPr>
            <a:r>
              <a:rPr sz="1200" b="0">
                <a:solidFill>
                  <a:srgbClr val="000000"/>
                </a:solidFill>
              </a:rPr>
              <a:t>观测 agent</a:t>
            </a:r>
          </a:p>
        </p:txBody>
      </p:sp>
      <p:sp>
        <p:nvSpPr>
          <p:cNvPr id="42" name="">
            <a:extLst xmlns:a="http://schemas.openxmlformats.org/drawingml/2006/main">
              <a:ext uri="{FF2B5EF4-FFF2-40B4-BE49-F238E27FC236}">
                <a16:creationId xmlns:a16="http://schemas.microsoft.com/office/drawing/2014/main" id="{51A7AD55-AD72-411F-8E21-A79E44BB5E95}"/>
              </a:ext>
            </a:extLst>
          </p:cNvPr>
          <p:cNvSpPr>
            <a:spLocks xmlns:a="http://schemas.openxmlformats.org/drawingml/2006/main" noGrp="1"/>
          </p:cNvSpPr>
          <p:nvPr/>
        </p:nvSpPr>
        <p:spPr>
          <a:xfrm xmlns:a="http://schemas.openxmlformats.org/drawingml/2006/main">
            <a:off x="8210550" y="1809750"/>
            <a:ext cx="3295650" cy="3571875"/>
          </a:xfrm>
          <a:prstGeom xmlns:a="http://schemas.openxmlformats.org/drawingml/2006/main" prst="rect">
            <a:avLst/>
          </a:prstGeom>
          <a:solidFill xmlns:a="http://schemas.openxmlformats.org/drawingml/2006/main">
            <a:srgbClr val="FFF4EF"/>
          </a:solidFill>
          <a:ln xmlns:a="http://schemas.openxmlformats.org/drawingml/2006/main" w="9525">
            <a:solidFill>
              <a:srgbClr val="FF6B35"/>
            </a:solidFill>
            <a:prstDash val="solid"/>
          </a:ln>
        </p:spPr>
      </p:sp>
      <p:sp>
        <p:nvSpPr>
          <p:cNvPr id="43" name="">
            <a:extLst xmlns:a="http://schemas.openxmlformats.org/drawingml/2006/main">
              <a:ext uri="{FF2B5EF4-FFF2-40B4-BE49-F238E27FC236}">
                <a16:creationId xmlns:a16="http://schemas.microsoft.com/office/drawing/2014/main" id="{00C85DA1-561A-4FA5-8230-DE3A34081901}"/>
              </a:ext>
            </a:extLst>
          </p:cNvPr>
          <p:cNvSpPr>
            <a:spLocks xmlns:a="http://schemas.openxmlformats.org/drawingml/2006/main" noGrp="1"/>
          </p:cNvSpPr>
          <p:nvPr/>
        </p:nvSpPr>
        <p:spPr>
          <a:xfrm xmlns:a="http://schemas.openxmlformats.org/drawingml/2006/main">
            <a:off x="8439150" y="2095500"/>
            <a:ext cx="2838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000000"/>
                </a:solidFill>
              </a:defRPr>
            </a:pPr>
            <a:r>
              <a:rPr sz="1725" b="1">
                <a:solidFill>
                  <a:srgbClr val="000000"/>
                </a:solidFill>
              </a:rPr>
              <a:t>能力市场与本地库</a:t>
            </a:r>
          </a:p>
        </p:txBody>
      </p:sp>
      <p:sp>
        <p:nvSpPr>
          <p:cNvPr id="44" name="">
            <a:extLst xmlns:a="http://schemas.openxmlformats.org/drawingml/2006/main">
              <a:ext uri="{FF2B5EF4-FFF2-40B4-BE49-F238E27FC236}">
                <a16:creationId xmlns:a16="http://schemas.microsoft.com/office/drawing/2014/main" id="{4E813C38-B548-4674-BAA5-AA33F33CF979}"/>
              </a:ext>
            </a:extLst>
          </p:cNvPr>
          <p:cNvSpPr>
            <a:spLocks xmlns:a="http://schemas.openxmlformats.org/drawingml/2006/main" noGrp="1"/>
          </p:cNvSpPr>
          <p:nvPr/>
        </p:nvSpPr>
        <p:spPr>
          <a:xfrm xmlns:a="http://schemas.openxmlformats.org/drawingml/2006/main">
            <a:off x="8439150" y="2743200"/>
            <a:ext cx="76200" cy="76200"/>
          </a:xfrm>
          <a:prstGeom xmlns:a="http://schemas.openxmlformats.org/drawingml/2006/main" prst="rect">
            <a:avLst/>
          </a:prstGeom>
          <a:solidFill xmlns:a="http://schemas.openxmlformats.org/drawingml/2006/main">
            <a:srgbClr val="000000"/>
          </a:solidFill>
          <a:ln xmlns:a="http://schemas.openxmlformats.org/drawingml/2006/main" w="0">
            <a:solidFill>
              <a:srgbClr val="000000"/>
            </a:solidFill>
            <a:prstDash val="solid"/>
          </a:ln>
        </p:spPr>
      </p:sp>
      <p:sp>
        <p:nvSpPr>
          <p:cNvPr id="45" name="">
            <a:extLst xmlns:a="http://schemas.openxmlformats.org/drawingml/2006/main">
              <a:ext uri="{FF2B5EF4-FFF2-40B4-BE49-F238E27FC236}">
                <a16:creationId xmlns:a16="http://schemas.microsoft.com/office/drawing/2014/main" id="{50BCA671-CB77-4603-A230-634CD09536EF}"/>
              </a:ext>
            </a:extLst>
          </p:cNvPr>
          <p:cNvSpPr>
            <a:spLocks xmlns:a="http://schemas.openxmlformats.org/drawingml/2006/main" noGrp="1"/>
          </p:cNvSpPr>
          <p:nvPr/>
        </p:nvSpPr>
        <p:spPr>
          <a:xfrm xmlns:a="http://schemas.openxmlformats.org/drawingml/2006/main">
            <a:off x="8610600" y="2667000"/>
            <a:ext cx="2667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000000"/>
                </a:solidFill>
              </a:defRPr>
            </a:pPr>
            <a:r>
              <a:rPr sz="1200" b="0">
                <a:solidFill>
                  <a:srgbClr val="000000"/>
                </a:solidFill>
              </a:rPr>
              <a:t>协作智能体市场</a:t>
            </a:r>
          </a:p>
        </p:txBody>
      </p:sp>
      <p:sp>
        <p:nvSpPr>
          <p:cNvPr id="46" name="">
            <a:extLst xmlns:a="http://schemas.openxmlformats.org/drawingml/2006/main">
              <a:ext uri="{FF2B5EF4-FFF2-40B4-BE49-F238E27FC236}">
                <a16:creationId xmlns:a16="http://schemas.microsoft.com/office/drawing/2014/main" id="{BA8F44B2-0F5E-459D-B1FD-21F56D4BE4C9}"/>
              </a:ext>
            </a:extLst>
          </p:cNvPr>
          <p:cNvSpPr>
            <a:spLocks xmlns:a="http://schemas.openxmlformats.org/drawingml/2006/main" noGrp="1"/>
          </p:cNvSpPr>
          <p:nvPr/>
        </p:nvSpPr>
        <p:spPr>
          <a:xfrm xmlns:a="http://schemas.openxmlformats.org/drawingml/2006/main">
            <a:off x="8439150" y="3048000"/>
            <a:ext cx="76200" cy="76200"/>
          </a:xfrm>
          <a:prstGeom xmlns:a="http://schemas.openxmlformats.org/drawingml/2006/main" prst="rect">
            <a:avLst/>
          </a:prstGeom>
          <a:solidFill xmlns:a="http://schemas.openxmlformats.org/drawingml/2006/main">
            <a:srgbClr val="000000"/>
          </a:solidFill>
          <a:ln xmlns:a="http://schemas.openxmlformats.org/drawingml/2006/main" w="0">
            <a:solidFill>
              <a:srgbClr val="000000"/>
            </a:solidFill>
            <a:prstDash val="solid"/>
          </a:ln>
        </p:spPr>
      </p:sp>
      <p:sp>
        <p:nvSpPr>
          <p:cNvPr id="47" name="">
            <a:extLst xmlns:a="http://schemas.openxmlformats.org/drawingml/2006/main">
              <a:ext uri="{FF2B5EF4-FFF2-40B4-BE49-F238E27FC236}">
                <a16:creationId xmlns:a16="http://schemas.microsoft.com/office/drawing/2014/main" id="{22A56F17-44A5-4C8D-AA0D-6FBF5CD11E94}"/>
              </a:ext>
            </a:extLst>
          </p:cNvPr>
          <p:cNvSpPr>
            <a:spLocks xmlns:a="http://schemas.openxmlformats.org/drawingml/2006/main" noGrp="1"/>
          </p:cNvSpPr>
          <p:nvPr/>
        </p:nvSpPr>
        <p:spPr>
          <a:xfrm xmlns:a="http://schemas.openxmlformats.org/drawingml/2006/main">
            <a:off x="8610600" y="2971800"/>
            <a:ext cx="2667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000000"/>
                </a:solidFill>
              </a:defRPr>
            </a:pPr>
            <a:r>
              <a:rPr sz="1200" b="0">
                <a:solidFill>
                  <a:srgbClr val="000000"/>
                </a:solidFill>
              </a:rPr>
              <a:t>Skills 市场</a:t>
            </a:r>
          </a:p>
        </p:txBody>
      </p:sp>
      <p:sp>
        <p:nvSpPr>
          <p:cNvPr id="48" name="">
            <a:extLst xmlns:a="http://schemas.openxmlformats.org/drawingml/2006/main">
              <a:ext uri="{FF2B5EF4-FFF2-40B4-BE49-F238E27FC236}">
                <a16:creationId xmlns:a16="http://schemas.microsoft.com/office/drawing/2014/main" id="{3CEE548F-CD1D-4DAD-B07B-7523F0589EF0}"/>
              </a:ext>
            </a:extLst>
          </p:cNvPr>
          <p:cNvSpPr>
            <a:spLocks xmlns:a="http://schemas.openxmlformats.org/drawingml/2006/main" noGrp="1"/>
          </p:cNvSpPr>
          <p:nvPr/>
        </p:nvSpPr>
        <p:spPr>
          <a:xfrm xmlns:a="http://schemas.openxmlformats.org/drawingml/2006/main">
            <a:off x="8439150" y="3352800"/>
            <a:ext cx="76200" cy="76200"/>
          </a:xfrm>
          <a:prstGeom xmlns:a="http://schemas.openxmlformats.org/drawingml/2006/main" prst="rect">
            <a:avLst/>
          </a:prstGeom>
          <a:solidFill xmlns:a="http://schemas.openxmlformats.org/drawingml/2006/main">
            <a:srgbClr val="000000"/>
          </a:solidFill>
          <a:ln xmlns:a="http://schemas.openxmlformats.org/drawingml/2006/main" w="0">
            <a:solidFill>
              <a:srgbClr val="000000"/>
            </a:solidFill>
            <a:prstDash val="solid"/>
          </a:ln>
        </p:spPr>
      </p:sp>
      <p:sp>
        <p:nvSpPr>
          <p:cNvPr id="49" name="">
            <a:extLst xmlns:a="http://schemas.openxmlformats.org/drawingml/2006/main">
              <a:ext uri="{FF2B5EF4-FFF2-40B4-BE49-F238E27FC236}">
                <a16:creationId xmlns:a16="http://schemas.microsoft.com/office/drawing/2014/main" id="{C22EAA36-09FF-4FCC-8B08-C4E4ABAF0299}"/>
              </a:ext>
            </a:extLst>
          </p:cNvPr>
          <p:cNvSpPr>
            <a:spLocks xmlns:a="http://schemas.openxmlformats.org/drawingml/2006/main" noGrp="1"/>
          </p:cNvSpPr>
          <p:nvPr/>
        </p:nvSpPr>
        <p:spPr>
          <a:xfrm xmlns:a="http://schemas.openxmlformats.org/drawingml/2006/main">
            <a:off x="8610600" y="3276600"/>
            <a:ext cx="2667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000000"/>
                </a:solidFill>
              </a:defRPr>
            </a:pPr>
            <a:r>
              <a:rPr sz="1200" b="0">
                <a:solidFill>
                  <a:srgbClr val="000000"/>
                </a:solidFill>
              </a:rPr>
              <a:t>本地能力库</a:t>
            </a:r>
          </a:p>
        </p:txBody>
      </p:sp>
      <p:sp>
        <p:nvSpPr>
          <p:cNvPr id="50" name="">
            <a:extLst xmlns:a="http://schemas.openxmlformats.org/drawingml/2006/main">
              <a:ext uri="{FF2B5EF4-FFF2-40B4-BE49-F238E27FC236}">
                <a16:creationId xmlns:a16="http://schemas.microsoft.com/office/drawing/2014/main" id="{E76D98EA-C3E3-4B8F-902D-591F9FDF2D77}"/>
              </a:ext>
            </a:extLst>
          </p:cNvPr>
          <p:cNvSpPr>
            <a:spLocks xmlns:a="http://schemas.openxmlformats.org/drawingml/2006/main" noGrp="1"/>
          </p:cNvSpPr>
          <p:nvPr/>
        </p:nvSpPr>
        <p:spPr>
          <a:xfrm xmlns:a="http://schemas.openxmlformats.org/drawingml/2006/main">
            <a:off x="8439150" y="3657600"/>
            <a:ext cx="76200" cy="76200"/>
          </a:xfrm>
          <a:prstGeom xmlns:a="http://schemas.openxmlformats.org/drawingml/2006/main" prst="rect">
            <a:avLst/>
          </a:prstGeom>
          <a:solidFill xmlns:a="http://schemas.openxmlformats.org/drawingml/2006/main">
            <a:srgbClr val="000000"/>
          </a:solidFill>
          <a:ln xmlns:a="http://schemas.openxmlformats.org/drawingml/2006/main" w="0">
            <a:solidFill>
              <a:srgbClr val="000000"/>
            </a:solidFill>
            <a:prstDash val="solid"/>
          </a:ln>
        </p:spPr>
      </p:sp>
      <p:sp>
        <p:nvSpPr>
          <p:cNvPr id="51" name="">
            <a:extLst xmlns:a="http://schemas.openxmlformats.org/drawingml/2006/main">
              <a:ext uri="{FF2B5EF4-FFF2-40B4-BE49-F238E27FC236}">
                <a16:creationId xmlns:a16="http://schemas.microsoft.com/office/drawing/2014/main" id="{05D6759A-79E7-43E5-95D1-F9BFC57CA04E}"/>
              </a:ext>
            </a:extLst>
          </p:cNvPr>
          <p:cNvSpPr>
            <a:spLocks xmlns:a="http://schemas.openxmlformats.org/drawingml/2006/main" noGrp="1"/>
          </p:cNvSpPr>
          <p:nvPr/>
        </p:nvSpPr>
        <p:spPr>
          <a:xfrm xmlns:a="http://schemas.openxmlformats.org/drawingml/2006/main">
            <a:off x="8610600" y="3581400"/>
            <a:ext cx="2667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000000"/>
                </a:solidFill>
              </a:defRPr>
            </a:pPr>
            <a:r>
              <a:rPr sz="1200" b="0">
                <a:solidFill>
                  <a:srgbClr val="000000"/>
                </a:solidFill>
              </a:rPr>
              <a:t>版本 / 来源</a:t>
            </a:r>
          </a:p>
        </p:txBody>
      </p:sp>
      <p:sp>
        <p:nvSpPr>
          <p:cNvPr id="52" name="">
            <a:extLst xmlns:a="http://schemas.openxmlformats.org/drawingml/2006/main">
              <a:ext uri="{FF2B5EF4-FFF2-40B4-BE49-F238E27FC236}">
                <a16:creationId xmlns:a16="http://schemas.microsoft.com/office/drawing/2014/main" id="{1FED4336-C7DF-4757-940D-A36EED127193}"/>
              </a:ext>
            </a:extLst>
          </p:cNvPr>
          <p:cNvSpPr>
            <a:spLocks xmlns:a="http://schemas.openxmlformats.org/drawingml/2006/main" noGrp="1"/>
          </p:cNvSpPr>
          <p:nvPr/>
        </p:nvSpPr>
        <p:spPr>
          <a:xfrm xmlns:a="http://schemas.openxmlformats.org/drawingml/2006/main">
            <a:off x="8439150" y="3962400"/>
            <a:ext cx="76200" cy="76200"/>
          </a:xfrm>
          <a:prstGeom xmlns:a="http://schemas.openxmlformats.org/drawingml/2006/main" prst="rect">
            <a:avLst/>
          </a:prstGeom>
          <a:solidFill xmlns:a="http://schemas.openxmlformats.org/drawingml/2006/main">
            <a:srgbClr val="000000"/>
          </a:solidFill>
          <a:ln xmlns:a="http://schemas.openxmlformats.org/drawingml/2006/main" w="0">
            <a:solidFill>
              <a:srgbClr val="000000"/>
            </a:solidFill>
            <a:prstDash val="solid"/>
          </a:ln>
        </p:spPr>
      </p:sp>
      <p:sp>
        <p:nvSpPr>
          <p:cNvPr id="53" name="">
            <a:extLst xmlns:a="http://schemas.openxmlformats.org/drawingml/2006/main">
              <a:ext uri="{FF2B5EF4-FFF2-40B4-BE49-F238E27FC236}">
                <a16:creationId xmlns:a16="http://schemas.microsoft.com/office/drawing/2014/main" id="{97DF017F-9093-47F7-9768-EFED7EB49FC9}"/>
              </a:ext>
            </a:extLst>
          </p:cNvPr>
          <p:cNvSpPr>
            <a:spLocks xmlns:a="http://schemas.openxmlformats.org/drawingml/2006/main" noGrp="1"/>
          </p:cNvSpPr>
          <p:nvPr/>
        </p:nvSpPr>
        <p:spPr>
          <a:xfrm xmlns:a="http://schemas.openxmlformats.org/drawingml/2006/main">
            <a:off x="8610600" y="3886200"/>
            <a:ext cx="2667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000000"/>
                </a:solidFill>
              </a:defRPr>
            </a:pPr>
            <a:r>
              <a:rPr sz="1200" b="0">
                <a:solidFill>
                  <a:srgbClr val="000000"/>
                </a:solidFill>
              </a:rPr>
              <a:t>适用场景</a:t>
            </a:r>
          </a:p>
        </p:txBody>
      </p:sp>
      <p:sp>
        <p:nvSpPr>
          <p:cNvPr id="54" name="">
            <a:extLst xmlns:a="http://schemas.openxmlformats.org/drawingml/2006/main">
              <a:ext uri="{FF2B5EF4-FFF2-40B4-BE49-F238E27FC236}">
                <a16:creationId xmlns:a16="http://schemas.microsoft.com/office/drawing/2014/main" id="{44F5F4B4-CB6A-469A-B4B4-95FD08528650}"/>
              </a:ext>
            </a:extLst>
          </p:cNvPr>
          <p:cNvSpPr>
            <a:spLocks xmlns:a="http://schemas.openxmlformats.org/drawingml/2006/main" noGrp="1"/>
          </p:cNvSpPr>
          <p:nvPr/>
        </p:nvSpPr>
        <p:spPr>
          <a:xfrm xmlns:a="http://schemas.openxmlformats.org/drawingml/2006/main">
            <a:off x="8439150" y="4267200"/>
            <a:ext cx="76200" cy="76200"/>
          </a:xfrm>
          <a:prstGeom xmlns:a="http://schemas.openxmlformats.org/drawingml/2006/main" prst="rect">
            <a:avLst/>
          </a:prstGeom>
          <a:solidFill xmlns:a="http://schemas.openxmlformats.org/drawingml/2006/main">
            <a:srgbClr val="000000"/>
          </a:solidFill>
          <a:ln xmlns:a="http://schemas.openxmlformats.org/drawingml/2006/main" w="0">
            <a:solidFill>
              <a:srgbClr val="000000"/>
            </a:solidFill>
            <a:prstDash val="solid"/>
          </a:ln>
        </p:spPr>
      </p:sp>
      <p:sp>
        <p:nvSpPr>
          <p:cNvPr id="55" name="">
            <a:extLst xmlns:a="http://schemas.openxmlformats.org/drawingml/2006/main">
              <a:ext uri="{FF2B5EF4-FFF2-40B4-BE49-F238E27FC236}">
                <a16:creationId xmlns:a16="http://schemas.microsoft.com/office/drawing/2014/main" id="{23F43164-D70A-4913-ABE2-B50990CC4760}"/>
              </a:ext>
            </a:extLst>
          </p:cNvPr>
          <p:cNvSpPr>
            <a:spLocks xmlns:a="http://schemas.openxmlformats.org/drawingml/2006/main" noGrp="1"/>
          </p:cNvSpPr>
          <p:nvPr/>
        </p:nvSpPr>
        <p:spPr>
          <a:xfrm xmlns:a="http://schemas.openxmlformats.org/drawingml/2006/main">
            <a:off x="8610600" y="4191000"/>
            <a:ext cx="2667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000000"/>
                </a:solidFill>
              </a:defRPr>
            </a:pPr>
            <a:r>
              <a:rPr sz="1200" b="0">
                <a:solidFill>
                  <a:srgbClr val="000000"/>
                </a:solidFill>
              </a:rPr>
              <a:t>权限与工具边界</a:t>
            </a:r>
          </a:p>
        </p:txBody>
      </p:sp>
      <p:sp>
        <p:nvSpPr>
          <p:cNvPr id="56" name="">
            <a:extLst xmlns:a="http://schemas.openxmlformats.org/drawingml/2006/main">
              <a:ext uri="{FF2B5EF4-FFF2-40B4-BE49-F238E27FC236}">
                <a16:creationId xmlns:a16="http://schemas.microsoft.com/office/drawing/2014/main" id="{973CBB70-C2CB-4564-9187-4BEA38FC4D37}"/>
              </a:ext>
            </a:extLst>
          </p:cNvPr>
          <p:cNvSpPr>
            <a:spLocks xmlns:a="http://schemas.openxmlformats.org/drawingml/2006/main" noGrp="1"/>
          </p:cNvSpPr>
          <p:nvPr/>
        </p:nvSpPr>
        <p:spPr>
          <a:xfrm xmlns:a="http://schemas.openxmlformats.org/drawingml/2006/main">
            <a:off x="514350" y="63817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555555"/>
                </a:solidFill>
              </a:defRPr>
            </a:pPr>
            <a:r>
              <a:rPr sz="1050" b="0">
                <a:solidFill>
                  <a:srgbClr val="555555"/>
                </a:solidFill>
              </a:rPr>
              <a:t>西安 630 项目软件工厂复盘</a:t>
            </a:r>
          </a:p>
        </p:txBody>
      </p:sp>
      <p:sp>
        <p:nvSpPr>
          <p:cNvPr id="57" name="">
            <a:extLst xmlns:a="http://schemas.openxmlformats.org/drawingml/2006/main">
              <a:ext uri="{FF2B5EF4-FFF2-40B4-BE49-F238E27FC236}">
                <a16:creationId xmlns:a16="http://schemas.microsoft.com/office/drawing/2014/main" id="{D64194BC-A4F5-46AC-8ED9-E3C28899701D}"/>
              </a:ext>
            </a:extLst>
          </p:cNvPr>
          <p:cNvSpPr>
            <a:spLocks xmlns:a="http://schemas.openxmlformats.org/drawingml/2006/main" noGrp="1"/>
          </p:cNvSpPr>
          <p:nvPr/>
        </p:nvSpPr>
        <p:spPr>
          <a:xfrm xmlns:a="http://schemas.openxmlformats.org/drawingml/2006/main">
            <a:off x="11287125" y="6381750"/>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a:solidFill>
                  <a:srgbClr val="555555"/>
                </a:solidFill>
              </a:defRPr>
            </a:pPr>
            <a:r>
              <a:rPr sz="1050" b="1">
                <a:solidFill>
                  <a:srgbClr val="555555"/>
                </a:solidFill>
              </a:rPr>
              <a:t>07</a:t>
            </a:r>
          </a:p>
        </p:txBody>
      </p:sp>
    </p:spTree>
    <p:extLst>
      <p:ext uri="{BB962C8B-B14F-4D97-AF65-F5344CB8AC3E}">
        <p14:creationId xmlns:p14="http://schemas.microsoft.com/office/powerpoint/2010/main" val="634872089"/>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7122EE84-F709-4873-8277-818AC5E74D40}"/>
              </a:ext>
            </a:extLst>
          </p:cNvPr>
          <p:cNvSpPr>
            <a:spLocks xmlns:a="http://schemas.openxmlformats.org/drawingml/2006/main" noGrp="1"/>
          </p:cNvSpPr>
          <p:nvPr/>
        </p:nvSpPr>
        <p:spPr>
          <a:xfrm xmlns:a="http://schemas.openxmlformats.org/drawingml/2006/main">
            <a:off x="514350" y="381000"/>
            <a:ext cx="10001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00000"/>
                </a:solidFill>
              </a:defRPr>
            </a:pPr>
            <a:r>
              <a:rPr sz="2850" b="1">
                <a:solidFill>
                  <a:srgbClr val="000000"/>
                </a:solidFill>
              </a:rPr>
              <a:t>领域能力包让系统越交付越强，云产品底座让结果进入工程链路</a:t>
            </a:r>
          </a:p>
        </p:txBody>
      </p:sp>
      <p:sp>
        <p:nvSpPr>
          <p:cNvPr id="2" name="">
            <a:extLst xmlns:a="http://schemas.openxmlformats.org/drawingml/2006/main">
              <a:ext uri="{FF2B5EF4-FFF2-40B4-BE49-F238E27FC236}">
                <a16:creationId xmlns:a16="http://schemas.microsoft.com/office/drawing/2014/main" id="{C45BF61C-3BCB-4160-B43C-663C44E587E1}"/>
              </a:ext>
            </a:extLst>
          </p:cNvPr>
          <p:cNvSpPr>
            <a:spLocks xmlns:a="http://schemas.openxmlformats.org/drawingml/2006/main" noGrp="1"/>
          </p:cNvSpPr>
          <p:nvPr/>
        </p:nvSpPr>
        <p:spPr>
          <a:xfrm xmlns:a="http://schemas.openxmlformats.org/drawingml/2006/main">
            <a:off x="514350" y="990600"/>
            <a:ext cx="876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555555"/>
                </a:solidFill>
              </a:defRPr>
            </a:pPr>
            <a:r>
              <a:rPr sz="1350" b="0">
                <a:solidFill>
                  <a:srgbClr val="555555"/>
                </a:solidFill>
              </a:rPr>
              <a:t>一边沉淀领域能力，一边把 agent 工作落到可治理的工程资产。</a:t>
            </a:r>
          </a:p>
        </p:txBody>
      </p:sp>
      <p:sp>
        <p:nvSpPr>
          <p:cNvPr id="3" name="">
            <a:extLst xmlns:a="http://schemas.openxmlformats.org/drawingml/2006/main">
              <a:ext uri="{FF2B5EF4-FFF2-40B4-BE49-F238E27FC236}">
                <a16:creationId xmlns:a16="http://schemas.microsoft.com/office/drawing/2014/main" id="{FC93F8B1-7912-4FBB-B79F-4F0B09EDCAAE}"/>
              </a:ext>
            </a:extLst>
          </p:cNvPr>
          <p:cNvSpPr>
            <a:spLocks xmlns:a="http://schemas.openxmlformats.org/drawingml/2006/main" noGrp="1"/>
          </p:cNvSpPr>
          <p:nvPr/>
        </p:nvSpPr>
        <p:spPr>
          <a:xfrm xmlns:a="http://schemas.openxmlformats.org/drawingml/2006/main">
            <a:off x="514350" y="1428750"/>
            <a:ext cx="111633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4" name="">
            <a:extLst xmlns:a="http://schemas.openxmlformats.org/drawingml/2006/main">
              <a:ext uri="{FF2B5EF4-FFF2-40B4-BE49-F238E27FC236}">
                <a16:creationId xmlns:a16="http://schemas.microsoft.com/office/drawing/2014/main" id="{246F61EC-C158-4C7B-B96C-11FA19D3A35A}"/>
              </a:ext>
            </a:extLst>
          </p:cNvPr>
          <p:cNvSpPr>
            <a:spLocks xmlns:a="http://schemas.openxmlformats.org/drawingml/2006/main" noGrp="1"/>
          </p:cNvSpPr>
          <p:nvPr/>
        </p:nvSpPr>
        <p:spPr>
          <a:xfrm xmlns:a="http://schemas.openxmlformats.org/drawingml/2006/main">
            <a:off x="666750" y="1809750"/>
            <a:ext cx="4953000" cy="3429000"/>
          </a:xfrm>
          <a:prstGeom xmlns:a="http://schemas.openxmlformats.org/drawingml/2006/main" prst="rect">
            <a:avLst/>
          </a:prstGeom>
          <a:solidFill xmlns:a="http://schemas.openxmlformats.org/drawingml/2006/main">
            <a:srgbClr val="F6F6F6"/>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0711AF5D-DCE9-43BE-9761-27A04BE10ADD}"/>
              </a:ext>
            </a:extLst>
          </p:cNvPr>
          <p:cNvSpPr>
            <a:spLocks xmlns:a="http://schemas.openxmlformats.org/drawingml/2006/main" noGrp="1"/>
          </p:cNvSpPr>
          <p:nvPr/>
        </p:nvSpPr>
        <p:spPr>
          <a:xfrm xmlns:a="http://schemas.openxmlformats.org/drawingml/2006/main">
            <a:off x="952500" y="2095500"/>
            <a:ext cx="152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FF6B35"/>
                </a:solidFill>
              </a:defRPr>
            </a:pPr>
            <a:r>
              <a:rPr sz="1125" b="1">
                <a:solidFill>
                  <a:srgbClr val="FF6B35"/>
                </a:solidFill>
              </a:rPr>
              <a:t>领域能力包</a:t>
            </a:r>
          </a:p>
        </p:txBody>
      </p:sp>
      <p:sp>
        <p:nvSpPr>
          <p:cNvPr id="6" name="">
            <a:extLst xmlns:a="http://schemas.openxmlformats.org/drawingml/2006/main">
              <a:ext uri="{FF2B5EF4-FFF2-40B4-BE49-F238E27FC236}">
                <a16:creationId xmlns:a16="http://schemas.microsoft.com/office/drawing/2014/main" id="{8F1C2CAB-0568-4ED6-B29A-611904EFD97A}"/>
              </a:ext>
            </a:extLst>
          </p:cNvPr>
          <p:cNvSpPr>
            <a:spLocks xmlns:a="http://schemas.openxmlformats.org/drawingml/2006/main" noGrp="1"/>
          </p:cNvSpPr>
          <p:nvPr/>
        </p:nvSpPr>
        <p:spPr>
          <a:xfrm xmlns:a="http://schemas.openxmlformats.org/drawingml/2006/main">
            <a:off x="952500" y="2647950"/>
            <a:ext cx="76200" cy="76200"/>
          </a:xfrm>
          <a:prstGeom xmlns:a="http://schemas.openxmlformats.org/drawingml/2006/main" prst="rect">
            <a:avLst/>
          </a:prstGeom>
          <a:solidFill xmlns:a="http://schemas.openxmlformats.org/drawingml/2006/main">
            <a:srgbClr val="000000"/>
          </a:solidFill>
          <a:ln xmlns:a="http://schemas.openxmlformats.org/drawingml/2006/main" w="0">
            <a:solidFill>
              <a:srgbClr val="000000"/>
            </a:solidFill>
            <a:prstDash val="solid"/>
          </a:ln>
        </p:spPr>
      </p:sp>
      <p:sp>
        <p:nvSpPr>
          <p:cNvPr id="7" name="">
            <a:extLst xmlns:a="http://schemas.openxmlformats.org/drawingml/2006/main">
              <a:ext uri="{FF2B5EF4-FFF2-40B4-BE49-F238E27FC236}">
                <a16:creationId xmlns:a16="http://schemas.microsoft.com/office/drawing/2014/main" id="{3B9BEE7E-6340-497A-B308-209625D08A40}"/>
              </a:ext>
            </a:extLst>
          </p:cNvPr>
          <p:cNvSpPr>
            <a:spLocks xmlns:a="http://schemas.openxmlformats.org/drawingml/2006/main" noGrp="1"/>
          </p:cNvSpPr>
          <p:nvPr/>
        </p:nvSpPr>
        <p:spPr>
          <a:xfrm xmlns:a="http://schemas.openxmlformats.org/drawingml/2006/main">
            <a:off x="1123950" y="2571750"/>
            <a:ext cx="38290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000000"/>
                </a:solidFill>
              </a:defRPr>
            </a:pPr>
            <a:r>
              <a:rPr sz="1275" b="0">
                <a:solidFill>
                  <a:srgbClr val="000000"/>
                </a:solidFill>
              </a:rPr>
              <a:t>领域知识</a:t>
            </a:r>
          </a:p>
        </p:txBody>
      </p:sp>
      <p:sp>
        <p:nvSpPr>
          <p:cNvPr id="8" name="">
            <a:extLst xmlns:a="http://schemas.openxmlformats.org/drawingml/2006/main">
              <a:ext uri="{FF2B5EF4-FFF2-40B4-BE49-F238E27FC236}">
                <a16:creationId xmlns:a16="http://schemas.microsoft.com/office/drawing/2014/main" id="{DAA3AB35-14B4-4473-9E23-4CBF17E46474}"/>
              </a:ext>
            </a:extLst>
          </p:cNvPr>
          <p:cNvSpPr>
            <a:spLocks xmlns:a="http://schemas.openxmlformats.org/drawingml/2006/main" noGrp="1"/>
          </p:cNvSpPr>
          <p:nvPr/>
        </p:nvSpPr>
        <p:spPr>
          <a:xfrm xmlns:a="http://schemas.openxmlformats.org/drawingml/2006/main">
            <a:off x="952500" y="2981325"/>
            <a:ext cx="76200" cy="76200"/>
          </a:xfrm>
          <a:prstGeom xmlns:a="http://schemas.openxmlformats.org/drawingml/2006/main" prst="rect">
            <a:avLst/>
          </a:prstGeom>
          <a:solidFill xmlns:a="http://schemas.openxmlformats.org/drawingml/2006/main">
            <a:srgbClr val="000000"/>
          </a:solidFill>
          <a:ln xmlns:a="http://schemas.openxmlformats.org/drawingml/2006/main" w="0">
            <a:solidFill>
              <a:srgbClr val="000000"/>
            </a:solidFill>
            <a:prstDash val="solid"/>
          </a:ln>
        </p:spPr>
      </p:sp>
      <p:sp>
        <p:nvSpPr>
          <p:cNvPr id="9" name="">
            <a:extLst xmlns:a="http://schemas.openxmlformats.org/drawingml/2006/main">
              <a:ext uri="{FF2B5EF4-FFF2-40B4-BE49-F238E27FC236}">
                <a16:creationId xmlns:a16="http://schemas.microsoft.com/office/drawing/2014/main" id="{D2C2B38E-AEB5-4E4B-AD73-BD820D0F90D2}"/>
              </a:ext>
            </a:extLst>
          </p:cNvPr>
          <p:cNvSpPr>
            <a:spLocks xmlns:a="http://schemas.openxmlformats.org/drawingml/2006/main" noGrp="1"/>
          </p:cNvSpPr>
          <p:nvPr/>
        </p:nvSpPr>
        <p:spPr>
          <a:xfrm xmlns:a="http://schemas.openxmlformats.org/drawingml/2006/main">
            <a:off x="1123950" y="2905125"/>
            <a:ext cx="38290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000000"/>
                </a:solidFill>
              </a:defRPr>
            </a:pPr>
            <a:r>
              <a:rPr sz="1275" b="0">
                <a:solidFill>
                  <a:srgbClr val="000000"/>
                </a:solidFill>
              </a:rPr>
              <a:t>数据接口契约</a:t>
            </a:r>
          </a:p>
        </p:txBody>
      </p:sp>
      <p:sp>
        <p:nvSpPr>
          <p:cNvPr id="10" name="">
            <a:extLst xmlns:a="http://schemas.openxmlformats.org/drawingml/2006/main">
              <a:ext uri="{FF2B5EF4-FFF2-40B4-BE49-F238E27FC236}">
                <a16:creationId xmlns:a16="http://schemas.microsoft.com/office/drawing/2014/main" id="{4A1D59DA-6B57-4171-A1A7-F843EE1F3D71}"/>
              </a:ext>
            </a:extLst>
          </p:cNvPr>
          <p:cNvSpPr>
            <a:spLocks xmlns:a="http://schemas.openxmlformats.org/drawingml/2006/main" noGrp="1"/>
          </p:cNvSpPr>
          <p:nvPr/>
        </p:nvSpPr>
        <p:spPr>
          <a:xfrm xmlns:a="http://schemas.openxmlformats.org/drawingml/2006/main">
            <a:off x="952500" y="3314700"/>
            <a:ext cx="76200" cy="76200"/>
          </a:xfrm>
          <a:prstGeom xmlns:a="http://schemas.openxmlformats.org/drawingml/2006/main" prst="rect">
            <a:avLst/>
          </a:prstGeom>
          <a:solidFill xmlns:a="http://schemas.openxmlformats.org/drawingml/2006/main">
            <a:srgbClr val="000000"/>
          </a:solidFill>
          <a:ln xmlns:a="http://schemas.openxmlformats.org/drawingml/2006/main" w="0">
            <a:solidFill>
              <a:srgbClr val="000000"/>
            </a:solidFill>
            <a:prstDash val="solid"/>
          </a:ln>
        </p:spPr>
      </p:sp>
      <p:sp>
        <p:nvSpPr>
          <p:cNvPr id="11" name="">
            <a:extLst xmlns:a="http://schemas.openxmlformats.org/drawingml/2006/main">
              <a:ext uri="{FF2B5EF4-FFF2-40B4-BE49-F238E27FC236}">
                <a16:creationId xmlns:a16="http://schemas.microsoft.com/office/drawing/2014/main" id="{53023B49-AE2B-4CAF-AFD2-A561B057D5EE}"/>
              </a:ext>
            </a:extLst>
          </p:cNvPr>
          <p:cNvSpPr>
            <a:spLocks xmlns:a="http://schemas.openxmlformats.org/drawingml/2006/main" noGrp="1"/>
          </p:cNvSpPr>
          <p:nvPr/>
        </p:nvSpPr>
        <p:spPr>
          <a:xfrm xmlns:a="http://schemas.openxmlformats.org/drawingml/2006/main">
            <a:off x="1123950" y="3238500"/>
            <a:ext cx="38290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000000"/>
                </a:solidFill>
              </a:defRPr>
            </a:pPr>
            <a:r>
              <a:rPr sz="1275" b="0">
                <a:solidFill>
                  <a:srgbClr val="000000"/>
                </a:solidFill>
              </a:rPr>
              <a:t>判断规则和研判参数</a:t>
            </a:r>
          </a:p>
        </p:txBody>
      </p:sp>
      <p:sp>
        <p:nvSpPr>
          <p:cNvPr id="12" name="">
            <a:extLst xmlns:a="http://schemas.openxmlformats.org/drawingml/2006/main">
              <a:ext uri="{FF2B5EF4-FFF2-40B4-BE49-F238E27FC236}">
                <a16:creationId xmlns:a16="http://schemas.microsoft.com/office/drawing/2014/main" id="{FF0B7C49-8817-495A-A6CA-4D41E9AC21E8}"/>
              </a:ext>
            </a:extLst>
          </p:cNvPr>
          <p:cNvSpPr>
            <a:spLocks xmlns:a="http://schemas.openxmlformats.org/drawingml/2006/main" noGrp="1"/>
          </p:cNvSpPr>
          <p:nvPr/>
        </p:nvSpPr>
        <p:spPr>
          <a:xfrm xmlns:a="http://schemas.openxmlformats.org/drawingml/2006/main">
            <a:off x="952500" y="3648075"/>
            <a:ext cx="76200" cy="76200"/>
          </a:xfrm>
          <a:prstGeom xmlns:a="http://schemas.openxmlformats.org/drawingml/2006/main" prst="rect">
            <a:avLst/>
          </a:prstGeom>
          <a:solidFill xmlns:a="http://schemas.openxmlformats.org/drawingml/2006/main">
            <a:srgbClr val="000000"/>
          </a:solidFill>
          <a:ln xmlns:a="http://schemas.openxmlformats.org/drawingml/2006/main" w="0">
            <a:solidFill>
              <a:srgbClr val="000000"/>
            </a:solidFill>
            <a:prstDash val="solid"/>
          </a:ln>
        </p:spPr>
      </p:sp>
      <p:sp>
        <p:nvSpPr>
          <p:cNvPr id="13" name="">
            <a:extLst xmlns:a="http://schemas.openxmlformats.org/drawingml/2006/main">
              <a:ext uri="{FF2B5EF4-FFF2-40B4-BE49-F238E27FC236}">
                <a16:creationId xmlns:a16="http://schemas.microsoft.com/office/drawing/2014/main" id="{7D0828FD-CCB7-4D78-AC69-CF781AC7F28D}"/>
              </a:ext>
            </a:extLst>
          </p:cNvPr>
          <p:cNvSpPr>
            <a:spLocks xmlns:a="http://schemas.openxmlformats.org/drawingml/2006/main" noGrp="1"/>
          </p:cNvSpPr>
          <p:nvPr/>
        </p:nvSpPr>
        <p:spPr>
          <a:xfrm xmlns:a="http://schemas.openxmlformats.org/drawingml/2006/main">
            <a:off x="1123950" y="3571875"/>
            <a:ext cx="38290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000000"/>
                </a:solidFill>
              </a:defRPr>
            </a:pPr>
            <a:r>
              <a:rPr sz="1275" b="0">
                <a:solidFill>
                  <a:srgbClr val="000000"/>
                </a:solidFill>
              </a:rPr>
              <a:t>skills / subagent</a:t>
            </a:r>
          </a:p>
        </p:txBody>
      </p:sp>
      <p:sp>
        <p:nvSpPr>
          <p:cNvPr id="14" name="">
            <a:extLst xmlns:a="http://schemas.openxmlformats.org/drawingml/2006/main">
              <a:ext uri="{FF2B5EF4-FFF2-40B4-BE49-F238E27FC236}">
                <a16:creationId xmlns:a16="http://schemas.microsoft.com/office/drawing/2014/main" id="{CCA2A8F0-A697-4D9C-B27D-CF090B0995A7}"/>
              </a:ext>
            </a:extLst>
          </p:cNvPr>
          <p:cNvSpPr>
            <a:spLocks xmlns:a="http://schemas.openxmlformats.org/drawingml/2006/main" noGrp="1"/>
          </p:cNvSpPr>
          <p:nvPr/>
        </p:nvSpPr>
        <p:spPr>
          <a:xfrm xmlns:a="http://schemas.openxmlformats.org/drawingml/2006/main">
            <a:off x="952500" y="3981450"/>
            <a:ext cx="76200" cy="76200"/>
          </a:xfrm>
          <a:prstGeom xmlns:a="http://schemas.openxmlformats.org/drawingml/2006/main" prst="rect">
            <a:avLst/>
          </a:prstGeom>
          <a:solidFill xmlns:a="http://schemas.openxmlformats.org/drawingml/2006/main">
            <a:srgbClr val="000000"/>
          </a:solidFill>
          <a:ln xmlns:a="http://schemas.openxmlformats.org/drawingml/2006/main" w="0">
            <a:solidFill>
              <a:srgbClr val="000000"/>
            </a:solidFill>
            <a:prstDash val="solid"/>
          </a:ln>
        </p:spPr>
      </p:sp>
      <p:sp>
        <p:nvSpPr>
          <p:cNvPr id="15" name="">
            <a:extLst xmlns:a="http://schemas.openxmlformats.org/drawingml/2006/main">
              <a:ext uri="{FF2B5EF4-FFF2-40B4-BE49-F238E27FC236}">
                <a16:creationId xmlns:a16="http://schemas.microsoft.com/office/drawing/2014/main" id="{69872628-14FA-432E-9FE8-2158F6C790D5}"/>
              </a:ext>
            </a:extLst>
          </p:cNvPr>
          <p:cNvSpPr>
            <a:spLocks xmlns:a="http://schemas.openxmlformats.org/drawingml/2006/main" noGrp="1"/>
          </p:cNvSpPr>
          <p:nvPr/>
        </p:nvSpPr>
        <p:spPr>
          <a:xfrm xmlns:a="http://schemas.openxmlformats.org/drawingml/2006/main">
            <a:off x="1123950" y="3905250"/>
            <a:ext cx="38290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000000"/>
                </a:solidFill>
              </a:defRPr>
            </a:pPr>
            <a:r>
              <a:rPr sz="1275" b="0">
                <a:solidFill>
                  <a:srgbClr val="000000"/>
                </a:solidFill>
              </a:rPr>
              <a:t>应用蓝本</a:t>
            </a:r>
          </a:p>
        </p:txBody>
      </p:sp>
      <p:sp>
        <p:nvSpPr>
          <p:cNvPr id="16" name="">
            <a:extLst xmlns:a="http://schemas.openxmlformats.org/drawingml/2006/main">
              <a:ext uri="{FF2B5EF4-FFF2-40B4-BE49-F238E27FC236}">
                <a16:creationId xmlns:a16="http://schemas.microsoft.com/office/drawing/2014/main" id="{1D27DDDB-3A2B-443B-A56F-5D99297EA9DB}"/>
              </a:ext>
            </a:extLst>
          </p:cNvPr>
          <p:cNvSpPr>
            <a:spLocks xmlns:a="http://schemas.openxmlformats.org/drawingml/2006/main" noGrp="1"/>
          </p:cNvSpPr>
          <p:nvPr/>
        </p:nvSpPr>
        <p:spPr>
          <a:xfrm xmlns:a="http://schemas.openxmlformats.org/drawingml/2006/main">
            <a:off x="952500" y="4314825"/>
            <a:ext cx="76200" cy="76200"/>
          </a:xfrm>
          <a:prstGeom xmlns:a="http://schemas.openxmlformats.org/drawingml/2006/main" prst="rect">
            <a:avLst/>
          </a:prstGeom>
          <a:solidFill xmlns:a="http://schemas.openxmlformats.org/drawingml/2006/main">
            <a:srgbClr val="000000"/>
          </a:solidFill>
          <a:ln xmlns:a="http://schemas.openxmlformats.org/drawingml/2006/main" w="0">
            <a:solidFill>
              <a:srgbClr val="000000"/>
            </a:solidFill>
            <a:prstDash val="solid"/>
          </a:ln>
        </p:spPr>
      </p:sp>
      <p:sp>
        <p:nvSpPr>
          <p:cNvPr id="17" name="">
            <a:extLst xmlns:a="http://schemas.openxmlformats.org/drawingml/2006/main">
              <a:ext uri="{FF2B5EF4-FFF2-40B4-BE49-F238E27FC236}">
                <a16:creationId xmlns:a16="http://schemas.microsoft.com/office/drawing/2014/main" id="{45D59AAF-6D49-4A62-94CE-4F3F3C594173}"/>
              </a:ext>
            </a:extLst>
          </p:cNvPr>
          <p:cNvSpPr>
            <a:spLocks xmlns:a="http://schemas.openxmlformats.org/drawingml/2006/main" noGrp="1"/>
          </p:cNvSpPr>
          <p:nvPr/>
        </p:nvSpPr>
        <p:spPr>
          <a:xfrm xmlns:a="http://schemas.openxmlformats.org/drawingml/2006/main">
            <a:off x="1123950" y="4238625"/>
            <a:ext cx="38290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000000"/>
                </a:solidFill>
              </a:defRPr>
            </a:pPr>
            <a:r>
              <a:rPr sz="1275" b="0">
                <a:solidFill>
                  <a:srgbClr val="000000"/>
                </a:solidFill>
              </a:rPr>
              <a:t>验收口径</a:t>
            </a:r>
          </a:p>
        </p:txBody>
      </p:sp>
      <p:sp>
        <p:nvSpPr>
          <p:cNvPr id="18" name="">
            <a:extLst xmlns:a="http://schemas.openxmlformats.org/drawingml/2006/main">
              <a:ext uri="{FF2B5EF4-FFF2-40B4-BE49-F238E27FC236}">
                <a16:creationId xmlns:a16="http://schemas.microsoft.com/office/drawing/2014/main" id="{D754E0BE-A810-4A64-8FF8-E795F4236428}"/>
              </a:ext>
            </a:extLst>
          </p:cNvPr>
          <p:cNvSpPr>
            <a:spLocks xmlns:a="http://schemas.openxmlformats.org/drawingml/2006/main" noGrp="1"/>
          </p:cNvSpPr>
          <p:nvPr/>
        </p:nvSpPr>
        <p:spPr>
          <a:xfrm xmlns:a="http://schemas.openxmlformats.org/drawingml/2006/main">
            <a:off x="952500" y="4648200"/>
            <a:ext cx="76200" cy="76200"/>
          </a:xfrm>
          <a:prstGeom xmlns:a="http://schemas.openxmlformats.org/drawingml/2006/main" prst="rect">
            <a:avLst/>
          </a:prstGeom>
          <a:solidFill xmlns:a="http://schemas.openxmlformats.org/drawingml/2006/main">
            <a:srgbClr val="000000"/>
          </a:solidFill>
          <a:ln xmlns:a="http://schemas.openxmlformats.org/drawingml/2006/main" w="0">
            <a:solidFill>
              <a:srgbClr val="000000"/>
            </a:solidFill>
            <a:prstDash val="solid"/>
          </a:ln>
        </p:spPr>
      </p:sp>
      <p:sp>
        <p:nvSpPr>
          <p:cNvPr id="19" name="">
            <a:extLst xmlns:a="http://schemas.openxmlformats.org/drawingml/2006/main">
              <a:ext uri="{FF2B5EF4-FFF2-40B4-BE49-F238E27FC236}">
                <a16:creationId xmlns:a16="http://schemas.microsoft.com/office/drawing/2014/main" id="{35F12B6A-7B72-41F8-842E-7E8679F79272}"/>
              </a:ext>
            </a:extLst>
          </p:cNvPr>
          <p:cNvSpPr>
            <a:spLocks xmlns:a="http://schemas.openxmlformats.org/drawingml/2006/main" noGrp="1"/>
          </p:cNvSpPr>
          <p:nvPr/>
        </p:nvSpPr>
        <p:spPr>
          <a:xfrm xmlns:a="http://schemas.openxmlformats.org/drawingml/2006/main">
            <a:off x="1123950" y="4572000"/>
            <a:ext cx="38290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000000"/>
                </a:solidFill>
              </a:defRPr>
            </a:pPr>
            <a:r>
              <a:rPr sz="1275" b="0">
                <a:solidFill>
                  <a:srgbClr val="000000"/>
                </a:solidFill>
              </a:rPr>
              <a:t>可观测指标</a:t>
            </a:r>
          </a:p>
        </p:txBody>
      </p:sp>
      <p:sp>
        <p:nvSpPr>
          <p:cNvPr id="20" name="">
            <a:extLst xmlns:a="http://schemas.openxmlformats.org/drawingml/2006/main">
              <a:ext uri="{FF2B5EF4-FFF2-40B4-BE49-F238E27FC236}">
                <a16:creationId xmlns:a16="http://schemas.microsoft.com/office/drawing/2014/main" id="{F54533C9-29FB-4714-85EC-747FF479BD8A}"/>
              </a:ext>
            </a:extLst>
          </p:cNvPr>
          <p:cNvSpPr>
            <a:spLocks xmlns:a="http://schemas.openxmlformats.org/drawingml/2006/main" noGrp="1"/>
          </p:cNvSpPr>
          <p:nvPr/>
        </p:nvSpPr>
        <p:spPr>
          <a:xfrm xmlns:a="http://schemas.openxmlformats.org/drawingml/2006/main">
            <a:off x="6381750" y="1809750"/>
            <a:ext cx="4953000" cy="3429000"/>
          </a:xfrm>
          <a:prstGeom xmlns:a="http://schemas.openxmlformats.org/drawingml/2006/main" prst="rect">
            <a:avLst/>
          </a:prstGeom>
          <a:solidFill xmlns:a="http://schemas.openxmlformats.org/drawingml/2006/main">
            <a:srgbClr val="F6F6F6"/>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755857AC-E65A-4FA7-9404-2CF1A4A3C4F7}"/>
              </a:ext>
            </a:extLst>
          </p:cNvPr>
          <p:cNvSpPr>
            <a:spLocks xmlns:a="http://schemas.openxmlformats.org/drawingml/2006/main" noGrp="1"/>
          </p:cNvSpPr>
          <p:nvPr/>
        </p:nvSpPr>
        <p:spPr>
          <a:xfrm xmlns:a="http://schemas.openxmlformats.org/drawingml/2006/main">
            <a:off x="6667500" y="2095500"/>
            <a:ext cx="190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FF6B35"/>
                </a:solidFill>
              </a:defRPr>
            </a:pPr>
            <a:r>
              <a:rPr sz="1125" b="1">
                <a:solidFill>
                  <a:srgbClr val="FF6B35"/>
                </a:solidFill>
              </a:rPr>
              <a:t>云产品交互场景</a:t>
            </a:r>
          </a:p>
        </p:txBody>
      </p:sp>
      <p:sp>
        <p:nvSpPr>
          <p:cNvPr id="22" name="">
            <a:extLst xmlns:a="http://schemas.openxmlformats.org/drawingml/2006/main">
              <a:ext uri="{FF2B5EF4-FFF2-40B4-BE49-F238E27FC236}">
                <a16:creationId xmlns:a16="http://schemas.microsoft.com/office/drawing/2014/main" id="{478A7F1B-A2C3-4FD3-AD44-49BE50F4FBE7}"/>
              </a:ext>
            </a:extLst>
          </p:cNvPr>
          <p:cNvSpPr>
            <a:spLocks xmlns:a="http://schemas.openxmlformats.org/drawingml/2006/main" noGrp="1"/>
          </p:cNvSpPr>
          <p:nvPr/>
        </p:nvSpPr>
        <p:spPr>
          <a:xfrm xmlns:a="http://schemas.openxmlformats.org/drawingml/2006/main">
            <a:off x="6667500" y="2647950"/>
            <a:ext cx="76200" cy="76200"/>
          </a:xfrm>
          <a:prstGeom xmlns:a="http://schemas.openxmlformats.org/drawingml/2006/main" prst="rect">
            <a:avLst/>
          </a:prstGeom>
          <a:solidFill xmlns:a="http://schemas.openxmlformats.org/drawingml/2006/main">
            <a:srgbClr val="000000"/>
          </a:solidFill>
          <a:ln xmlns:a="http://schemas.openxmlformats.org/drawingml/2006/main" w="0">
            <a:solidFill>
              <a:srgbClr val="000000"/>
            </a:solidFill>
            <a:prstDash val="solid"/>
          </a:ln>
        </p:spPr>
      </p:sp>
      <p:sp>
        <p:nvSpPr>
          <p:cNvPr id="23" name="">
            <a:extLst xmlns:a="http://schemas.openxmlformats.org/drawingml/2006/main">
              <a:ext uri="{FF2B5EF4-FFF2-40B4-BE49-F238E27FC236}">
                <a16:creationId xmlns:a16="http://schemas.microsoft.com/office/drawing/2014/main" id="{01DF44E9-2034-4027-B236-6B906D3565C2}"/>
              </a:ext>
            </a:extLst>
          </p:cNvPr>
          <p:cNvSpPr>
            <a:spLocks xmlns:a="http://schemas.openxmlformats.org/drawingml/2006/main" noGrp="1"/>
          </p:cNvSpPr>
          <p:nvPr/>
        </p:nvSpPr>
        <p:spPr>
          <a:xfrm xmlns:a="http://schemas.openxmlformats.org/drawingml/2006/main">
            <a:off x="6838950" y="2571750"/>
            <a:ext cx="3829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000000"/>
                </a:solidFill>
              </a:defRPr>
            </a:pPr>
            <a:r>
              <a:rPr sz="1350" b="0">
                <a:solidFill>
                  <a:srgbClr val="000000"/>
                </a:solidFill>
              </a:rPr>
              <a:t>DevOps</a:t>
            </a:r>
          </a:p>
        </p:txBody>
      </p:sp>
      <p:sp>
        <p:nvSpPr>
          <p:cNvPr id="24" name="">
            <a:extLst xmlns:a="http://schemas.openxmlformats.org/drawingml/2006/main">
              <a:ext uri="{FF2B5EF4-FFF2-40B4-BE49-F238E27FC236}">
                <a16:creationId xmlns:a16="http://schemas.microsoft.com/office/drawing/2014/main" id="{6B9B2F51-EE2C-497D-BFC1-EA63EED8CE3A}"/>
              </a:ext>
            </a:extLst>
          </p:cNvPr>
          <p:cNvSpPr>
            <a:spLocks xmlns:a="http://schemas.openxmlformats.org/drawingml/2006/main" noGrp="1"/>
          </p:cNvSpPr>
          <p:nvPr/>
        </p:nvSpPr>
        <p:spPr>
          <a:xfrm xmlns:a="http://schemas.openxmlformats.org/drawingml/2006/main">
            <a:off x="6838950" y="2809875"/>
            <a:ext cx="3829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555555"/>
                </a:solidFill>
              </a:defRPr>
            </a:pPr>
            <a:r>
              <a:rPr sz="1050" b="0">
                <a:solidFill>
                  <a:srgbClr val="555555"/>
                </a:solidFill>
              </a:rPr>
              <a:t>需求、任务、代码仓库、流水线、制品、部署记录</a:t>
            </a:r>
          </a:p>
        </p:txBody>
      </p:sp>
      <p:sp>
        <p:nvSpPr>
          <p:cNvPr id="25" name="">
            <a:extLst xmlns:a="http://schemas.openxmlformats.org/drawingml/2006/main">
              <a:ext uri="{FF2B5EF4-FFF2-40B4-BE49-F238E27FC236}">
                <a16:creationId xmlns:a16="http://schemas.microsoft.com/office/drawing/2014/main" id="{73DD2F2F-3E11-4043-BCA0-A983410EA15F}"/>
              </a:ext>
            </a:extLst>
          </p:cNvPr>
          <p:cNvSpPr>
            <a:spLocks xmlns:a="http://schemas.openxmlformats.org/drawingml/2006/main" noGrp="1"/>
          </p:cNvSpPr>
          <p:nvPr/>
        </p:nvSpPr>
        <p:spPr>
          <a:xfrm xmlns:a="http://schemas.openxmlformats.org/drawingml/2006/main">
            <a:off x="6667500" y="3228975"/>
            <a:ext cx="76200" cy="76200"/>
          </a:xfrm>
          <a:prstGeom xmlns:a="http://schemas.openxmlformats.org/drawingml/2006/main" prst="rect">
            <a:avLst/>
          </a:prstGeom>
          <a:solidFill xmlns:a="http://schemas.openxmlformats.org/drawingml/2006/main">
            <a:srgbClr val="000000"/>
          </a:solidFill>
          <a:ln xmlns:a="http://schemas.openxmlformats.org/drawingml/2006/main" w="0">
            <a:solidFill>
              <a:srgbClr val="000000"/>
            </a:solidFill>
            <a:prstDash val="solid"/>
          </a:ln>
        </p:spPr>
      </p:sp>
      <p:sp>
        <p:nvSpPr>
          <p:cNvPr id="26" name="">
            <a:extLst xmlns:a="http://schemas.openxmlformats.org/drawingml/2006/main">
              <a:ext uri="{FF2B5EF4-FFF2-40B4-BE49-F238E27FC236}">
                <a16:creationId xmlns:a16="http://schemas.microsoft.com/office/drawing/2014/main" id="{544F0CB7-52AD-4AF8-9F86-5788369DEF9D}"/>
              </a:ext>
            </a:extLst>
          </p:cNvPr>
          <p:cNvSpPr>
            <a:spLocks xmlns:a="http://schemas.openxmlformats.org/drawingml/2006/main" noGrp="1"/>
          </p:cNvSpPr>
          <p:nvPr/>
        </p:nvSpPr>
        <p:spPr>
          <a:xfrm xmlns:a="http://schemas.openxmlformats.org/drawingml/2006/main">
            <a:off x="6838950" y="3152775"/>
            <a:ext cx="3829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000000"/>
                </a:solidFill>
              </a:defRPr>
            </a:pPr>
            <a:r>
              <a:rPr sz="1350" b="0">
                <a:solidFill>
                  <a:srgbClr val="000000"/>
                </a:solidFill>
              </a:rPr>
              <a:t>低代码</a:t>
            </a:r>
          </a:p>
        </p:txBody>
      </p:sp>
      <p:sp>
        <p:nvSpPr>
          <p:cNvPr id="27" name="">
            <a:extLst xmlns:a="http://schemas.openxmlformats.org/drawingml/2006/main">
              <a:ext uri="{FF2B5EF4-FFF2-40B4-BE49-F238E27FC236}">
                <a16:creationId xmlns:a16="http://schemas.microsoft.com/office/drawing/2014/main" id="{9522A0B7-ABD3-4180-8A54-972A9EB03263}"/>
              </a:ext>
            </a:extLst>
          </p:cNvPr>
          <p:cNvSpPr>
            <a:spLocks xmlns:a="http://schemas.openxmlformats.org/drawingml/2006/main" noGrp="1"/>
          </p:cNvSpPr>
          <p:nvPr/>
        </p:nvSpPr>
        <p:spPr>
          <a:xfrm xmlns:a="http://schemas.openxmlformats.org/drawingml/2006/main">
            <a:off x="6838950" y="3390900"/>
            <a:ext cx="3829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555555"/>
                </a:solidFill>
              </a:defRPr>
            </a:pPr>
            <a:r>
              <a:rPr sz="1050" b="0">
                <a:solidFill>
                  <a:srgbClr val="555555"/>
                </a:solidFill>
              </a:rPr>
              <a:t>表单、流程、报表、管理页面</a:t>
            </a:r>
          </a:p>
        </p:txBody>
      </p:sp>
      <p:sp>
        <p:nvSpPr>
          <p:cNvPr id="28" name="">
            <a:extLst xmlns:a="http://schemas.openxmlformats.org/drawingml/2006/main">
              <a:ext uri="{FF2B5EF4-FFF2-40B4-BE49-F238E27FC236}">
                <a16:creationId xmlns:a16="http://schemas.microsoft.com/office/drawing/2014/main" id="{998E06CA-51D0-4D84-8702-615C0EF93D30}"/>
              </a:ext>
            </a:extLst>
          </p:cNvPr>
          <p:cNvSpPr>
            <a:spLocks xmlns:a="http://schemas.openxmlformats.org/drawingml/2006/main" noGrp="1"/>
          </p:cNvSpPr>
          <p:nvPr/>
        </p:nvSpPr>
        <p:spPr>
          <a:xfrm xmlns:a="http://schemas.openxmlformats.org/drawingml/2006/main">
            <a:off x="6667500" y="3810000"/>
            <a:ext cx="76200" cy="76200"/>
          </a:xfrm>
          <a:prstGeom xmlns:a="http://schemas.openxmlformats.org/drawingml/2006/main" prst="rect">
            <a:avLst/>
          </a:prstGeom>
          <a:solidFill xmlns:a="http://schemas.openxmlformats.org/drawingml/2006/main">
            <a:srgbClr val="000000"/>
          </a:solidFill>
          <a:ln xmlns:a="http://schemas.openxmlformats.org/drawingml/2006/main" w="0">
            <a:solidFill>
              <a:srgbClr val="000000"/>
            </a:solidFill>
            <a:prstDash val="solid"/>
          </a:ln>
        </p:spPr>
      </p:sp>
      <p:sp>
        <p:nvSpPr>
          <p:cNvPr id="29" name="">
            <a:extLst xmlns:a="http://schemas.openxmlformats.org/drawingml/2006/main">
              <a:ext uri="{FF2B5EF4-FFF2-40B4-BE49-F238E27FC236}">
                <a16:creationId xmlns:a16="http://schemas.microsoft.com/office/drawing/2014/main" id="{D81919C1-0638-4264-BBDE-FFC26FCFD236}"/>
              </a:ext>
            </a:extLst>
          </p:cNvPr>
          <p:cNvSpPr>
            <a:spLocks xmlns:a="http://schemas.openxmlformats.org/drawingml/2006/main" noGrp="1"/>
          </p:cNvSpPr>
          <p:nvPr/>
        </p:nvSpPr>
        <p:spPr>
          <a:xfrm xmlns:a="http://schemas.openxmlformats.org/drawingml/2006/main">
            <a:off x="6838950" y="3733800"/>
            <a:ext cx="3829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000000"/>
                </a:solidFill>
              </a:defRPr>
            </a:pPr>
            <a:r>
              <a:rPr sz="1350" b="0">
                <a:solidFill>
                  <a:srgbClr val="000000"/>
                </a:solidFill>
              </a:rPr>
              <a:t>微服务 / 网关</a:t>
            </a:r>
          </a:p>
        </p:txBody>
      </p:sp>
      <p:sp>
        <p:nvSpPr>
          <p:cNvPr id="30" name="">
            <a:extLst xmlns:a="http://schemas.openxmlformats.org/drawingml/2006/main">
              <a:ext uri="{FF2B5EF4-FFF2-40B4-BE49-F238E27FC236}">
                <a16:creationId xmlns:a16="http://schemas.microsoft.com/office/drawing/2014/main" id="{9857C76D-F821-452E-BEA1-B509BCA3E5C6}"/>
              </a:ext>
            </a:extLst>
          </p:cNvPr>
          <p:cNvSpPr>
            <a:spLocks xmlns:a="http://schemas.openxmlformats.org/drawingml/2006/main" noGrp="1"/>
          </p:cNvSpPr>
          <p:nvPr/>
        </p:nvSpPr>
        <p:spPr>
          <a:xfrm xmlns:a="http://schemas.openxmlformats.org/drawingml/2006/main">
            <a:off x="6838950" y="3971925"/>
            <a:ext cx="3829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555555"/>
                </a:solidFill>
              </a:defRPr>
            </a:pPr>
            <a:r>
              <a:rPr sz="1050" b="0">
                <a:solidFill>
                  <a:srgbClr val="555555"/>
                </a:solidFill>
              </a:rPr>
              <a:t>服务治理、API 暴露、鉴权、限流和路由</a:t>
            </a:r>
          </a:p>
        </p:txBody>
      </p:sp>
      <p:sp>
        <p:nvSpPr>
          <p:cNvPr id="31" name="">
            <a:extLst xmlns:a="http://schemas.openxmlformats.org/drawingml/2006/main">
              <a:ext uri="{FF2B5EF4-FFF2-40B4-BE49-F238E27FC236}">
                <a16:creationId xmlns:a16="http://schemas.microsoft.com/office/drawing/2014/main" id="{AFD33EF6-6133-44E2-9E11-69618CE289BA}"/>
              </a:ext>
            </a:extLst>
          </p:cNvPr>
          <p:cNvSpPr>
            <a:spLocks xmlns:a="http://schemas.openxmlformats.org/drawingml/2006/main" noGrp="1"/>
          </p:cNvSpPr>
          <p:nvPr/>
        </p:nvSpPr>
        <p:spPr>
          <a:xfrm xmlns:a="http://schemas.openxmlformats.org/drawingml/2006/main">
            <a:off x="6667500" y="4391025"/>
            <a:ext cx="76200" cy="76200"/>
          </a:xfrm>
          <a:prstGeom xmlns:a="http://schemas.openxmlformats.org/drawingml/2006/main" prst="rect">
            <a:avLst/>
          </a:prstGeom>
          <a:solidFill xmlns:a="http://schemas.openxmlformats.org/drawingml/2006/main">
            <a:srgbClr val="000000"/>
          </a:solidFill>
          <a:ln xmlns:a="http://schemas.openxmlformats.org/drawingml/2006/main" w="0">
            <a:solidFill>
              <a:srgbClr val="000000"/>
            </a:solidFill>
            <a:prstDash val="solid"/>
          </a:ln>
        </p:spPr>
      </p:sp>
      <p:sp>
        <p:nvSpPr>
          <p:cNvPr id="32" name="">
            <a:extLst xmlns:a="http://schemas.openxmlformats.org/drawingml/2006/main">
              <a:ext uri="{FF2B5EF4-FFF2-40B4-BE49-F238E27FC236}">
                <a16:creationId xmlns:a16="http://schemas.microsoft.com/office/drawing/2014/main" id="{F536B12C-69A5-4D50-8A1F-8152625171F3}"/>
              </a:ext>
            </a:extLst>
          </p:cNvPr>
          <p:cNvSpPr>
            <a:spLocks xmlns:a="http://schemas.openxmlformats.org/drawingml/2006/main" noGrp="1"/>
          </p:cNvSpPr>
          <p:nvPr/>
        </p:nvSpPr>
        <p:spPr>
          <a:xfrm xmlns:a="http://schemas.openxmlformats.org/drawingml/2006/main">
            <a:off x="6838950" y="4314825"/>
            <a:ext cx="3829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000000"/>
                </a:solidFill>
              </a:defRPr>
            </a:pPr>
            <a:r>
              <a:rPr sz="1350" b="0">
                <a:solidFill>
                  <a:srgbClr val="000000"/>
                </a:solidFill>
              </a:rPr>
              <a:t>观测</a:t>
            </a:r>
          </a:p>
        </p:txBody>
      </p:sp>
      <p:sp>
        <p:nvSpPr>
          <p:cNvPr id="33" name="">
            <a:extLst xmlns:a="http://schemas.openxmlformats.org/drawingml/2006/main">
              <a:ext uri="{FF2B5EF4-FFF2-40B4-BE49-F238E27FC236}">
                <a16:creationId xmlns:a16="http://schemas.microsoft.com/office/drawing/2014/main" id="{80E62D4B-8DA7-43C3-A1BE-3C9A3187ECFF}"/>
              </a:ext>
            </a:extLst>
          </p:cNvPr>
          <p:cNvSpPr>
            <a:spLocks xmlns:a="http://schemas.openxmlformats.org/drawingml/2006/main" noGrp="1"/>
          </p:cNvSpPr>
          <p:nvPr/>
        </p:nvSpPr>
        <p:spPr>
          <a:xfrm xmlns:a="http://schemas.openxmlformats.org/drawingml/2006/main">
            <a:off x="6838950" y="4552950"/>
            <a:ext cx="3829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555555"/>
                </a:solidFill>
              </a:defRPr>
            </a:pPr>
            <a:r>
              <a:rPr sz="1050" b="0">
                <a:solidFill>
                  <a:srgbClr val="555555"/>
                </a:solidFill>
              </a:rPr>
              <a:t>日志、指标、链路追踪、告警和质量看板</a:t>
            </a:r>
          </a:p>
        </p:txBody>
      </p:sp>
      <p:sp>
        <p:nvSpPr>
          <p:cNvPr id="34" name="">
            <a:extLst xmlns:a="http://schemas.openxmlformats.org/drawingml/2006/main">
              <a:ext uri="{FF2B5EF4-FFF2-40B4-BE49-F238E27FC236}">
                <a16:creationId xmlns:a16="http://schemas.microsoft.com/office/drawing/2014/main" id="{60950271-A1D8-4A0C-BFD5-55DEC1A2FAD9}"/>
              </a:ext>
            </a:extLst>
          </p:cNvPr>
          <p:cNvSpPr>
            <a:spLocks xmlns:a="http://schemas.openxmlformats.org/drawingml/2006/main" noGrp="1"/>
          </p:cNvSpPr>
          <p:nvPr/>
        </p:nvSpPr>
        <p:spPr>
          <a:xfrm xmlns:a="http://schemas.openxmlformats.org/drawingml/2006/main">
            <a:off x="666750" y="5572125"/>
            <a:ext cx="9525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0000"/>
                </a:solidFill>
              </a:defRPr>
            </a:pPr>
            <a:r>
              <a:rPr sz="1650" b="1">
                <a:solidFill>
                  <a:srgbClr val="000000"/>
                </a:solidFill>
              </a:rPr>
              <a:t>云产品不是被 AI 包装，而是 agent 可以调用、写入、消费、治理和观测的能力底座。</a:t>
            </a:r>
          </a:p>
        </p:txBody>
      </p:sp>
      <p:sp>
        <p:nvSpPr>
          <p:cNvPr id="35" name="">
            <a:extLst xmlns:a="http://schemas.openxmlformats.org/drawingml/2006/main">
              <a:ext uri="{FF2B5EF4-FFF2-40B4-BE49-F238E27FC236}">
                <a16:creationId xmlns:a16="http://schemas.microsoft.com/office/drawing/2014/main" id="{16FED94A-D09B-4011-B7B8-07F19125A9DB}"/>
              </a:ext>
            </a:extLst>
          </p:cNvPr>
          <p:cNvSpPr>
            <a:spLocks xmlns:a="http://schemas.openxmlformats.org/drawingml/2006/main" noGrp="1"/>
          </p:cNvSpPr>
          <p:nvPr/>
        </p:nvSpPr>
        <p:spPr>
          <a:xfrm xmlns:a="http://schemas.openxmlformats.org/drawingml/2006/main">
            <a:off x="514350" y="63817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555555"/>
                </a:solidFill>
              </a:defRPr>
            </a:pPr>
            <a:r>
              <a:rPr sz="1050" b="0">
                <a:solidFill>
                  <a:srgbClr val="555555"/>
                </a:solidFill>
              </a:rPr>
              <a:t>西安 630 项目软件工厂复盘</a:t>
            </a:r>
          </a:p>
        </p:txBody>
      </p:sp>
      <p:sp>
        <p:nvSpPr>
          <p:cNvPr id="36" name="">
            <a:extLst xmlns:a="http://schemas.openxmlformats.org/drawingml/2006/main">
              <a:ext uri="{FF2B5EF4-FFF2-40B4-BE49-F238E27FC236}">
                <a16:creationId xmlns:a16="http://schemas.microsoft.com/office/drawing/2014/main" id="{53FA1AB7-886F-40B4-8123-B3AB95B3488B}"/>
              </a:ext>
            </a:extLst>
          </p:cNvPr>
          <p:cNvSpPr>
            <a:spLocks xmlns:a="http://schemas.openxmlformats.org/drawingml/2006/main" noGrp="1"/>
          </p:cNvSpPr>
          <p:nvPr/>
        </p:nvSpPr>
        <p:spPr>
          <a:xfrm xmlns:a="http://schemas.openxmlformats.org/drawingml/2006/main">
            <a:off x="11287125" y="6381750"/>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a:solidFill>
                  <a:srgbClr val="555555"/>
                </a:solidFill>
              </a:defRPr>
            </a:pPr>
            <a:r>
              <a:rPr sz="1050" b="1">
                <a:solidFill>
                  <a:srgbClr val="555555"/>
                </a:solidFill>
              </a:rPr>
              <a:t>08</a:t>
            </a:r>
          </a:p>
        </p:txBody>
      </p:sp>
    </p:spTree>
    <p:extLst>
      <p:ext uri="{BB962C8B-B14F-4D97-AF65-F5344CB8AC3E}">
        <p14:creationId xmlns:p14="http://schemas.microsoft.com/office/powerpoint/2010/main" val="164924174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3F08F42-C31E-44E5-AAAC-C879BE893546}"/>
              </a:ext>
            </a:extLst>
          </p:cNvPr>
          <p:cNvSpPr>
            <a:spLocks xmlns:a="http://schemas.openxmlformats.org/drawingml/2006/main" noGrp="1"/>
          </p:cNvSpPr>
          <p:nvPr/>
        </p:nvSpPr>
        <p:spPr>
          <a:xfrm xmlns:a="http://schemas.openxmlformats.org/drawingml/2006/main">
            <a:off x="514350" y="381000"/>
            <a:ext cx="10001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00000"/>
                </a:solidFill>
              </a:defRPr>
            </a:pPr>
            <a:r>
              <a:rPr sz="2850" b="1">
                <a:solidFill>
                  <a:srgbClr val="000000"/>
                </a:solidFill>
              </a:rPr>
              <a:t>先打通 DevOps，同时守住数据链路边界</a:t>
            </a:r>
          </a:p>
        </p:txBody>
      </p:sp>
      <p:sp>
        <p:nvSpPr>
          <p:cNvPr id="2" name="">
            <a:extLst xmlns:a="http://schemas.openxmlformats.org/drawingml/2006/main">
              <a:ext uri="{FF2B5EF4-FFF2-40B4-BE49-F238E27FC236}">
                <a16:creationId xmlns:a16="http://schemas.microsoft.com/office/drawing/2014/main" id="{2B0515BC-53C3-457E-AE64-D482D6694576}"/>
              </a:ext>
            </a:extLst>
          </p:cNvPr>
          <p:cNvSpPr>
            <a:spLocks xmlns:a="http://schemas.openxmlformats.org/drawingml/2006/main" noGrp="1"/>
          </p:cNvSpPr>
          <p:nvPr/>
        </p:nvSpPr>
        <p:spPr>
          <a:xfrm xmlns:a="http://schemas.openxmlformats.org/drawingml/2006/main">
            <a:off x="514350" y="990600"/>
            <a:ext cx="876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555555"/>
                </a:solidFill>
              </a:defRPr>
            </a:pPr>
            <a:r>
              <a:rPr sz="1350" b="0">
                <a:solidFill>
                  <a:srgbClr val="555555"/>
                </a:solidFill>
              </a:rPr>
              <a:t>DevOps 证明 agent 进入软件生产主链路；数据边界防止职责失控。</a:t>
            </a:r>
          </a:p>
        </p:txBody>
      </p:sp>
      <p:sp>
        <p:nvSpPr>
          <p:cNvPr id="3" name="">
            <a:extLst xmlns:a="http://schemas.openxmlformats.org/drawingml/2006/main">
              <a:ext uri="{FF2B5EF4-FFF2-40B4-BE49-F238E27FC236}">
                <a16:creationId xmlns:a16="http://schemas.microsoft.com/office/drawing/2014/main" id="{206FF516-DC05-45D3-9828-4F1DA90CE3F3}"/>
              </a:ext>
            </a:extLst>
          </p:cNvPr>
          <p:cNvSpPr>
            <a:spLocks xmlns:a="http://schemas.openxmlformats.org/drawingml/2006/main" noGrp="1"/>
          </p:cNvSpPr>
          <p:nvPr/>
        </p:nvSpPr>
        <p:spPr>
          <a:xfrm xmlns:a="http://schemas.openxmlformats.org/drawingml/2006/main">
            <a:off x="514350" y="1428750"/>
            <a:ext cx="111633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4" name="">
            <a:extLst xmlns:a="http://schemas.openxmlformats.org/drawingml/2006/main">
              <a:ext uri="{FF2B5EF4-FFF2-40B4-BE49-F238E27FC236}">
                <a16:creationId xmlns:a16="http://schemas.microsoft.com/office/drawing/2014/main" id="{82F8F912-01C8-4CC9-8756-4502DCA77A3E}"/>
              </a:ext>
            </a:extLst>
          </p:cNvPr>
          <p:cNvSpPr>
            <a:spLocks xmlns:a="http://schemas.openxmlformats.org/drawingml/2006/main" noGrp="1"/>
          </p:cNvSpPr>
          <p:nvPr/>
        </p:nvSpPr>
        <p:spPr>
          <a:xfrm xmlns:a="http://schemas.openxmlformats.org/drawingml/2006/main">
            <a:off x="685800" y="1905000"/>
            <a:ext cx="1333500" cy="742950"/>
          </a:xfrm>
          <a:prstGeom xmlns:a="http://schemas.openxmlformats.org/drawingml/2006/main" prst="rect">
            <a:avLst/>
          </a:prstGeom>
          <a:solidFill xmlns:a="http://schemas.openxmlformats.org/drawingml/2006/main">
            <a:srgbClr val="FFF4EF"/>
          </a:solidFill>
          <a:ln xmlns:a="http://schemas.openxmlformats.org/drawingml/2006/main" w="9525">
            <a:solidFill>
              <a:srgbClr val="FF6B35"/>
            </a:solidFill>
            <a:prstDash val="solid"/>
          </a:ln>
        </p:spPr>
      </p:sp>
      <p:sp>
        <p:nvSpPr>
          <p:cNvPr id="5" name="">
            <a:extLst xmlns:a="http://schemas.openxmlformats.org/drawingml/2006/main">
              <a:ext uri="{FF2B5EF4-FFF2-40B4-BE49-F238E27FC236}">
                <a16:creationId xmlns:a16="http://schemas.microsoft.com/office/drawing/2014/main" id="{D49A8521-3491-4EC4-ADBA-50D7DCEF498D}"/>
              </a:ext>
            </a:extLst>
          </p:cNvPr>
          <p:cNvSpPr>
            <a:spLocks xmlns:a="http://schemas.openxmlformats.org/drawingml/2006/main" noGrp="1"/>
          </p:cNvSpPr>
          <p:nvPr/>
        </p:nvSpPr>
        <p:spPr>
          <a:xfrm xmlns:a="http://schemas.openxmlformats.org/drawingml/2006/main">
            <a:off x="819150" y="2143125"/>
            <a:ext cx="1066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a:solidFill>
                  <a:srgbClr val="000000"/>
                </a:solidFill>
              </a:defRPr>
            </a:pPr>
            <a:r>
              <a:rPr sz="1425" b="1">
                <a:solidFill>
                  <a:srgbClr val="000000"/>
                </a:solidFill>
              </a:rPr>
              <a:t>需求项</a:t>
            </a:r>
          </a:p>
        </p:txBody>
      </p:sp>
      <p:sp>
        <p:nvSpPr>
          <p:cNvPr id="6" name="">
            <a:extLst xmlns:a="http://schemas.openxmlformats.org/drawingml/2006/main">
              <a:ext uri="{FF2B5EF4-FFF2-40B4-BE49-F238E27FC236}">
                <a16:creationId xmlns:a16="http://schemas.microsoft.com/office/drawing/2014/main" id="{484D5274-4445-44DF-97C5-457F39AC1C4F}"/>
              </a:ext>
            </a:extLst>
          </p:cNvPr>
          <p:cNvSpPr>
            <a:spLocks xmlns:a="http://schemas.openxmlformats.org/drawingml/2006/main" noGrp="1"/>
          </p:cNvSpPr>
          <p:nvPr/>
        </p:nvSpPr>
        <p:spPr>
          <a:xfrm xmlns:a="http://schemas.openxmlformats.org/drawingml/2006/main">
            <a:off x="2066925" y="2095500"/>
            <a:ext cx="342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100" b="0">
                <a:solidFill>
                  <a:srgbClr val="555555"/>
                </a:solidFill>
              </a:defRPr>
            </a:pPr>
            <a:r>
              <a:rPr sz="2100" b="0">
                <a:solidFill>
                  <a:srgbClr val="555555"/>
                </a:solidFill>
              </a:rPr>
              <a:t>→</a:t>
            </a:r>
          </a:p>
        </p:txBody>
      </p:sp>
      <p:sp>
        <p:nvSpPr>
          <p:cNvPr id="7" name="">
            <a:extLst xmlns:a="http://schemas.openxmlformats.org/drawingml/2006/main">
              <a:ext uri="{FF2B5EF4-FFF2-40B4-BE49-F238E27FC236}">
                <a16:creationId xmlns:a16="http://schemas.microsoft.com/office/drawing/2014/main" id="{8D96E94E-67AC-4920-8F46-660345D564E9}"/>
              </a:ext>
            </a:extLst>
          </p:cNvPr>
          <p:cNvSpPr>
            <a:spLocks xmlns:a="http://schemas.openxmlformats.org/drawingml/2006/main" noGrp="1"/>
          </p:cNvSpPr>
          <p:nvPr/>
        </p:nvSpPr>
        <p:spPr>
          <a:xfrm xmlns:a="http://schemas.openxmlformats.org/drawingml/2006/main">
            <a:off x="2476500" y="1905000"/>
            <a:ext cx="1333500" cy="742950"/>
          </a:xfrm>
          <a:prstGeom xmlns:a="http://schemas.openxmlformats.org/drawingml/2006/main" prst="rect">
            <a:avLst/>
          </a:prstGeom>
          <a:solidFill xmlns:a="http://schemas.openxmlformats.org/drawingml/2006/main">
            <a:srgbClr val="F6F6F6"/>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95021DFA-824D-4D5C-8F2D-AA65E22E423B}"/>
              </a:ext>
            </a:extLst>
          </p:cNvPr>
          <p:cNvSpPr>
            <a:spLocks xmlns:a="http://schemas.openxmlformats.org/drawingml/2006/main" noGrp="1"/>
          </p:cNvSpPr>
          <p:nvPr/>
        </p:nvSpPr>
        <p:spPr>
          <a:xfrm xmlns:a="http://schemas.openxmlformats.org/drawingml/2006/main">
            <a:off x="2609850" y="2143125"/>
            <a:ext cx="1066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a:solidFill>
                  <a:srgbClr val="000000"/>
                </a:solidFill>
              </a:defRPr>
            </a:pPr>
            <a:r>
              <a:rPr sz="1425" b="1">
                <a:solidFill>
                  <a:srgbClr val="000000"/>
                </a:solidFill>
              </a:rPr>
              <a:t>测试用例</a:t>
            </a:r>
          </a:p>
        </p:txBody>
      </p:sp>
      <p:sp>
        <p:nvSpPr>
          <p:cNvPr id="9" name="">
            <a:extLst xmlns:a="http://schemas.openxmlformats.org/drawingml/2006/main">
              <a:ext uri="{FF2B5EF4-FFF2-40B4-BE49-F238E27FC236}">
                <a16:creationId xmlns:a16="http://schemas.microsoft.com/office/drawing/2014/main" id="{A29A3B2A-BE05-4A67-87A4-2DF991304D27}"/>
              </a:ext>
            </a:extLst>
          </p:cNvPr>
          <p:cNvSpPr>
            <a:spLocks xmlns:a="http://schemas.openxmlformats.org/drawingml/2006/main" noGrp="1"/>
          </p:cNvSpPr>
          <p:nvPr/>
        </p:nvSpPr>
        <p:spPr>
          <a:xfrm xmlns:a="http://schemas.openxmlformats.org/drawingml/2006/main">
            <a:off x="3857625" y="2095500"/>
            <a:ext cx="342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100" b="0">
                <a:solidFill>
                  <a:srgbClr val="555555"/>
                </a:solidFill>
              </a:defRPr>
            </a:pPr>
            <a:r>
              <a:rPr sz="2100" b="0">
                <a:solidFill>
                  <a:srgbClr val="555555"/>
                </a:solidFill>
              </a:rPr>
              <a:t>→</a:t>
            </a:r>
          </a:p>
        </p:txBody>
      </p:sp>
      <p:sp>
        <p:nvSpPr>
          <p:cNvPr id="10" name="">
            <a:extLst xmlns:a="http://schemas.openxmlformats.org/drawingml/2006/main">
              <a:ext uri="{FF2B5EF4-FFF2-40B4-BE49-F238E27FC236}">
                <a16:creationId xmlns:a16="http://schemas.microsoft.com/office/drawing/2014/main" id="{38371756-34A9-4156-B05B-ECE96ECD1EED}"/>
              </a:ext>
            </a:extLst>
          </p:cNvPr>
          <p:cNvSpPr>
            <a:spLocks xmlns:a="http://schemas.openxmlformats.org/drawingml/2006/main" noGrp="1"/>
          </p:cNvSpPr>
          <p:nvPr/>
        </p:nvSpPr>
        <p:spPr>
          <a:xfrm xmlns:a="http://schemas.openxmlformats.org/drawingml/2006/main">
            <a:off x="4267200" y="1905000"/>
            <a:ext cx="1333500" cy="742950"/>
          </a:xfrm>
          <a:prstGeom xmlns:a="http://schemas.openxmlformats.org/drawingml/2006/main" prst="rect">
            <a:avLst/>
          </a:prstGeom>
          <a:solidFill xmlns:a="http://schemas.openxmlformats.org/drawingml/2006/main">
            <a:srgbClr val="F6F6F6"/>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BA112545-272A-468C-89D4-3B276B046E7A}"/>
              </a:ext>
            </a:extLst>
          </p:cNvPr>
          <p:cNvSpPr>
            <a:spLocks xmlns:a="http://schemas.openxmlformats.org/drawingml/2006/main" noGrp="1"/>
          </p:cNvSpPr>
          <p:nvPr/>
        </p:nvSpPr>
        <p:spPr>
          <a:xfrm xmlns:a="http://schemas.openxmlformats.org/drawingml/2006/main">
            <a:off x="4400550" y="2143125"/>
            <a:ext cx="1066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a:solidFill>
                  <a:srgbClr val="000000"/>
                </a:solidFill>
              </a:defRPr>
            </a:pPr>
            <a:r>
              <a:rPr sz="1425" b="1">
                <a:solidFill>
                  <a:srgbClr val="000000"/>
                </a:solidFill>
              </a:rPr>
              <a:t>代码仓库</a:t>
            </a:r>
          </a:p>
        </p:txBody>
      </p:sp>
      <p:sp>
        <p:nvSpPr>
          <p:cNvPr id="12" name="">
            <a:extLst xmlns:a="http://schemas.openxmlformats.org/drawingml/2006/main">
              <a:ext uri="{FF2B5EF4-FFF2-40B4-BE49-F238E27FC236}">
                <a16:creationId xmlns:a16="http://schemas.microsoft.com/office/drawing/2014/main" id="{EC2CC4BD-7D1C-47A0-BBF9-9AE35861C326}"/>
              </a:ext>
            </a:extLst>
          </p:cNvPr>
          <p:cNvSpPr>
            <a:spLocks xmlns:a="http://schemas.openxmlformats.org/drawingml/2006/main" noGrp="1"/>
          </p:cNvSpPr>
          <p:nvPr/>
        </p:nvSpPr>
        <p:spPr>
          <a:xfrm xmlns:a="http://schemas.openxmlformats.org/drawingml/2006/main">
            <a:off x="5648325" y="2095500"/>
            <a:ext cx="342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100" b="0">
                <a:solidFill>
                  <a:srgbClr val="555555"/>
                </a:solidFill>
              </a:defRPr>
            </a:pPr>
            <a:r>
              <a:rPr sz="2100" b="0">
                <a:solidFill>
                  <a:srgbClr val="555555"/>
                </a:solidFill>
              </a:rPr>
              <a:t>→</a:t>
            </a:r>
          </a:p>
        </p:txBody>
      </p:sp>
      <p:sp>
        <p:nvSpPr>
          <p:cNvPr id="13" name="">
            <a:extLst xmlns:a="http://schemas.openxmlformats.org/drawingml/2006/main">
              <a:ext uri="{FF2B5EF4-FFF2-40B4-BE49-F238E27FC236}">
                <a16:creationId xmlns:a16="http://schemas.microsoft.com/office/drawing/2014/main" id="{2BC8F0F0-0A59-417E-9BDA-7D9D9EC5C303}"/>
              </a:ext>
            </a:extLst>
          </p:cNvPr>
          <p:cNvSpPr>
            <a:spLocks xmlns:a="http://schemas.openxmlformats.org/drawingml/2006/main" noGrp="1"/>
          </p:cNvSpPr>
          <p:nvPr/>
        </p:nvSpPr>
        <p:spPr>
          <a:xfrm xmlns:a="http://schemas.openxmlformats.org/drawingml/2006/main">
            <a:off x="6057900" y="1905000"/>
            <a:ext cx="1333500" cy="742950"/>
          </a:xfrm>
          <a:prstGeom xmlns:a="http://schemas.openxmlformats.org/drawingml/2006/main" prst="rect">
            <a:avLst/>
          </a:prstGeom>
          <a:solidFill xmlns:a="http://schemas.openxmlformats.org/drawingml/2006/main">
            <a:srgbClr val="F6F6F6"/>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FF9A5C67-9D7C-4B51-8CB6-7D0D1FEF9EAD}"/>
              </a:ext>
            </a:extLst>
          </p:cNvPr>
          <p:cNvSpPr>
            <a:spLocks xmlns:a="http://schemas.openxmlformats.org/drawingml/2006/main" noGrp="1"/>
          </p:cNvSpPr>
          <p:nvPr/>
        </p:nvSpPr>
        <p:spPr>
          <a:xfrm xmlns:a="http://schemas.openxmlformats.org/drawingml/2006/main">
            <a:off x="6191250" y="2143125"/>
            <a:ext cx="1066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a:solidFill>
                  <a:srgbClr val="000000"/>
                </a:solidFill>
              </a:defRPr>
            </a:pPr>
            <a:r>
              <a:rPr sz="1425" b="1">
                <a:solidFill>
                  <a:srgbClr val="000000"/>
                </a:solidFill>
              </a:rPr>
              <a:t>测试脚本</a:t>
            </a:r>
          </a:p>
        </p:txBody>
      </p:sp>
      <p:sp>
        <p:nvSpPr>
          <p:cNvPr id="15" name="">
            <a:extLst xmlns:a="http://schemas.openxmlformats.org/drawingml/2006/main">
              <a:ext uri="{FF2B5EF4-FFF2-40B4-BE49-F238E27FC236}">
                <a16:creationId xmlns:a16="http://schemas.microsoft.com/office/drawing/2014/main" id="{DCAD2AD5-5C1C-4ABA-8F0C-BB28BAB71E89}"/>
              </a:ext>
            </a:extLst>
          </p:cNvPr>
          <p:cNvSpPr>
            <a:spLocks xmlns:a="http://schemas.openxmlformats.org/drawingml/2006/main" noGrp="1"/>
          </p:cNvSpPr>
          <p:nvPr/>
        </p:nvSpPr>
        <p:spPr>
          <a:xfrm xmlns:a="http://schemas.openxmlformats.org/drawingml/2006/main">
            <a:off x="7439025" y="2095500"/>
            <a:ext cx="342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100" b="0">
                <a:solidFill>
                  <a:srgbClr val="555555"/>
                </a:solidFill>
              </a:defRPr>
            </a:pPr>
            <a:r>
              <a:rPr sz="2100" b="0">
                <a:solidFill>
                  <a:srgbClr val="555555"/>
                </a:solidFill>
              </a:rPr>
              <a:t>→</a:t>
            </a:r>
          </a:p>
        </p:txBody>
      </p:sp>
      <p:sp>
        <p:nvSpPr>
          <p:cNvPr id="16" name="">
            <a:extLst xmlns:a="http://schemas.openxmlformats.org/drawingml/2006/main">
              <a:ext uri="{FF2B5EF4-FFF2-40B4-BE49-F238E27FC236}">
                <a16:creationId xmlns:a16="http://schemas.microsoft.com/office/drawing/2014/main" id="{28508ECE-DBE3-420B-8276-BA4223C84B51}"/>
              </a:ext>
            </a:extLst>
          </p:cNvPr>
          <p:cNvSpPr>
            <a:spLocks xmlns:a="http://schemas.openxmlformats.org/drawingml/2006/main" noGrp="1"/>
          </p:cNvSpPr>
          <p:nvPr/>
        </p:nvSpPr>
        <p:spPr>
          <a:xfrm xmlns:a="http://schemas.openxmlformats.org/drawingml/2006/main">
            <a:off x="7848600" y="1905000"/>
            <a:ext cx="1333500" cy="742950"/>
          </a:xfrm>
          <a:prstGeom xmlns:a="http://schemas.openxmlformats.org/drawingml/2006/main" prst="rect">
            <a:avLst/>
          </a:prstGeom>
          <a:solidFill xmlns:a="http://schemas.openxmlformats.org/drawingml/2006/main">
            <a:srgbClr val="F6F6F6"/>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8AF7E7A4-0307-4485-9D66-84EEE53F18E4}"/>
              </a:ext>
            </a:extLst>
          </p:cNvPr>
          <p:cNvSpPr>
            <a:spLocks xmlns:a="http://schemas.openxmlformats.org/drawingml/2006/main" noGrp="1"/>
          </p:cNvSpPr>
          <p:nvPr/>
        </p:nvSpPr>
        <p:spPr>
          <a:xfrm xmlns:a="http://schemas.openxmlformats.org/drawingml/2006/main">
            <a:off x="7981950" y="2143125"/>
            <a:ext cx="1066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a:solidFill>
                  <a:srgbClr val="000000"/>
                </a:solidFill>
              </a:defRPr>
            </a:pPr>
            <a:r>
              <a:rPr sz="1425" b="1">
                <a:solidFill>
                  <a:srgbClr val="000000"/>
                </a:solidFill>
              </a:rPr>
              <a:t>流水线</a:t>
            </a:r>
          </a:p>
        </p:txBody>
      </p:sp>
      <p:sp>
        <p:nvSpPr>
          <p:cNvPr id="18" name="">
            <a:extLst xmlns:a="http://schemas.openxmlformats.org/drawingml/2006/main">
              <a:ext uri="{FF2B5EF4-FFF2-40B4-BE49-F238E27FC236}">
                <a16:creationId xmlns:a16="http://schemas.microsoft.com/office/drawing/2014/main" id="{E1E53799-D8F6-4B54-A4F1-A16577F047EC}"/>
              </a:ext>
            </a:extLst>
          </p:cNvPr>
          <p:cNvSpPr>
            <a:spLocks xmlns:a="http://schemas.openxmlformats.org/drawingml/2006/main" noGrp="1"/>
          </p:cNvSpPr>
          <p:nvPr/>
        </p:nvSpPr>
        <p:spPr>
          <a:xfrm xmlns:a="http://schemas.openxmlformats.org/drawingml/2006/main">
            <a:off x="9229725" y="2095500"/>
            <a:ext cx="342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100" b="0">
                <a:solidFill>
                  <a:srgbClr val="555555"/>
                </a:solidFill>
              </a:defRPr>
            </a:pPr>
            <a:r>
              <a:rPr sz="2100" b="0">
                <a:solidFill>
                  <a:srgbClr val="555555"/>
                </a:solidFill>
              </a:rPr>
              <a:t>→</a:t>
            </a:r>
          </a:p>
        </p:txBody>
      </p:sp>
      <p:sp>
        <p:nvSpPr>
          <p:cNvPr id="19" name="">
            <a:extLst xmlns:a="http://schemas.openxmlformats.org/drawingml/2006/main">
              <a:ext uri="{FF2B5EF4-FFF2-40B4-BE49-F238E27FC236}">
                <a16:creationId xmlns:a16="http://schemas.microsoft.com/office/drawing/2014/main" id="{27AC2DE7-2940-4AD1-A761-DA28ACA4A157}"/>
              </a:ext>
            </a:extLst>
          </p:cNvPr>
          <p:cNvSpPr>
            <a:spLocks xmlns:a="http://schemas.openxmlformats.org/drawingml/2006/main" noGrp="1"/>
          </p:cNvSpPr>
          <p:nvPr/>
        </p:nvSpPr>
        <p:spPr>
          <a:xfrm xmlns:a="http://schemas.openxmlformats.org/drawingml/2006/main">
            <a:off x="9639300" y="1905000"/>
            <a:ext cx="1333500" cy="742950"/>
          </a:xfrm>
          <a:prstGeom xmlns:a="http://schemas.openxmlformats.org/drawingml/2006/main" prst="rect">
            <a:avLst/>
          </a:prstGeom>
          <a:solidFill xmlns:a="http://schemas.openxmlformats.org/drawingml/2006/main">
            <a:srgbClr val="F6F6F6"/>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1A1F8EC1-FB96-45F7-AF30-31E8C98ED31F}"/>
              </a:ext>
            </a:extLst>
          </p:cNvPr>
          <p:cNvSpPr>
            <a:spLocks xmlns:a="http://schemas.openxmlformats.org/drawingml/2006/main" noGrp="1"/>
          </p:cNvSpPr>
          <p:nvPr/>
        </p:nvSpPr>
        <p:spPr>
          <a:xfrm xmlns:a="http://schemas.openxmlformats.org/drawingml/2006/main">
            <a:off x="9772650" y="2143125"/>
            <a:ext cx="1066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a:solidFill>
                  <a:srgbClr val="000000"/>
                </a:solidFill>
              </a:defRPr>
            </a:pPr>
            <a:r>
              <a:rPr sz="1425" b="1">
                <a:solidFill>
                  <a:srgbClr val="000000"/>
                </a:solidFill>
              </a:rPr>
              <a:t>部署回写</a:t>
            </a:r>
          </a:p>
        </p:txBody>
      </p:sp>
      <p:sp>
        <p:nvSpPr>
          <p:cNvPr id="21" name="">
            <a:extLst xmlns:a="http://schemas.openxmlformats.org/drawingml/2006/main">
              <a:ext uri="{FF2B5EF4-FFF2-40B4-BE49-F238E27FC236}">
                <a16:creationId xmlns:a16="http://schemas.microsoft.com/office/drawing/2014/main" id="{56FEC259-6D4F-43E3-9BCA-CC4292626E19}"/>
              </a:ext>
            </a:extLst>
          </p:cNvPr>
          <p:cNvSpPr>
            <a:spLocks xmlns:a="http://schemas.openxmlformats.org/drawingml/2006/main" noGrp="1"/>
          </p:cNvSpPr>
          <p:nvPr/>
        </p:nvSpPr>
        <p:spPr>
          <a:xfrm xmlns:a="http://schemas.openxmlformats.org/drawingml/2006/main">
            <a:off x="666750" y="3429000"/>
            <a:ext cx="4953000" cy="1600200"/>
          </a:xfrm>
          <a:prstGeom xmlns:a="http://schemas.openxmlformats.org/drawingml/2006/main" prst="rect">
            <a:avLst/>
          </a:prstGeom>
          <a:solidFill xmlns:a="http://schemas.openxmlformats.org/drawingml/2006/main">
            <a:srgbClr val="F6F6F6"/>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16467A10-8338-48DC-A82B-B063FECF1BA3}"/>
              </a:ext>
            </a:extLst>
          </p:cNvPr>
          <p:cNvSpPr>
            <a:spLocks xmlns:a="http://schemas.openxmlformats.org/drawingml/2006/main" noGrp="1"/>
          </p:cNvSpPr>
          <p:nvPr/>
        </p:nvSpPr>
        <p:spPr>
          <a:xfrm xmlns:a="http://schemas.openxmlformats.org/drawingml/2006/main">
            <a:off x="952500" y="36957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FF6B35"/>
                </a:solidFill>
              </a:defRPr>
            </a:pPr>
            <a:r>
              <a:rPr sz="1125" b="1">
                <a:solidFill>
                  <a:srgbClr val="FF6B35"/>
                </a:solidFill>
              </a:rPr>
              <a:t>生成期数据链路</a:t>
            </a:r>
          </a:p>
        </p:txBody>
      </p:sp>
      <p:sp>
        <p:nvSpPr>
          <p:cNvPr id="23" name="">
            <a:extLst xmlns:a="http://schemas.openxmlformats.org/drawingml/2006/main">
              <a:ext uri="{FF2B5EF4-FFF2-40B4-BE49-F238E27FC236}">
                <a16:creationId xmlns:a16="http://schemas.microsoft.com/office/drawing/2014/main" id="{0A484A1D-58C9-430C-8E7C-60A2A751175C}"/>
              </a:ext>
            </a:extLst>
          </p:cNvPr>
          <p:cNvSpPr>
            <a:spLocks xmlns:a="http://schemas.openxmlformats.org/drawingml/2006/main" noGrp="1"/>
          </p:cNvSpPr>
          <p:nvPr/>
        </p:nvSpPr>
        <p:spPr>
          <a:xfrm xmlns:a="http://schemas.openxmlformats.org/drawingml/2006/main">
            <a:off x="952500" y="4095750"/>
            <a:ext cx="4095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222222"/>
                </a:solidFill>
              </a:defRPr>
            </a:pPr>
            <a:r>
              <a:rPr sz="1500" b="0">
                <a:solidFill>
                  <a:srgbClr val="222222"/>
                </a:solidFill>
              </a:rPr>
              <a:t>需求澄清、数据接入、接口验证、字段抽取、数据契约、下游生成约束。</a:t>
            </a:r>
          </a:p>
        </p:txBody>
      </p:sp>
      <p:sp>
        <p:nvSpPr>
          <p:cNvPr id="24" name="">
            <a:extLst xmlns:a="http://schemas.openxmlformats.org/drawingml/2006/main">
              <a:ext uri="{FF2B5EF4-FFF2-40B4-BE49-F238E27FC236}">
                <a16:creationId xmlns:a16="http://schemas.microsoft.com/office/drawing/2014/main" id="{A25530FF-0113-4C38-8667-F9C9738CFDF6}"/>
              </a:ext>
            </a:extLst>
          </p:cNvPr>
          <p:cNvSpPr>
            <a:spLocks xmlns:a="http://schemas.openxmlformats.org/drawingml/2006/main" noGrp="1"/>
          </p:cNvSpPr>
          <p:nvPr/>
        </p:nvSpPr>
        <p:spPr>
          <a:xfrm xmlns:a="http://schemas.openxmlformats.org/drawingml/2006/main">
            <a:off x="6381750" y="3429000"/>
            <a:ext cx="4953000" cy="1600200"/>
          </a:xfrm>
          <a:prstGeom xmlns:a="http://schemas.openxmlformats.org/drawingml/2006/main" prst="rect">
            <a:avLst/>
          </a:prstGeom>
          <a:solidFill xmlns:a="http://schemas.openxmlformats.org/drawingml/2006/main">
            <a:srgbClr val="F6F6F6"/>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11927F70-2151-4C8F-8446-F6A152DBC979}"/>
              </a:ext>
            </a:extLst>
          </p:cNvPr>
          <p:cNvSpPr>
            <a:spLocks xmlns:a="http://schemas.openxmlformats.org/drawingml/2006/main" noGrp="1"/>
          </p:cNvSpPr>
          <p:nvPr/>
        </p:nvSpPr>
        <p:spPr>
          <a:xfrm xmlns:a="http://schemas.openxmlformats.org/drawingml/2006/main">
            <a:off x="6667500" y="36957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FF6B35"/>
                </a:solidFill>
              </a:defRPr>
            </a:pPr>
            <a:r>
              <a:rPr sz="1125" b="1">
                <a:solidFill>
                  <a:srgbClr val="FF6B35"/>
                </a:solidFill>
              </a:rPr>
              <a:t>运行期数据链路</a:t>
            </a:r>
          </a:p>
        </p:txBody>
      </p:sp>
      <p:sp>
        <p:nvSpPr>
          <p:cNvPr id="26" name="">
            <a:extLst xmlns:a="http://schemas.openxmlformats.org/drawingml/2006/main">
              <a:ext uri="{FF2B5EF4-FFF2-40B4-BE49-F238E27FC236}">
                <a16:creationId xmlns:a16="http://schemas.microsoft.com/office/drawing/2014/main" id="{1EB9A4ED-0AB5-471C-8574-ED72599B57C3}"/>
              </a:ext>
            </a:extLst>
          </p:cNvPr>
          <p:cNvSpPr>
            <a:spLocks xmlns:a="http://schemas.openxmlformats.org/drawingml/2006/main" noGrp="1"/>
          </p:cNvSpPr>
          <p:nvPr/>
        </p:nvSpPr>
        <p:spPr>
          <a:xfrm xmlns:a="http://schemas.openxmlformats.org/drawingml/2006/main">
            <a:off x="6667500" y="4095750"/>
            <a:ext cx="4095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222222"/>
                </a:solidFill>
              </a:defRPr>
            </a:pPr>
            <a:r>
              <a:rPr sz="1500" b="0">
                <a:solidFill>
                  <a:srgbClr val="222222"/>
                </a:solidFill>
              </a:rPr>
              <a:t>生成应用通过 API、网关、本体服务、代理和鉴权配置取数，并负责展示、刷新和降级。</a:t>
            </a:r>
          </a:p>
        </p:txBody>
      </p:sp>
      <p:sp>
        <p:nvSpPr>
          <p:cNvPr id="27" name="">
            <a:extLst xmlns:a="http://schemas.openxmlformats.org/drawingml/2006/main">
              <a:ext uri="{FF2B5EF4-FFF2-40B4-BE49-F238E27FC236}">
                <a16:creationId xmlns:a16="http://schemas.microsoft.com/office/drawing/2014/main" id="{4001B881-E127-4A0E-AE4F-F69281726A00}"/>
              </a:ext>
            </a:extLst>
          </p:cNvPr>
          <p:cNvSpPr>
            <a:spLocks xmlns:a="http://schemas.openxmlformats.org/drawingml/2006/main" noGrp="1"/>
          </p:cNvSpPr>
          <p:nvPr/>
        </p:nvSpPr>
        <p:spPr>
          <a:xfrm xmlns:a="http://schemas.openxmlformats.org/drawingml/2006/main">
            <a:off x="666750" y="5572125"/>
            <a:ext cx="7810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000000"/>
                </a:solidFill>
              </a:defRPr>
            </a:pPr>
            <a:r>
              <a:rPr sz="1725" b="1">
                <a:solidFill>
                  <a:srgbClr val="000000"/>
                </a:solidFill>
              </a:rPr>
              <a:t>factory-server 不应成为所有业务应用的通用数据查询网关。</a:t>
            </a:r>
          </a:p>
        </p:txBody>
      </p:sp>
      <p:sp>
        <p:nvSpPr>
          <p:cNvPr id="28" name="">
            <a:extLst xmlns:a="http://schemas.openxmlformats.org/drawingml/2006/main">
              <a:ext uri="{FF2B5EF4-FFF2-40B4-BE49-F238E27FC236}">
                <a16:creationId xmlns:a16="http://schemas.microsoft.com/office/drawing/2014/main" id="{A9EC40BA-DA79-45BE-A93A-508A69E22C81}"/>
              </a:ext>
            </a:extLst>
          </p:cNvPr>
          <p:cNvSpPr>
            <a:spLocks xmlns:a="http://schemas.openxmlformats.org/drawingml/2006/main" noGrp="1"/>
          </p:cNvSpPr>
          <p:nvPr/>
        </p:nvSpPr>
        <p:spPr>
          <a:xfrm xmlns:a="http://schemas.openxmlformats.org/drawingml/2006/main">
            <a:off x="514350" y="63817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555555"/>
                </a:solidFill>
              </a:defRPr>
            </a:pPr>
            <a:r>
              <a:rPr sz="1050" b="0">
                <a:solidFill>
                  <a:srgbClr val="555555"/>
                </a:solidFill>
              </a:rPr>
              <a:t>西安 630 项目软件工厂复盘</a:t>
            </a:r>
          </a:p>
        </p:txBody>
      </p:sp>
      <p:sp>
        <p:nvSpPr>
          <p:cNvPr id="29" name="">
            <a:extLst xmlns:a="http://schemas.openxmlformats.org/drawingml/2006/main">
              <a:ext uri="{FF2B5EF4-FFF2-40B4-BE49-F238E27FC236}">
                <a16:creationId xmlns:a16="http://schemas.microsoft.com/office/drawing/2014/main" id="{ACA12C12-072E-4230-A895-CEBCA0A4FEB0}"/>
              </a:ext>
            </a:extLst>
          </p:cNvPr>
          <p:cNvSpPr>
            <a:spLocks xmlns:a="http://schemas.openxmlformats.org/drawingml/2006/main" noGrp="1"/>
          </p:cNvSpPr>
          <p:nvPr/>
        </p:nvSpPr>
        <p:spPr>
          <a:xfrm xmlns:a="http://schemas.openxmlformats.org/drawingml/2006/main">
            <a:off x="11287125" y="6381750"/>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a:solidFill>
                  <a:srgbClr val="555555"/>
                </a:solidFill>
              </a:defRPr>
            </a:pPr>
            <a:r>
              <a:rPr sz="1050" b="1">
                <a:solidFill>
                  <a:srgbClr val="555555"/>
                </a:solidFill>
              </a:rPr>
              <a:t>09</a:t>
            </a:r>
          </a:p>
        </p:txBody>
      </p:sp>
    </p:spTree>
    <p:extLst>
      <p:ext uri="{BB962C8B-B14F-4D97-AF65-F5344CB8AC3E}">
        <p14:creationId xmlns:p14="http://schemas.microsoft.com/office/powerpoint/2010/main" val="37527691"/>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82572FB-8DF0-4188-8B7E-4C4FD6A59899}"/>
              </a:ext>
            </a:extLst>
          </p:cNvPr>
          <p:cNvSpPr>
            <a:spLocks xmlns:a="http://schemas.openxmlformats.org/drawingml/2006/main" noGrp="1"/>
          </p:cNvSpPr>
          <p:nvPr/>
        </p:nvSpPr>
        <p:spPr>
          <a:xfrm xmlns:a="http://schemas.openxmlformats.org/drawingml/2006/main">
            <a:off x="514350" y="381000"/>
            <a:ext cx="10001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00000"/>
                </a:solidFill>
              </a:defRPr>
            </a:pPr>
            <a:r>
              <a:rPr sz="2850" b="1">
                <a:solidFill>
                  <a:srgbClr val="000000"/>
                </a:solidFill>
              </a:rPr>
              <a:t>复盘要收束到建设边界和下一阶段决策</a:t>
            </a:r>
          </a:p>
        </p:txBody>
      </p:sp>
      <p:sp>
        <p:nvSpPr>
          <p:cNvPr id="2" name="">
            <a:extLst xmlns:a="http://schemas.openxmlformats.org/drawingml/2006/main">
              <a:ext uri="{FF2B5EF4-FFF2-40B4-BE49-F238E27FC236}">
                <a16:creationId xmlns:a16="http://schemas.microsoft.com/office/drawing/2014/main" id="{AAC40826-F0E2-4DE7-A6A4-ECB2B3025B7B}"/>
              </a:ext>
            </a:extLst>
          </p:cNvPr>
          <p:cNvSpPr>
            <a:spLocks xmlns:a="http://schemas.openxmlformats.org/drawingml/2006/main" noGrp="1"/>
          </p:cNvSpPr>
          <p:nvPr/>
        </p:nvSpPr>
        <p:spPr>
          <a:xfrm xmlns:a="http://schemas.openxmlformats.org/drawingml/2006/main">
            <a:off x="514350" y="990600"/>
            <a:ext cx="876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555555"/>
                </a:solidFill>
              </a:defRPr>
            </a:pPr>
            <a:r>
              <a:rPr sz="1350" b="0">
                <a:solidFill>
                  <a:srgbClr val="555555"/>
                </a:solidFill>
              </a:rPr>
              <a:t>边界越清楚，后续投入越不容易跑偏。</a:t>
            </a:r>
          </a:p>
        </p:txBody>
      </p:sp>
      <p:sp>
        <p:nvSpPr>
          <p:cNvPr id="3" name="">
            <a:extLst xmlns:a="http://schemas.openxmlformats.org/drawingml/2006/main">
              <a:ext uri="{FF2B5EF4-FFF2-40B4-BE49-F238E27FC236}">
                <a16:creationId xmlns:a16="http://schemas.microsoft.com/office/drawing/2014/main" id="{E8A5DD04-A8E9-4147-B205-C302FCF82DEC}"/>
              </a:ext>
            </a:extLst>
          </p:cNvPr>
          <p:cNvSpPr>
            <a:spLocks xmlns:a="http://schemas.openxmlformats.org/drawingml/2006/main" noGrp="1"/>
          </p:cNvSpPr>
          <p:nvPr/>
        </p:nvSpPr>
        <p:spPr>
          <a:xfrm xmlns:a="http://schemas.openxmlformats.org/drawingml/2006/main">
            <a:off x="514350" y="1428750"/>
            <a:ext cx="111633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4" name="">
            <a:extLst xmlns:a="http://schemas.openxmlformats.org/drawingml/2006/main">
              <a:ext uri="{FF2B5EF4-FFF2-40B4-BE49-F238E27FC236}">
                <a16:creationId xmlns:a16="http://schemas.microsoft.com/office/drawing/2014/main" id="{68CCBEE0-BCB3-4E74-9ADB-BF45353E376F}"/>
              </a:ext>
            </a:extLst>
          </p:cNvPr>
          <p:cNvSpPr>
            <a:spLocks xmlns:a="http://schemas.openxmlformats.org/drawingml/2006/main" noGrp="1"/>
          </p:cNvSpPr>
          <p:nvPr/>
        </p:nvSpPr>
        <p:spPr>
          <a:xfrm xmlns:a="http://schemas.openxmlformats.org/drawingml/2006/main">
            <a:off x="666750" y="1809750"/>
            <a:ext cx="4857750" cy="3429000"/>
          </a:xfrm>
          <a:prstGeom xmlns:a="http://schemas.openxmlformats.org/drawingml/2006/main" prst="rect">
            <a:avLst/>
          </a:prstGeom>
          <a:solidFill xmlns:a="http://schemas.openxmlformats.org/drawingml/2006/main">
            <a:srgbClr val="F6F6F6"/>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6353EAA1-352A-4CC4-8754-0CF9FB730C00}"/>
              </a:ext>
            </a:extLst>
          </p:cNvPr>
          <p:cNvSpPr>
            <a:spLocks xmlns:a="http://schemas.openxmlformats.org/drawingml/2006/main" noGrp="1"/>
          </p:cNvSpPr>
          <p:nvPr/>
        </p:nvSpPr>
        <p:spPr>
          <a:xfrm xmlns:a="http://schemas.openxmlformats.org/drawingml/2006/main">
            <a:off x="952500" y="20955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FF6B35"/>
                </a:solidFill>
              </a:defRPr>
            </a:pPr>
            <a:r>
              <a:rPr sz="1125" b="1">
                <a:solidFill>
                  <a:srgbClr val="FF6B35"/>
                </a:solidFill>
              </a:rPr>
              <a:t>非目标和边界</a:t>
            </a:r>
          </a:p>
        </p:txBody>
      </p:sp>
      <p:sp>
        <p:nvSpPr>
          <p:cNvPr id="6" name="">
            <a:extLst xmlns:a="http://schemas.openxmlformats.org/drawingml/2006/main">
              <a:ext uri="{FF2B5EF4-FFF2-40B4-BE49-F238E27FC236}">
                <a16:creationId xmlns:a16="http://schemas.microsoft.com/office/drawing/2014/main" id="{DF7A4176-1782-4DC8-B927-AF52473CE99F}"/>
              </a:ext>
            </a:extLst>
          </p:cNvPr>
          <p:cNvSpPr>
            <a:spLocks xmlns:a="http://schemas.openxmlformats.org/drawingml/2006/main" noGrp="1"/>
          </p:cNvSpPr>
          <p:nvPr/>
        </p:nvSpPr>
        <p:spPr>
          <a:xfrm xmlns:a="http://schemas.openxmlformats.org/drawingml/2006/main">
            <a:off x="952500" y="2647950"/>
            <a:ext cx="76200" cy="76200"/>
          </a:xfrm>
          <a:prstGeom xmlns:a="http://schemas.openxmlformats.org/drawingml/2006/main" prst="rect">
            <a:avLst/>
          </a:prstGeom>
          <a:solidFill xmlns:a="http://schemas.openxmlformats.org/drawingml/2006/main">
            <a:srgbClr val="000000"/>
          </a:solidFill>
          <a:ln xmlns:a="http://schemas.openxmlformats.org/drawingml/2006/main" w="0">
            <a:solidFill>
              <a:srgbClr val="000000"/>
            </a:solidFill>
            <a:prstDash val="solid"/>
          </a:ln>
        </p:spPr>
      </p:sp>
      <p:sp>
        <p:nvSpPr>
          <p:cNvPr id="7" name="">
            <a:extLst xmlns:a="http://schemas.openxmlformats.org/drawingml/2006/main">
              <a:ext uri="{FF2B5EF4-FFF2-40B4-BE49-F238E27FC236}">
                <a16:creationId xmlns:a16="http://schemas.microsoft.com/office/drawing/2014/main" id="{FDA851E1-3479-4CF0-9108-1FD92DEF151F}"/>
              </a:ext>
            </a:extLst>
          </p:cNvPr>
          <p:cNvSpPr>
            <a:spLocks xmlns:a="http://schemas.openxmlformats.org/drawingml/2006/main" noGrp="1"/>
          </p:cNvSpPr>
          <p:nvPr/>
        </p:nvSpPr>
        <p:spPr>
          <a:xfrm xmlns:a="http://schemas.openxmlformats.org/drawingml/2006/main">
            <a:off x="1123950" y="2571750"/>
            <a:ext cx="38290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000000"/>
                </a:solidFill>
              </a:defRPr>
            </a:pPr>
            <a:r>
              <a:rPr sz="1275" b="0">
                <a:solidFill>
                  <a:srgbClr val="000000"/>
                </a:solidFill>
              </a:rPr>
              <a:t>不把 630 客户口径等同于产品终局</a:t>
            </a:r>
          </a:p>
        </p:txBody>
      </p:sp>
      <p:sp>
        <p:nvSpPr>
          <p:cNvPr id="8" name="">
            <a:extLst xmlns:a="http://schemas.openxmlformats.org/drawingml/2006/main">
              <a:ext uri="{FF2B5EF4-FFF2-40B4-BE49-F238E27FC236}">
                <a16:creationId xmlns:a16="http://schemas.microsoft.com/office/drawing/2014/main" id="{1DEE8E54-F81E-46F9-A801-259640FBC14B}"/>
              </a:ext>
            </a:extLst>
          </p:cNvPr>
          <p:cNvSpPr>
            <a:spLocks xmlns:a="http://schemas.openxmlformats.org/drawingml/2006/main" noGrp="1"/>
          </p:cNvSpPr>
          <p:nvPr/>
        </p:nvSpPr>
        <p:spPr>
          <a:xfrm xmlns:a="http://schemas.openxmlformats.org/drawingml/2006/main">
            <a:off x="952500" y="3095625"/>
            <a:ext cx="76200" cy="76200"/>
          </a:xfrm>
          <a:prstGeom xmlns:a="http://schemas.openxmlformats.org/drawingml/2006/main" prst="rect">
            <a:avLst/>
          </a:prstGeom>
          <a:solidFill xmlns:a="http://schemas.openxmlformats.org/drawingml/2006/main">
            <a:srgbClr val="000000"/>
          </a:solidFill>
          <a:ln xmlns:a="http://schemas.openxmlformats.org/drawingml/2006/main" w="0">
            <a:solidFill>
              <a:srgbClr val="000000"/>
            </a:solidFill>
            <a:prstDash val="solid"/>
          </a:ln>
        </p:spPr>
      </p:sp>
      <p:sp>
        <p:nvSpPr>
          <p:cNvPr id="9" name="">
            <a:extLst xmlns:a="http://schemas.openxmlformats.org/drawingml/2006/main">
              <a:ext uri="{FF2B5EF4-FFF2-40B4-BE49-F238E27FC236}">
                <a16:creationId xmlns:a16="http://schemas.microsoft.com/office/drawing/2014/main" id="{8C11C62C-D6C6-47EF-9C43-51B70C0B7043}"/>
              </a:ext>
            </a:extLst>
          </p:cNvPr>
          <p:cNvSpPr>
            <a:spLocks xmlns:a="http://schemas.openxmlformats.org/drawingml/2006/main" noGrp="1"/>
          </p:cNvSpPr>
          <p:nvPr/>
        </p:nvSpPr>
        <p:spPr>
          <a:xfrm xmlns:a="http://schemas.openxmlformats.org/drawingml/2006/main">
            <a:off x="1123950" y="3019425"/>
            <a:ext cx="38290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000000"/>
                </a:solidFill>
              </a:defRPr>
            </a:pPr>
            <a:r>
              <a:rPr sz="1275" b="0">
                <a:solidFill>
                  <a:srgbClr val="000000"/>
                </a:solidFill>
              </a:rPr>
              <a:t>不把软件工厂做成固定 agent 流水线</a:t>
            </a:r>
          </a:p>
        </p:txBody>
      </p:sp>
      <p:sp>
        <p:nvSpPr>
          <p:cNvPr id="10" name="">
            <a:extLst xmlns:a="http://schemas.openxmlformats.org/drawingml/2006/main">
              <a:ext uri="{FF2B5EF4-FFF2-40B4-BE49-F238E27FC236}">
                <a16:creationId xmlns:a16="http://schemas.microsoft.com/office/drawing/2014/main" id="{9EA4AED0-AD94-4776-926B-1332018F9DBD}"/>
              </a:ext>
            </a:extLst>
          </p:cNvPr>
          <p:cNvSpPr>
            <a:spLocks xmlns:a="http://schemas.openxmlformats.org/drawingml/2006/main" noGrp="1"/>
          </p:cNvSpPr>
          <p:nvPr/>
        </p:nvSpPr>
        <p:spPr>
          <a:xfrm xmlns:a="http://schemas.openxmlformats.org/drawingml/2006/main">
            <a:off x="952500" y="3543300"/>
            <a:ext cx="76200" cy="76200"/>
          </a:xfrm>
          <a:prstGeom xmlns:a="http://schemas.openxmlformats.org/drawingml/2006/main" prst="rect">
            <a:avLst/>
          </a:prstGeom>
          <a:solidFill xmlns:a="http://schemas.openxmlformats.org/drawingml/2006/main">
            <a:srgbClr val="000000"/>
          </a:solidFill>
          <a:ln xmlns:a="http://schemas.openxmlformats.org/drawingml/2006/main" w="0">
            <a:solidFill>
              <a:srgbClr val="000000"/>
            </a:solidFill>
            <a:prstDash val="solid"/>
          </a:ln>
        </p:spPr>
      </p:sp>
      <p:sp>
        <p:nvSpPr>
          <p:cNvPr id="11" name="">
            <a:extLst xmlns:a="http://schemas.openxmlformats.org/drawingml/2006/main">
              <a:ext uri="{FF2B5EF4-FFF2-40B4-BE49-F238E27FC236}">
                <a16:creationId xmlns:a16="http://schemas.microsoft.com/office/drawing/2014/main" id="{D419BD23-1156-4EF0-B1EA-8A2766E32111}"/>
              </a:ext>
            </a:extLst>
          </p:cNvPr>
          <p:cNvSpPr>
            <a:spLocks xmlns:a="http://schemas.openxmlformats.org/drawingml/2006/main" noGrp="1"/>
          </p:cNvSpPr>
          <p:nvPr/>
        </p:nvSpPr>
        <p:spPr>
          <a:xfrm xmlns:a="http://schemas.openxmlformats.org/drawingml/2006/main">
            <a:off x="1123950" y="3467100"/>
            <a:ext cx="38290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000000"/>
                </a:solidFill>
              </a:defRPr>
            </a:pPr>
            <a:r>
              <a:rPr sz="1275" b="0">
                <a:solidFill>
                  <a:srgbClr val="000000"/>
                </a:solidFill>
              </a:rPr>
              <a:t>不做成单纯应用 demo 生成器</a:t>
            </a:r>
          </a:p>
        </p:txBody>
      </p:sp>
      <p:sp>
        <p:nvSpPr>
          <p:cNvPr id="12" name="">
            <a:extLst xmlns:a="http://schemas.openxmlformats.org/drawingml/2006/main">
              <a:ext uri="{FF2B5EF4-FFF2-40B4-BE49-F238E27FC236}">
                <a16:creationId xmlns:a16="http://schemas.microsoft.com/office/drawing/2014/main" id="{8E9C3996-4C4D-43FB-A4AF-E0C03AD6A285}"/>
              </a:ext>
            </a:extLst>
          </p:cNvPr>
          <p:cNvSpPr>
            <a:spLocks xmlns:a="http://schemas.openxmlformats.org/drawingml/2006/main" noGrp="1"/>
          </p:cNvSpPr>
          <p:nvPr/>
        </p:nvSpPr>
        <p:spPr>
          <a:xfrm xmlns:a="http://schemas.openxmlformats.org/drawingml/2006/main">
            <a:off x="952500" y="3990975"/>
            <a:ext cx="76200" cy="76200"/>
          </a:xfrm>
          <a:prstGeom xmlns:a="http://schemas.openxmlformats.org/drawingml/2006/main" prst="rect">
            <a:avLst/>
          </a:prstGeom>
          <a:solidFill xmlns:a="http://schemas.openxmlformats.org/drawingml/2006/main">
            <a:srgbClr val="000000"/>
          </a:solidFill>
          <a:ln xmlns:a="http://schemas.openxmlformats.org/drawingml/2006/main" w="0">
            <a:solidFill>
              <a:srgbClr val="000000"/>
            </a:solidFill>
            <a:prstDash val="solid"/>
          </a:ln>
        </p:spPr>
      </p:sp>
      <p:sp>
        <p:nvSpPr>
          <p:cNvPr id="13" name="">
            <a:extLst xmlns:a="http://schemas.openxmlformats.org/drawingml/2006/main">
              <a:ext uri="{FF2B5EF4-FFF2-40B4-BE49-F238E27FC236}">
                <a16:creationId xmlns:a16="http://schemas.microsoft.com/office/drawing/2014/main" id="{2E18E743-32CF-407B-970C-522B849AB7E6}"/>
              </a:ext>
            </a:extLst>
          </p:cNvPr>
          <p:cNvSpPr>
            <a:spLocks xmlns:a="http://schemas.openxmlformats.org/drawingml/2006/main" noGrp="1"/>
          </p:cNvSpPr>
          <p:nvPr/>
        </p:nvSpPr>
        <p:spPr>
          <a:xfrm xmlns:a="http://schemas.openxmlformats.org/drawingml/2006/main">
            <a:off x="1123950" y="3914775"/>
            <a:ext cx="38290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000000"/>
                </a:solidFill>
              </a:defRPr>
            </a:pPr>
            <a:r>
              <a:rPr sz="1275" b="0">
                <a:solidFill>
                  <a:srgbClr val="000000"/>
                </a:solidFill>
              </a:rPr>
              <a:t>不把云产品融合写成 AI 包装</a:t>
            </a:r>
          </a:p>
        </p:txBody>
      </p:sp>
      <p:sp>
        <p:nvSpPr>
          <p:cNvPr id="14" name="">
            <a:extLst xmlns:a="http://schemas.openxmlformats.org/drawingml/2006/main">
              <a:ext uri="{FF2B5EF4-FFF2-40B4-BE49-F238E27FC236}">
                <a16:creationId xmlns:a16="http://schemas.microsoft.com/office/drawing/2014/main" id="{563CF267-A70B-47ED-A3DA-DE22E016FA51}"/>
              </a:ext>
            </a:extLst>
          </p:cNvPr>
          <p:cNvSpPr>
            <a:spLocks xmlns:a="http://schemas.openxmlformats.org/drawingml/2006/main" noGrp="1"/>
          </p:cNvSpPr>
          <p:nvPr/>
        </p:nvSpPr>
        <p:spPr>
          <a:xfrm xmlns:a="http://schemas.openxmlformats.org/drawingml/2006/main">
            <a:off x="952500" y="4438650"/>
            <a:ext cx="76200" cy="76200"/>
          </a:xfrm>
          <a:prstGeom xmlns:a="http://schemas.openxmlformats.org/drawingml/2006/main" prst="rect">
            <a:avLst/>
          </a:prstGeom>
          <a:solidFill xmlns:a="http://schemas.openxmlformats.org/drawingml/2006/main">
            <a:srgbClr val="000000"/>
          </a:solidFill>
          <a:ln xmlns:a="http://schemas.openxmlformats.org/drawingml/2006/main" w="0">
            <a:solidFill>
              <a:srgbClr val="000000"/>
            </a:solidFill>
            <a:prstDash val="solid"/>
          </a:ln>
        </p:spPr>
      </p:sp>
      <p:sp>
        <p:nvSpPr>
          <p:cNvPr id="15" name="">
            <a:extLst xmlns:a="http://schemas.openxmlformats.org/drawingml/2006/main">
              <a:ext uri="{FF2B5EF4-FFF2-40B4-BE49-F238E27FC236}">
                <a16:creationId xmlns:a16="http://schemas.microsoft.com/office/drawing/2014/main" id="{BD0E62E9-20AB-4550-AA49-36A2F2B94AB0}"/>
              </a:ext>
            </a:extLst>
          </p:cNvPr>
          <p:cNvSpPr>
            <a:spLocks xmlns:a="http://schemas.openxmlformats.org/drawingml/2006/main" noGrp="1"/>
          </p:cNvSpPr>
          <p:nvPr/>
        </p:nvSpPr>
        <p:spPr>
          <a:xfrm xmlns:a="http://schemas.openxmlformats.org/drawingml/2006/main">
            <a:off x="1123950" y="4362450"/>
            <a:ext cx="38290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000000"/>
                </a:solidFill>
              </a:defRPr>
            </a:pPr>
            <a:r>
              <a:rPr sz="1275" b="0">
                <a:solidFill>
                  <a:srgbClr val="000000"/>
                </a:solidFill>
              </a:rPr>
              <a:t>不把 factory-server 做成通用查询网关</a:t>
            </a:r>
          </a:p>
        </p:txBody>
      </p:sp>
      <p:sp>
        <p:nvSpPr>
          <p:cNvPr id="16" name="">
            <a:extLst xmlns:a="http://schemas.openxmlformats.org/drawingml/2006/main">
              <a:ext uri="{FF2B5EF4-FFF2-40B4-BE49-F238E27FC236}">
                <a16:creationId xmlns:a16="http://schemas.microsoft.com/office/drawing/2014/main" id="{53D98E24-01F5-484F-A226-FD6F949136BC}"/>
              </a:ext>
            </a:extLst>
          </p:cNvPr>
          <p:cNvSpPr>
            <a:spLocks xmlns:a="http://schemas.openxmlformats.org/drawingml/2006/main" noGrp="1"/>
          </p:cNvSpPr>
          <p:nvPr/>
        </p:nvSpPr>
        <p:spPr>
          <a:xfrm xmlns:a="http://schemas.openxmlformats.org/drawingml/2006/main">
            <a:off x="6381750" y="1809750"/>
            <a:ext cx="4953000" cy="3429000"/>
          </a:xfrm>
          <a:prstGeom xmlns:a="http://schemas.openxmlformats.org/drawingml/2006/main" prst="rect">
            <a:avLst/>
          </a:prstGeom>
          <a:solidFill xmlns:a="http://schemas.openxmlformats.org/drawingml/2006/main">
            <a:srgbClr val="FFF4EF"/>
          </a:solidFill>
          <a:ln xmlns:a="http://schemas.openxmlformats.org/drawingml/2006/main" w="9525">
            <a:solidFill>
              <a:srgbClr val="FF6B35"/>
            </a:solidFill>
            <a:prstDash val="solid"/>
          </a:ln>
        </p:spPr>
      </p:sp>
      <p:sp>
        <p:nvSpPr>
          <p:cNvPr id="17" name="">
            <a:extLst xmlns:a="http://schemas.openxmlformats.org/drawingml/2006/main">
              <a:ext uri="{FF2B5EF4-FFF2-40B4-BE49-F238E27FC236}">
                <a16:creationId xmlns:a16="http://schemas.microsoft.com/office/drawing/2014/main" id="{CB37BC87-3714-4C29-8588-5211D71455BE}"/>
              </a:ext>
            </a:extLst>
          </p:cNvPr>
          <p:cNvSpPr>
            <a:spLocks xmlns:a="http://schemas.openxmlformats.org/drawingml/2006/main" noGrp="1"/>
          </p:cNvSpPr>
          <p:nvPr/>
        </p:nvSpPr>
        <p:spPr>
          <a:xfrm xmlns:a="http://schemas.openxmlformats.org/drawingml/2006/main">
            <a:off x="6667500" y="2095500"/>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FF6B35"/>
                </a:solidFill>
              </a:defRPr>
            </a:pPr>
            <a:r>
              <a:rPr sz="1125" b="1">
                <a:solidFill>
                  <a:srgbClr val="FF6B35"/>
                </a:solidFill>
              </a:rPr>
              <a:t>建议形成五项决策</a:t>
            </a:r>
          </a:p>
        </p:txBody>
      </p:sp>
      <p:sp>
        <p:nvSpPr>
          <p:cNvPr id="18" name="">
            <a:extLst xmlns:a="http://schemas.openxmlformats.org/drawingml/2006/main">
              <a:ext uri="{FF2B5EF4-FFF2-40B4-BE49-F238E27FC236}">
                <a16:creationId xmlns:a16="http://schemas.microsoft.com/office/drawing/2014/main" id="{9EE423A1-E1FD-4C3D-8655-BC6028DD5795}"/>
              </a:ext>
            </a:extLst>
          </p:cNvPr>
          <p:cNvSpPr>
            <a:spLocks xmlns:a="http://schemas.openxmlformats.org/drawingml/2006/main" noGrp="1"/>
          </p:cNvSpPr>
          <p:nvPr/>
        </p:nvSpPr>
        <p:spPr>
          <a:xfrm xmlns:a="http://schemas.openxmlformats.org/drawingml/2006/main">
            <a:off x="6667500" y="2647950"/>
            <a:ext cx="76200" cy="76200"/>
          </a:xfrm>
          <a:prstGeom xmlns:a="http://schemas.openxmlformats.org/drawingml/2006/main" prst="rect">
            <a:avLst/>
          </a:prstGeom>
          <a:solidFill xmlns:a="http://schemas.openxmlformats.org/drawingml/2006/main">
            <a:srgbClr val="000000"/>
          </a:solidFill>
          <a:ln xmlns:a="http://schemas.openxmlformats.org/drawingml/2006/main" w="0">
            <a:solidFill>
              <a:srgbClr val="000000"/>
            </a:solidFill>
            <a:prstDash val="solid"/>
          </a:ln>
        </p:spPr>
      </p:sp>
      <p:sp>
        <p:nvSpPr>
          <p:cNvPr id="19" name="">
            <a:extLst xmlns:a="http://schemas.openxmlformats.org/drawingml/2006/main">
              <a:ext uri="{FF2B5EF4-FFF2-40B4-BE49-F238E27FC236}">
                <a16:creationId xmlns:a16="http://schemas.microsoft.com/office/drawing/2014/main" id="{F440B83A-5A7D-41A0-B7A4-0D172CD7A2A8}"/>
              </a:ext>
            </a:extLst>
          </p:cNvPr>
          <p:cNvSpPr>
            <a:spLocks xmlns:a="http://schemas.openxmlformats.org/drawingml/2006/main" noGrp="1"/>
          </p:cNvSpPr>
          <p:nvPr/>
        </p:nvSpPr>
        <p:spPr>
          <a:xfrm xmlns:a="http://schemas.openxmlformats.org/drawingml/2006/main">
            <a:off x="6838950" y="2571750"/>
            <a:ext cx="3924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000000"/>
                </a:solidFill>
              </a:defRPr>
            </a:pPr>
            <a:r>
              <a:rPr sz="1275" b="0">
                <a:solidFill>
                  <a:srgbClr val="000000"/>
                </a:solidFill>
              </a:rPr>
              <a:t>第一阶段产品边界</a:t>
            </a:r>
          </a:p>
        </p:txBody>
      </p:sp>
      <p:sp>
        <p:nvSpPr>
          <p:cNvPr id="20" name="">
            <a:extLst xmlns:a="http://schemas.openxmlformats.org/drawingml/2006/main">
              <a:ext uri="{FF2B5EF4-FFF2-40B4-BE49-F238E27FC236}">
                <a16:creationId xmlns:a16="http://schemas.microsoft.com/office/drawing/2014/main" id="{C3BAD53A-6DC0-4A46-BEFE-E2FA146DDF32}"/>
              </a:ext>
            </a:extLst>
          </p:cNvPr>
          <p:cNvSpPr>
            <a:spLocks xmlns:a="http://schemas.openxmlformats.org/drawingml/2006/main" noGrp="1"/>
          </p:cNvSpPr>
          <p:nvPr/>
        </p:nvSpPr>
        <p:spPr>
          <a:xfrm xmlns:a="http://schemas.openxmlformats.org/drawingml/2006/main">
            <a:off x="6667500" y="3095625"/>
            <a:ext cx="76200" cy="76200"/>
          </a:xfrm>
          <a:prstGeom xmlns:a="http://schemas.openxmlformats.org/drawingml/2006/main" prst="rect">
            <a:avLst/>
          </a:prstGeom>
          <a:solidFill xmlns:a="http://schemas.openxmlformats.org/drawingml/2006/main">
            <a:srgbClr val="000000"/>
          </a:solidFill>
          <a:ln xmlns:a="http://schemas.openxmlformats.org/drawingml/2006/main" w="0">
            <a:solidFill>
              <a:srgbClr val="000000"/>
            </a:solidFill>
            <a:prstDash val="solid"/>
          </a:ln>
        </p:spPr>
      </p:sp>
      <p:sp>
        <p:nvSpPr>
          <p:cNvPr id="21" name="">
            <a:extLst xmlns:a="http://schemas.openxmlformats.org/drawingml/2006/main">
              <a:ext uri="{FF2B5EF4-FFF2-40B4-BE49-F238E27FC236}">
                <a16:creationId xmlns:a16="http://schemas.microsoft.com/office/drawing/2014/main" id="{D947F6D6-BBBB-4E8E-8206-F11A40FBFE44}"/>
              </a:ext>
            </a:extLst>
          </p:cNvPr>
          <p:cNvSpPr>
            <a:spLocks xmlns:a="http://schemas.openxmlformats.org/drawingml/2006/main" noGrp="1"/>
          </p:cNvSpPr>
          <p:nvPr/>
        </p:nvSpPr>
        <p:spPr>
          <a:xfrm xmlns:a="http://schemas.openxmlformats.org/drawingml/2006/main">
            <a:off x="6838950" y="3019425"/>
            <a:ext cx="3924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000000"/>
                </a:solidFill>
              </a:defRPr>
            </a:pPr>
            <a:r>
              <a:rPr sz="1275" b="0">
                <a:solidFill>
                  <a:srgbClr val="000000"/>
                </a:solidFill>
              </a:rPr>
              <a:t>DevOps 最小闭环范围</a:t>
            </a:r>
          </a:p>
        </p:txBody>
      </p:sp>
      <p:sp>
        <p:nvSpPr>
          <p:cNvPr id="22" name="">
            <a:extLst xmlns:a="http://schemas.openxmlformats.org/drawingml/2006/main">
              <a:ext uri="{FF2B5EF4-FFF2-40B4-BE49-F238E27FC236}">
                <a16:creationId xmlns:a16="http://schemas.microsoft.com/office/drawing/2014/main" id="{07FD25BB-C851-4195-A5F5-4EF4FC447BE4}"/>
              </a:ext>
            </a:extLst>
          </p:cNvPr>
          <p:cNvSpPr>
            <a:spLocks xmlns:a="http://schemas.openxmlformats.org/drawingml/2006/main" noGrp="1"/>
          </p:cNvSpPr>
          <p:nvPr/>
        </p:nvSpPr>
        <p:spPr>
          <a:xfrm xmlns:a="http://schemas.openxmlformats.org/drawingml/2006/main">
            <a:off x="6667500" y="3543300"/>
            <a:ext cx="76200" cy="76200"/>
          </a:xfrm>
          <a:prstGeom xmlns:a="http://schemas.openxmlformats.org/drawingml/2006/main" prst="rect">
            <a:avLst/>
          </a:prstGeom>
          <a:solidFill xmlns:a="http://schemas.openxmlformats.org/drawingml/2006/main">
            <a:srgbClr val="000000"/>
          </a:solidFill>
          <a:ln xmlns:a="http://schemas.openxmlformats.org/drawingml/2006/main" w="0">
            <a:solidFill>
              <a:srgbClr val="000000"/>
            </a:solidFill>
            <a:prstDash val="solid"/>
          </a:ln>
        </p:spPr>
      </p:sp>
      <p:sp>
        <p:nvSpPr>
          <p:cNvPr id="23" name="">
            <a:extLst xmlns:a="http://schemas.openxmlformats.org/drawingml/2006/main">
              <a:ext uri="{FF2B5EF4-FFF2-40B4-BE49-F238E27FC236}">
                <a16:creationId xmlns:a16="http://schemas.microsoft.com/office/drawing/2014/main" id="{BC043D46-1F46-4D96-9BA2-0D81A82C52C0}"/>
              </a:ext>
            </a:extLst>
          </p:cNvPr>
          <p:cNvSpPr>
            <a:spLocks xmlns:a="http://schemas.openxmlformats.org/drawingml/2006/main" noGrp="1"/>
          </p:cNvSpPr>
          <p:nvPr/>
        </p:nvSpPr>
        <p:spPr>
          <a:xfrm xmlns:a="http://schemas.openxmlformats.org/drawingml/2006/main">
            <a:off x="6838950" y="3467100"/>
            <a:ext cx="3924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000000"/>
                </a:solidFill>
              </a:defRPr>
            </a:pPr>
            <a:r>
              <a:rPr sz="1275" b="0">
                <a:solidFill>
                  <a:srgbClr val="000000"/>
                </a:solidFill>
              </a:rPr>
              <a:t>agent 市场和 Skills 市场轻量版</a:t>
            </a:r>
          </a:p>
        </p:txBody>
      </p:sp>
      <p:sp>
        <p:nvSpPr>
          <p:cNvPr id="24" name="">
            <a:extLst xmlns:a="http://schemas.openxmlformats.org/drawingml/2006/main">
              <a:ext uri="{FF2B5EF4-FFF2-40B4-BE49-F238E27FC236}">
                <a16:creationId xmlns:a16="http://schemas.microsoft.com/office/drawing/2014/main" id="{A7F5A0B1-730B-4BD7-9673-86E2D99854E3}"/>
              </a:ext>
            </a:extLst>
          </p:cNvPr>
          <p:cNvSpPr>
            <a:spLocks xmlns:a="http://schemas.openxmlformats.org/drawingml/2006/main" noGrp="1"/>
          </p:cNvSpPr>
          <p:nvPr/>
        </p:nvSpPr>
        <p:spPr>
          <a:xfrm xmlns:a="http://schemas.openxmlformats.org/drawingml/2006/main">
            <a:off x="6667500" y="3990975"/>
            <a:ext cx="76200" cy="76200"/>
          </a:xfrm>
          <a:prstGeom xmlns:a="http://schemas.openxmlformats.org/drawingml/2006/main" prst="rect">
            <a:avLst/>
          </a:prstGeom>
          <a:solidFill xmlns:a="http://schemas.openxmlformats.org/drawingml/2006/main">
            <a:srgbClr val="000000"/>
          </a:solidFill>
          <a:ln xmlns:a="http://schemas.openxmlformats.org/drawingml/2006/main" w="0">
            <a:solidFill>
              <a:srgbClr val="000000"/>
            </a:solidFill>
            <a:prstDash val="solid"/>
          </a:ln>
        </p:spPr>
      </p:sp>
      <p:sp>
        <p:nvSpPr>
          <p:cNvPr id="25" name="">
            <a:extLst xmlns:a="http://schemas.openxmlformats.org/drawingml/2006/main">
              <a:ext uri="{FF2B5EF4-FFF2-40B4-BE49-F238E27FC236}">
                <a16:creationId xmlns:a16="http://schemas.microsoft.com/office/drawing/2014/main" id="{09BDAE7B-C7EC-427A-B36E-3E7090211AB8}"/>
              </a:ext>
            </a:extLst>
          </p:cNvPr>
          <p:cNvSpPr>
            <a:spLocks xmlns:a="http://schemas.openxmlformats.org/drawingml/2006/main" noGrp="1"/>
          </p:cNvSpPr>
          <p:nvPr/>
        </p:nvSpPr>
        <p:spPr>
          <a:xfrm xmlns:a="http://schemas.openxmlformats.org/drawingml/2006/main">
            <a:off x="6838950" y="3914775"/>
            <a:ext cx="3924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000000"/>
                </a:solidFill>
              </a:defRPr>
            </a:pPr>
            <a:r>
              <a:rPr sz="1275" b="0">
                <a:solidFill>
                  <a:srgbClr val="000000"/>
                </a:solidFill>
              </a:rPr>
              <a:t>数据流转可视化作为演示第一优先级</a:t>
            </a:r>
          </a:p>
        </p:txBody>
      </p:sp>
      <p:sp>
        <p:nvSpPr>
          <p:cNvPr id="26" name="">
            <a:extLst xmlns:a="http://schemas.openxmlformats.org/drawingml/2006/main">
              <a:ext uri="{FF2B5EF4-FFF2-40B4-BE49-F238E27FC236}">
                <a16:creationId xmlns:a16="http://schemas.microsoft.com/office/drawing/2014/main" id="{945F032B-40BC-44EE-9FBD-7DA68FFFECE0}"/>
              </a:ext>
            </a:extLst>
          </p:cNvPr>
          <p:cNvSpPr>
            <a:spLocks xmlns:a="http://schemas.openxmlformats.org/drawingml/2006/main" noGrp="1"/>
          </p:cNvSpPr>
          <p:nvPr/>
        </p:nvSpPr>
        <p:spPr>
          <a:xfrm xmlns:a="http://schemas.openxmlformats.org/drawingml/2006/main">
            <a:off x="6667500" y="4438650"/>
            <a:ext cx="76200" cy="76200"/>
          </a:xfrm>
          <a:prstGeom xmlns:a="http://schemas.openxmlformats.org/drawingml/2006/main" prst="rect">
            <a:avLst/>
          </a:prstGeom>
          <a:solidFill xmlns:a="http://schemas.openxmlformats.org/drawingml/2006/main">
            <a:srgbClr val="000000"/>
          </a:solidFill>
          <a:ln xmlns:a="http://schemas.openxmlformats.org/drawingml/2006/main" w="0">
            <a:solidFill>
              <a:srgbClr val="000000"/>
            </a:solidFill>
            <a:prstDash val="solid"/>
          </a:ln>
        </p:spPr>
      </p:sp>
      <p:sp>
        <p:nvSpPr>
          <p:cNvPr id="27" name="">
            <a:extLst xmlns:a="http://schemas.openxmlformats.org/drawingml/2006/main">
              <a:ext uri="{FF2B5EF4-FFF2-40B4-BE49-F238E27FC236}">
                <a16:creationId xmlns:a16="http://schemas.microsoft.com/office/drawing/2014/main" id="{AF1B34AE-D34E-4AED-8E3F-F05049EB5919}"/>
              </a:ext>
            </a:extLst>
          </p:cNvPr>
          <p:cNvSpPr>
            <a:spLocks xmlns:a="http://schemas.openxmlformats.org/drawingml/2006/main" noGrp="1"/>
          </p:cNvSpPr>
          <p:nvPr/>
        </p:nvSpPr>
        <p:spPr>
          <a:xfrm xmlns:a="http://schemas.openxmlformats.org/drawingml/2006/main">
            <a:off x="6838950" y="4362450"/>
            <a:ext cx="3924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000000"/>
                </a:solidFill>
              </a:defRPr>
            </a:pPr>
            <a:r>
              <a:rPr sz="1275" b="0">
                <a:solidFill>
                  <a:srgbClr val="000000"/>
                </a:solidFill>
              </a:rPr>
              <a:t>航母相关场景作为首批领域能力包样本</a:t>
            </a:r>
          </a:p>
        </p:txBody>
      </p:sp>
      <p:sp>
        <p:nvSpPr>
          <p:cNvPr id="28" name="">
            <a:extLst xmlns:a="http://schemas.openxmlformats.org/drawingml/2006/main">
              <a:ext uri="{FF2B5EF4-FFF2-40B4-BE49-F238E27FC236}">
                <a16:creationId xmlns:a16="http://schemas.microsoft.com/office/drawing/2014/main" id="{FFF8594E-3FF4-4989-877D-22850824107B}"/>
              </a:ext>
            </a:extLst>
          </p:cNvPr>
          <p:cNvSpPr>
            <a:spLocks xmlns:a="http://schemas.openxmlformats.org/drawingml/2006/main" noGrp="1"/>
          </p:cNvSpPr>
          <p:nvPr/>
        </p:nvSpPr>
        <p:spPr>
          <a:xfrm xmlns:a="http://schemas.openxmlformats.org/drawingml/2006/main">
            <a:off x="514350" y="63817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555555"/>
                </a:solidFill>
              </a:defRPr>
            </a:pPr>
            <a:r>
              <a:rPr sz="1050" b="0">
                <a:solidFill>
                  <a:srgbClr val="555555"/>
                </a:solidFill>
              </a:rPr>
              <a:t>西安 630 项目软件工厂复盘</a:t>
            </a:r>
          </a:p>
        </p:txBody>
      </p:sp>
      <p:sp>
        <p:nvSpPr>
          <p:cNvPr id="29" name="">
            <a:extLst xmlns:a="http://schemas.openxmlformats.org/drawingml/2006/main">
              <a:ext uri="{FF2B5EF4-FFF2-40B4-BE49-F238E27FC236}">
                <a16:creationId xmlns:a16="http://schemas.microsoft.com/office/drawing/2014/main" id="{2638AEF5-BE6C-4A3E-B5BE-855773A8BF76}"/>
              </a:ext>
            </a:extLst>
          </p:cNvPr>
          <p:cNvSpPr>
            <a:spLocks xmlns:a="http://schemas.openxmlformats.org/drawingml/2006/main" noGrp="1"/>
          </p:cNvSpPr>
          <p:nvPr/>
        </p:nvSpPr>
        <p:spPr>
          <a:xfrm xmlns:a="http://schemas.openxmlformats.org/drawingml/2006/main">
            <a:off x="11287125" y="6381750"/>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a:solidFill>
                  <a:srgbClr val="555555"/>
                </a:solidFill>
              </a:defRPr>
            </a:pPr>
            <a:r>
              <a:rPr sz="1050" b="1">
                <a:solidFill>
                  <a:srgbClr val="555555"/>
                </a:solidFill>
              </a:rPr>
              <a:t>10</a:t>
            </a:r>
          </a:p>
        </p:txBody>
      </p:sp>
    </p:spTree>
    <p:extLst>
      <p:ext uri="{BB962C8B-B14F-4D97-AF65-F5344CB8AC3E}">
        <p14:creationId xmlns:p14="http://schemas.microsoft.com/office/powerpoint/2010/main" val="120018158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2026-07-02T14:01:52.1150000Z</dcterms:created>
  <dcterms:modified xsi:type="dcterms:W3CDTF">2026-07-02T14:01:52.1150000Z</dcterms:modified>
</coreProperties>
</file>