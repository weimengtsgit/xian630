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311cfeacc8d4563" /><Relationship Type="http://schemas.openxmlformats.org/officeDocument/2006/relationships/extended-properties" Target="/docProps/app.xml" Id="R255890895b524a55" /><Relationship Type="http://schemas.openxmlformats.org/officeDocument/2006/relationships/officeDocument" Target="/ppt/presentation.xml" Id="Ra1900b6dbc8a4372" /></Relationships>
</file>

<file path=ppt/presentation.xml><?xml version="1.0" encoding="utf-8"?>
<p:presentation xmlns:p="http://schemas.openxmlformats.org/presentationml/2006/main">
  <p:sldMasterIdLst>
    <p:sldMasterId xmlns:r="http://schemas.openxmlformats.org/officeDocument/2006/relationships" id="2147483648" r:id="Rc27bcc28340f4488"/>
  </p:sldMasterIdLst>
  <p:notesMasterIdLst>
    <p:notesMasterId xmlns:r="http://schemas.openxmlformats.org/officeDocument/2006/relationships" r:id="R1acd34bd190f4f2e"/>
  </p:notesMasterIdLst>
  <p:sldIdLst>
    <p:sldId xmlns:r="http://schemas.openxmlformats.org/officeDocument/2006/relationships" id="256" r:id="R539d39fdb1a34986"/>
    <p:sldId xmlns:r="http://schemas.openxmlformats.org/officeDocument/2006/relationships" id="257" r:id="R7edd1877e1024e17"/>
    <p:sldId xmlns:r="http://schemas.openxmlformats.org/officeDocument/2006/relationships" id="258" r:id="R6aa91c826176403f"/>
    <p:sldId xmlns:r="http://schemas.openxmlformats.org/officeDocument/2006/relationships" id="259" r:id="R974b38953f584b5b"/>
    <p:sldId xmlns:r="http://schemas.openxmlformats.org/officeDocument/2006/relationships" id="260" r:id="R42e83e0a3a7344a5"/>
    <p:sldId xmlns:r="http://schemas.openxmlformats.org/officeDocument/2006/relationships" id="261" r:id="R2adca1921bd84b39"/>
    <p:sldId xmlns:r="http://schemas.openxmlformats.org/officeDocument/2006/relationships" id="262" r:id="Ra454a95300bf4b41"/>
    <p:sldId xmlns:r="http://schemas.openxmlformats.org/officeDocument/2006/relationships" id="263" r:id="R22bd6d7277aa4dec"/>
    <p:sldId xmlns:r="http://schemas.openxmlformats.org/officeDocument/2006/relationships" id="264" r:id="R783277eadc7a467a"/>
    <p:sldId xmlns:r="http://schemas.openxmlformats.org/officeDocument/2006/relationships" id="265" r:id="R5f2109f03ecd42b8"/>
    <p:sldId xmlns:r="http://schemas.openxmlformats.org/officeDocument/2006/relationships" id="266" r:id="Red17a3b254294a8a"/>
    <p:sldId xmlns:r="http://schemas.openxmlformats.org/officeDocument/2006/relationships" id="267" r:id="R641e5ece969a4135"/>
    <p:sldId xmlns:r="http://schemas.openxmlformats.org/officeDocument/2006/relationships" id="268" r:id="Rb2503bf56591443a"/>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80438f8bcdb45b4" /><Relationship Type="http://schemas.openxmlformats.org/officeDocument/2006/relationships/slideMaster" Target="/ppt/slideMasters/slideMaster1.xml" Id="Rc27bcc28340f4488" /><Relationship Type="http://schemas.openxmlformats.org/officeDocument/2006/relationships/notesMaster" Target="/ppt/notesMasters/notesMaster1.xml" Id="R1acd34bd190f4f2e" /><Relationship Type="http://schemas.openxmlformats.org/officeDocument/2006/relationships/presProps" Target="/ppt/presProps.xml" Id="R073bc18228234d1b" /><Relationship Type="http://schemas.openxmlformats.org/officeDocument/2006/relationships/tableStyles" Target="/ppt/tableStyles.xml" Id="Rd00e14713eec4276" /><Relationship Type="http://schemas.openxmlformats.org/officeDocument/2006/relationships/slide" Target="/ppt/slides/slide1.xml" Id="R539d39fdb1a34986" /><Relationship Type="http://schemas.openxmlformats.org/officeDocument/2006/relationships/slide" Target="/ppt/slides/slide2.xml" Id="R7edd1877e1024e17" /><Relationship Type="http://schemas.openxmlformats.org/officeDocument/2006/relationships/slide" Target="/ppt/slides/slide3.xml" Id="R6aa91c826176403f" /><Relationship Type="http://schemas.openxmlformats.org/officeDocument/2006/relationships/slide" Target="/ppt/slides/slide4.xml" Id="R974b38953f584b5b" /><Relationship Type="http://schemas.openxmlformats.org/officeDocument/2006/relationships/slide" Target="/ppt/slides/slide5.xml" Id="R42e83e0a3a7344a5" /><Relationship Type="http://schemas.openxmlformats.org/officeDocument/2006/relationships/slide" Target="/ppt/slides/slide6.xml" Id="R2adca1921bd84b39" /><Relationship Type="http://schemas.openxmlformats.org/officeDocument/2006/relationships/slide" Target="/ppt/slides/slide7.xml" Id="Ra454a95300bf4b41" /><Relationship Type="http://schemas.openxmlformats.org/officeDocument/2006/relationships/slide" Target="/ppt/slides/slide8.xml" Id="R22bd6d7277aa4dec" /><Relationship Type="http://schemas.openxmlformats.org/officeDocument/2006/relationships/slide" Target="/ppt/slides/slide9.xml" Id="R783277eadc7a467a" /><Relationship Type="http://schemas.openxmlformats.org/officeDocument/2006/relationships/slide" Target="/ppt/slides/slide10.xml" Id="R5f2109f03ecd42b8" /><Relationship Type="http://schemas.openxmlformats.org/officeDocument/2006/relationships/slide" Target="/ppt/slides/slide11.xml" Id="Red17a3b254294a8a" /><Relationship Type="http://schemas.openxmlformats.org/officeDocument/2006/relationships/slide" Target="/ppt/slides/slide12.xml" Id="R641e5ece969a4135" /><Relationship Type="http://schemas.openxmlformats.org/officeDocument/2006/relationships/slide" Target="/ppt/slides/slide13.xml" Id="Rb2503bf56591443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6a9646e65b74be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cf95fc676b94007" /><Relationship Type="http://schemas.openxmlformats.org/officeDocument/2006/relationships/notesMaster" Target="/ppt/notesMasters/notesMaster1.xml" Id="R09607abbb69e4b3b" /></Relationships>
</file>

<file path=ppt/notesSlides/_rels/notesSlide2.xml.rels>&#65279;<?xml version="1.0" encoding="utf-8"?><Relationships xmlns="http://schemas.openxmlformats.org/package/2006/relationships"><Relationship Type="http://schemas.openxmlformats.org/officeDocument/2006/relationships/slide" Target="/ppt/slides/slide2.xml" Id="Rbb64bf95de844f77" /><Relationship Type="http://schemas.openxmlformats.org/officeDocument/2006/relationships/notesMaster" Target="/ppt/notesMasters/notesMaster1.xml" Id="R81fe1a15602044b7" /></Relationships>
</file>

<file path=ppt/notesSlides/_rels/notesSlide3.xml.rels>&#65279;<?xml version="1.0" encoding="utf-8"?><Relationships xmlns="http://schemas.openxmlformats.org/package/2006/relationships"><Relationship Type="http://schemas.openxmlformats.org/officeDocument/2006/relationships/slide" Target="/ppt/slides/slide3.xml" Id="Ra9f2b0ec49bb451f" /><Relationship Type="http://schemas.openxmlformats.org/officeDocument/2006/relationships/notesMaster" Target="/ppt/notesMasters/notesMaster1.xml" Id="Rd175abc1aad942c3" /></Relationships>
</file>

<file path=ppt/notesSlides/_rels/notesSlide4.xml.rels>&#65279;<?xml version="1.0" encoding="utf-8"?><Relationships xmlns="http://schemas.openxmlformats.org/package/2006/relationships"><Relationship Type="http://schemas.openxmlformats.org/officeDocument/2006/relationships/slide" Target="/ppt/slides/slide4.xml" Id="R5ce6f7ef4ab44fd2" /><Relationship Type="http://schemas.openxmlformats.org/officeDocument/2006/relationships/notesMaster" Target="/ppt/notesMasters/notesMaster1.xml" Id="R89993a8b288042d8" /></Relationships>
</file>

<file path=ppt/notesSlides/_rels/notesSlide5.xml.rels>&#65279;<?xml version="1.0" encoding="utf-8"?><Relationships xmlns="http://schemas.openxmlformats.org/package/2006/relationships"><Relationship Type="http://schemas.openxmlformats.org/officeDocument/2006/relationships/slide" Target="/ppt/slides/slide5.xml" Id="R01ad7a433bca4035" /><Relationship Type="http://schemas.openxmlformats.org/officeDocument/2006/relationships/notesMaster" Target="/ppt/notesMasters/notesMaster1.xml" Id="Rf7d3f298e8a84285" /></Relationships>
</file>

<file path=ppt/notesSlides/_rels/notesSlide6.xml.rels>&#65279;<?xml version="1.0" encoding="utf-8"?><Relationships xmlns="http://schemas.openxmlformats.org/package/2006/relationships"><Relationship Type="http://schemas.openxmlformats.org/officeDocument/2006/relationships/slide" Target="/ppt/slides/slide6.xml" Id="Rc1d1c1a56211468e" /><Relationship Type="http://schemas.openxmlformats.org/officeDocument/2006/relationships/notesMaster" Target="/ppt/notesMasters/notesMaster1.xml" Id="R62bd69f113924c0f" /></Relationships>
</file>

<file path=ppt/notesSlides/_rels/notesSlide7.xml.rels>&#65279;<?xml version="1.0" encoding="utf-8"?><Relationships xmlns="http://schemas.openxmlformats.org/package/2006/relationships"><Relationship Type="http://schemas.openxmlformats.org/officeDocument/2006/relationships/slide" Target="/ppt/slides/slide7.xml" Id="Rfd4f2a90af2d48b2" /><Relationship Type="http://schemas.openxmlformats.org/officeDocument/2006/relationships/notesMaster" Target="/ppt/notesMasters/notesMaster1.xml" Id="R348929ffd8a640ce" /></Relationships>
</file>

<file path=ppt/notesSlides/_rels/notesSlide8.xml.rels>&#65279;<?xml version="1.0" encoding="utf-8"?><Relationships xmlns="http://schemas.openxmlformats.org/package/2006/relationships"><Relationship Type="http://schemas.openxmlformats.org/officeDocument/2006/relationships/slide" Target="/ppt/slides/slide8.xml" Id="Rf5ce5e2cac9341d4" /><Relationship Type="http://schemas.openxmlformats.org/officeDocument/2006/relationships/notesMaster" Target="/ppt/notesMasters/notesMaster1.xml" Id="R4d66a5b65f6f4b49" /></Relationships>
</file>

<file path=ppt/notesSlides/_rels/notesSlide9.xml.rels>&#65279;<?xml version="1.0" encoding="utf-8"?><Relationships xmlns="http://schemas.openxmlformats.org/package/2006/relationships"><Relationship Type="http://schemas.openxmlformats.org/officeDocument/2006/relationships/slide" Target="/ppt/slides/slide9.xml" Id="Rcd269443f6fa4256" /><Relationship Type="http://schemas.openxmlformats.org/officeDocument/2006/relationships/notesMaster" Target="/ppt/notesMasters/notesMaster1.xml" Id="Rb990f349d287469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03da4cedd874947" /><Relationship Type="http://schemas.openxmlformats.org/officeDocument/2006/relationships/notesMaster" Target="/ppt/notesMasters/notesMaster1.xml" Id="R7c0efc36045f4aa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b19e5b3b2634039" /><Relationship Type="http://schemas.openxmlformats.org/officeDocument/2006/relationships/notesMaster" Target="/ppt/notesMasters/notesMaster1.xml" Id="R2ac1ee2d3a3e45b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b65f84612fb4fe0" /><Relationship Type="http://schemas.openxmlformats.org/officeDocument/2006/relationships/notesMaster" Target="/ppt/notesMasters/notesMaster1.xml" Id="R2712470120224c4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c2a2ca5825b476f" /><Relationship Type="http://schemas.openxmlformats.org/officeDocument/2006/relationships/notesMaster" Target="/ppt/notesMasters/notesMaster1.xml" Id="R1c3f019b5d254ff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开场先定调：本次项目证明了关键闭环，但不能把客户这次看到的形态直接当成电子云软件工厂未来完整定义。</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这三层需要分开讲。客户口径不是全部产品定义；交付验证说明我们当前站在哪里；产品主张回答下一步往哪里走。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客户提供的航母相关场景不是普通页面生成需求，而是在测试软件工厂的领域知识、数据接入、规则研判和应用表达能力。</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重点不是比较输赢，而是识别客户认可能力差距：我们已证明闭环，但还要把需求澄清、数据流转和 agent 协作过程做得更可见。</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数据流转可视化应放第一优先级。客户最容易质疑数据是否真实、怎么来、怎么处理、怎么进入分析、最终怎么展示。</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应用生成是重要入口，但不是终局。真正的主轴是 agent 能力如何被管理、编排、分发、沉淀，并进入真实工程生产链路。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产品架构重点说明三件事：用户在软件工厂工作台看到过程，agent 编排负责执行，DevOps 等云产品承接最终工程资产。</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这页表达未来软件工厂技术目标：不是当前本地 factory-server 的实现图，而是工作台、编排内核、agent runtime、模型网关、能力资产和云产品连接器共同组成的平台架构。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这页表达未来软件工厂部署目标：平台服务域承载产品能力，执行节点池承载弹性 agent 执行，集成域连接云产品和客户系统，生成应用运行域与平台解耦。</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未来软件工厂不能是固定 agent 流水线。客户领域不同、系统环境不同、交付目标不同，参与计划就应该不同。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客户场景越多，不应每次从零开始。软件工厂应通过领域能力包沉淀经验，并通过云产品底座进入真实工程链路。</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DevOps 是第一阶段最优先打通对象，因为它承接软件生产主链路。与此同时，数据职责必须分清，否则软件工厂后端容易变成业务数据中台。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最后要把汇报收束到可决策事项上。复盘不应停留在观点，而应推动下一阶段建设边界和优先级落地。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80a873643794d2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c0f157f1b8345f2" /><Relationship Type="http://schemas.openxmlformats.org/officeDocument/2006/relationships/slideLayout" Target="/ppt/slideLayouts/slideLayout1.xml" Id="R0c20e6ac786c424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c20e6ac786c424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13aaaa2a3a14c35" /><Relationship Type="http://schemas.openxmlformats.org/officeDocument/2006/relationships/notesSlide" Target="/ppt/notesSlides/notesSlide1.xml" Id="R0d7ab89cc02c4cc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c2a973d3cd24047" /><Relationship Type="http://schemas.openxmlformats.org/officeDocument/2006/relationships/notesSlide" Target="/ppt/notesSlides/notesSlide2.xml" Id="Rfe221d5ea23042a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5bf02df4ec44b3b" /><Relationship Type="http://schemas.openxmlformats.org/officeDocument/2006/relationships/notesSlide" Target="/ppt/notesSlides/notesSlide3.xml" Id="R54ed499e06284a4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fdea03d1a8f48e0" /><Relationship Type="http://schemas.openxmlformats.org/officeDocument/2006/relationships/notesSlide" Target="/ppt/notesSlides/notesSlide4.xml" Id="Rb220b4f11bdb4e4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fafb2e5a3ad4426" /><Relationship Type="http://schemas.openxmlformats.org/officeDocument/2006/relationships/notesSlide" Target="/ppt/notesSlides/notesSlide5.xml" Id="R4340982c2f8a44c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fcb49ae9bee48bf" /><Relationship Type="http://schemas.openxmlformats.org/officeDocument/2006/relationships/notesSlide" Target="/ppt/notesSlides/notesSlide6.xml" Id="R123dbbca53b240f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2b5abc001134e60" /><Relationship Type="http://schemas.openxmlformats.org/officeDocument/2006/relationships/notesSlide" Target="/ppt/notesSlides/notesSlide7.xml" Id="R873ae5025c8c4a3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7dc1be9b2f2472e" /><Relationship Type="http://schemas.openxmlformats.org/officeDocument/2006/relationships/notesSlide" Target="/ppt/notesSlides/notesSlide8.xml" Id="R930c7e8faf134b5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3c64e84d6324c09" /><Relationship Type="http://schemas.openxmlformats.org/officeDocument/2006/relationships/notesSlide" Target="/ppt/notesSlides/notesSlide9.xml" Id="R587016a86418481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41f05239c704ffb" /><Relationship Type="http://schemas.openxmlformats.org/officeDocument/2006/relationships/notesSlide" Target="/ppt/notesSlides/notesSlide10.xml" Id="R4cc689bc5dba40f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62aad2e524f4fd5" /><Relationship Type="http://schemas.openxmlformats.org/officeDocument/2006/relationships/notesSlide" Target="/ppt/notesSlides/notesSlide11.xml" Id="R5778b9b8c6aa4a6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09f7e6fe3584bf8" /><Relationship Type="http://schemas.openxmlformats.org/officeDocument/2006/relationships/notesSlide" Target="/ppt/notesSlides/notesSlide12.xml" Id="Rf58356b87695437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fbd3a2c5d4e40d5" /><Relationship Type="http://schemas.openxmlformats.org/officeDocument/2006/relationships/notesSlide" Target="/ppt/notesSlides/notesSlide13.xml" Id="R01d716f298b54d5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9CDE874-6C7B-4122-8ED6-664B0E89FB16}"/>
              </a:ext>
            </a:extLst>
          </p:cNvPr>
          <p:cNvSpPr>
            <a:spLocks xmlns:a="http://schemas.openxmlformats.org/drawingml/2006/main" noGrp="1"/>
          </p:cNvSpPr>
          <p:nvPr/>
        </p:nvSpPr>
        <p:spPr>
          <a:xfrm xmlns:a="http://schemas.openxmlformats.org/drawingml/2006/main">
            <a:off x="514350" y="4572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555555"/>
                </a:solidFill>
              </a:defRPr>
            </a:pPr>
            <a:r>
              <a:rPr sz="1125" b="1">
                <a:solidFill>
                  <a:srgbClr val="555555"/>
                </a:solidFill>
              </a:rPr>
              <a:t>内部产品与交付决策层</a:t>
            </a:r>
          </a:p>
        </p:txBody>
      </p:sp>
      <p:sp>
        <p:nvSpPr>
          <p:cNvPr id="2" name="">
            <a:extLst xmlns:a="http://schemas.openxmlformats.org/drawingml/2006/main">
              <a:ext uri="{FF2B5EF4-FFF2-40B4-BE49-F238E27FC236}">
                <a16:creationId xmlns:a16="http://schemas.microsoft.com/office/drawing/2014/main" id="{7520CDE7-4C36-41B0-875D-C0E52F5B4E57}"/>
              </a:ext>
            </a:extLst>
          </p:cNvPr>
          <p:cNvSpPr>
            <a:spLocks xmlns:a="http://schemas.openxmlformats.org/drawingml/2006/main" noGrp="1"/>
          </p:cNvSpPr>
          <p:nvPr/>
        </p:nvSpPr>
        <p:spPr>
          <a:xfrm xmlns:a="http://schemas.openxmlformats.org/drawingml/2006/main">
            <a:off x="514350" y="1238250"/>
            <a:ext cx="7239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500" b="1">
                <a:solidFill>
                  <a:srgbClr val="000000"/>
                </a:solidFill>
              </a:defRPr>
            </a:pPr>
            <a:r>
              <a:rPr sz="4500" b="1">
                <a:solidFill>
                  <a:srgbClr val="000000"/>
                </a:solidFill>
              </a:rPr>
              <a:t>西安 630 项目</a:t>
            </a:r>
          </a:p>
          <a:p xmlns:a="http://schemas.openxmlformats.org/drawingml/2006/main">
            <a:pPr algn="l">
              <a:defRPr sz="4500" b="1">
                <a:solidFill>
                  <a:srgbClr val="000000"/>
                </a:solidFill>
              </a:defRPr>
            </a:pPr>
            <a:r>
              <a:rPr sz="4500" b="1">
                <a:solidFill>
                  <a:srgbClr val="000000"/>
                </a:solidFill>
              </a:rPr>
              <a:t>软件工厂复盘</a:t>
            </a:r>
          </a:p>
        </p:txBody>
      </p:sp>
      <p:sp>
        <p:nvSpPr>
          <p:cNvPr id="3" name="">
            <a:extLst xmlns:a="http://schemas.openxmlformats.org/drawingml/2006/main">
              <a:ext uri="{FF2B5EF4-FFF2-40B4-BE49-F238E27FC236}">
                <a16:creationId xmlns:a16="http://schemas.microsoft.com/office/drawing/2014/main" id="{8360FF62-4403-4BF1-B275-A9C53FF09C6F}"/>
              </a:ext>
            </a:extLst>
          </p:cNvPr>
          <p:cNvSpPr>
            <a:spLocks xmlns:a="http://schemas.openxmlformats.org/drawingml/2006/main" noGrp="1"/>
          </p:cNvSpPr>
          <p:nvPr/>
        </p:nvSpPr>
        <p:spPr>
          <a:xfrm xmlns:a="http://schemas.openxmlformats.org/drawingml/2006/main">
            <a:off x="514350" y="3190875"/>
            <a:ext cx="723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555555"/>
                </a:solidFill>
              </a:defRPr>
            </a:pPr>
            <a:r>
              <a:rPr sz="1800" b="0">
                <a:solidFill>
                  <a:srgbClr val="555555"/>
                </a:solidFill>
              </a:rPr>
              <a:t>从客户理解口径到电子云软件工厂产品主张</a:t>
            </a:r>
          </a:p>
        </p:txBody>
      </p:sp>
      <p:sp>
        <p:nvSpPr>
          <p:cNvPr id="4" name="">
            <a:extLst xmlns:a="http://schemas.openxmlformats.org/drawingml/2006/main">
              <a:ext uri="{FF2B5EF4-FFF2-40B4-BE49-F238E27FC236}">
                <a16:creationId xmlns:a16="http://schemas.microsoft.com/office/drawing/2014/main" id="{6D5398CB-BC5F-4002-8ABC-F60F479F9C78}"/>
              </a:ext>
            </a:extLst>
          </p:cNvPr>
          <p:cNvSpPr>
            <a:spLocks xmlns:a="http://schemas.openxmlformats.org/drawingml/2006/main" noGrp="1"/>
          </p:cNvSpPr>
          <p:nvPr/>
        </p:nvSpPr>
        <p:spPr>
          <a:xfrm xmlns:a="http://schemas.openxmlformats.org/drawingml/2006/main">
            <a:off x="7905750" y="1047750"/>
            <a:ext cx="3333750" cy="371475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6A16E58-22A3-4568-96D8-F31149A00BDF}"/>
              </a:ext>
            </a:extLst>
          </p:cNvPr>
          <p:cNvSpPr>
            <a:spLocks xmlns:a="http://schemas.openxmlformats.org/drawingml/2006/main" noGrp="1"/>
          </p:cNvSpPr>
          <p:nvPr/>
        </p:nvSpPr>
        <p:spPr>
          <a:xfrm xmlns:a="http://schemas.openxmlformats.org/drawingml/2006/main">
            <a:off x="8172450" y="1381125"/>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FF6B35"/>
                </a:solidFill>
              </a:defRPr>
            </a:pPr>
            <a:r>
              <a:rPr sz="1125" b="1">
                <a:solidFill>
                  <a:srgbClr val="FF6B35"/>
                </a:solidFill>
              </a:rPr>
              <a:t>核心结论</a:t>
            </a:r>
          </a:p>
        </p:txBody>
      </p:sp>
      <p:sp>
        <p:nvSpPr>
          <p:cNvPr id="6" name="">
            <a:extLst xmlns:a="http://schemas.openxmlformats.org/drawingml/2006/main">
              <a:ext uri="{FF2B5EF4-FFF2-40B4-BE49-F238E27FC236}">
                <a16:creationId xmlns:a16="http://schemas.microsoft.com/office/drawing/2014/main" id="{CF5605C8-2BFB-4CA9-980A-CE11B6878DAC}"/>
              </a:ext>
            </a:extLst>
          </p:cNvPr>
          <p:cNvSpPr>
            <a:spLocks xmlns:a="http://schemas.openxmlformats.org/drawingml/2006/main" noGrp="1"/>
          </p:cNvSpPr>
          <p:nvPr/>
        </p:nvSpPr>
        <p:spPr>
          <a:xfrm xmlns:a="http://schemas.openxmlformats.org/drawingml/2006/main">
            <a:off x="8172450" y="1762125"/>
            <a:ext cx="271462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1">
                <a:solidFill>
                  <a:srgbClr val="000000"/>
                </a:solidFill>
              </a:defRPr>
            </a:pPr>
            <a:r>
              <a:rPr sz="2100" b="1">
                <a:solidFill>
                  <a:srgbClr val="000000"/>
                </a:solidFill>
              </a:rPr>
              <a:t>630 现场验证了最小闭环，但不等于产品终局。</a:t>
            </a:r>
          </a:p>
        </p:txBody>
      </p:sp>
      <p:sp>
        <p:nvSpPr>
          <p:cNvPr id="7" name="">
            <a:extLst xmlns:a="http://schemas.openxmlformats.org/drawingml/2006/main">
              <a:ext uri="{FF2B5EF4-FFF2-40B4-BE49-F238E27FC236}">
                <a16:creationId xmlns:a16="http://schemas.microsoft.com/office/drawing/2014/main" id="{C0F36D5C-9C36-40AA-8550-0E1BA693FEBA}"/>
              </a:ext>
            </a:extLst>
          </p:cNvPr>
          <p:cNvSpPr>
            <a:spLocks xmlns:a="http://schemas.openxmlformats.org/drawingml/2006/main" noGrp="1"/>
          </p:cNvSpPr>
          <p:nvPr/>
        </p:nvSpPr>
        <p:spPr>
          <a:xfrm xmlns:a="http://schemas.openxmlformats.org/drawingml/2006/main">
            <a:off x="8172450" y="3143250"/>
            <a:ext cx="27146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22222"/>
                </a:solidFill>
              </a:defRPr>
            </a:pPr>
            <a:r>
              <a:rPr sz="1350" b="0">
                <a:solidFill>
                  <a:srgbClr val="222222"/>
                </a:solidFill>
              </a:rPr>
              <a:t>长期主张：多 agent 管理协作、任务分发执行、领域能力包沉淀，并与云产品深度结合。</a:t>
            </a:r>
          </a:p>
        </p:txBody>
      </p:sp>
      <p:sp>
        <p:nvSpPr>
          <p:cNvPr id="8" name="">
            <a:extLst xmlns:a="http://schemas.openxmlformats.org/drawingml/2006/main">
              <a:ext uri="{FF2B5EF4-FFF2-40B4-BE49-F238E27FC236}">
                <a16:creationId xmlns:a16="http://schemas.microsoft.com/office/drawing/2014/main" id="{7D737DD5-736E-495C-9EBE-2E3C438CB2D5}"/>
              </a:ext>
            </a:extLst>
          </p:cNvPr>
          <p:cNvSpPr>
            <a:spLocks xmlns:a="http://schemas.openxmlformats.org/drawingml/2006/main" noGrp="1"/>
          </p:cNvSpPr>
          <p:nvPr/>
        </p:nvSpPr>
        <p:spPr>
          <a:xfrm xmlns:a="http://schemas.openxmlformats.org/drawingml/2006/main">
            <a:off x="514350" y="60007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55555"/>
                </a:solidFill>
              </a:defRPr>
            </a:pPr>
            <a:r>
              <a:rPr sz="1350" b="0">
                <a:solidFill>
                  <a:srgbClr val="555555"/>
                </a:solidFill>
              </a:rPr>
              <a:t>2026.06</a:t>
            </a:r>
          </a:p>
        </p:txBody>
      </p:sp>
    </p:spTree>
    <p:extLst>
      <p:ext uri="{BB962C8B-B14F-4D97-AF65-F5344CB8AC3E}">
        <p14:creationId xmlns:p14="http://schemas.microsoft.com/office/powerpoint/2010/main" val="57412729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E6505B3-D752-4CE6-AF7C-B1CD5C817F1A}"/>
              </a:ext>
            </a:extLst>
          </p:cNvPr>
          <p:cNvSpPr>
            <a:spLocks xmlns:a="http://schemas.openxmlformats.org/drawingml/2006/main" noGrp="1"/>
          </p:cNvSpPr>
          <p:nvPr/>
        </p:nvSpPr>
        <p:spPr>
          <a:xfrm xmlns:a="http://schemas.openxmlformats.org/drawingml/2006/main">
            <a:off x="514350" y="342900"/>
            <a:ext cx="10191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0000"/>
                </a:solidFill>
              </a:defRPr>
            </a:pPr>
            <a:r>
              <a:rPr sz="2700" b="1">
                <a:solidFill>
                  <a:srgbClr val="000000"/>
                </a:solidFill>
              </a:rPr>
              <a:t>本次复盘分三层看</a:t>
            </a:r>
          </a:p>
        </p:txBody>
      </p:sp>
      <p:sp>
        <p:nvSpPr>
          <p:cNvPr id="2" name="">
            <a:extLst xmlns:a="http://schemas.openxmlformats.org/drawingml/2006/main">
              <a:ext uri="{FF2B5EF4-FFF2-40B4-BE49-F238E27FC236}">
                <a16:creationId xmlns:a16="http://schemas.microsoft.com/office/drawing/2014/main" id="{461F8759-5D45-4255-BD2F-9D4446ACD008}"/>
              </a:ext>
            </a:extLst>
          </p:cNvPr>
          <p:cNvSpPr>
            <a:spLocks xmlns:a="http://schemas.openxmlformats.org/drawingml/2006/main" noGrp="1"/>
          </p:cNvSpPr>
          <p:nvPr/>
        </p:nvSpPr>
        <p:spPr>
          <a:xfrm xmlns:a="http://schemas.openxmlformats.org/drawingml/2006/main">
            <a:off x="514350" y="12001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55555"/>
                </a:solidFill>
              </a:defRPr>
            </a:pPr>
            <a:r>
              <a:rPr sz="1275" b="0">
                <a:solidFill>
                  <a:srgbClr val="555555"/>
                </a:solidFill>
              </a:rPr>
              <a:t>客户口径是输入，交付验证是现状，产品主张决定下一步。</a:t>
            </a:r>
          </a:p>
        </p:txBody>
      </p:sp>
      <p:sp>
        <p:nvSpPr>
          <p:cNvPr id="3" name="">
            <a:extLst xmlns:a="http://schemas.openxmlformats.org/drawingml/2006/main">
              <a:ext uri="{FF2B5EF4-FFF2-40B4-BE49-F238E27FC236}">
                <a16:creationId xmlns:a16="http://schemas.microsoft.com/office/drawing/2014/main" id="{96F59554-A0E9-4224-AB96-340E8633B3CB}"/>
              </a:ext>
            </a:extLst>
          </p:cNvPr>
          <p:cNvSpPr>
            <a:spLocks xmlns:a="http://schemas.openxmlformats.org/drawingml/2006/main" noGrp="1"/>
          </p:cNvSpPr>
          <p:nvPr/>
        </p:nvSpPr>
        <p:spPr>
          <a:xfrm xmlns:a="http://schemas.openxmlformats.org/drawingml/2006/main">
            <a:off x="514350" y="1581150"/>
            <a:ext cx="111633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28602D54-9293-4212-A8AD-9A0F769F35AD}"/>
              </a:ext>
            </a:extLst>
          </p:cNvPr>
          <p:cNvSpPr>
            <a:spLocks xmlns:a="http://schemas.openxmlformats.org/drawingml/2006/main" noGrp="1"/>
          </p:cNvSpPr>
          <p:nvPr/>
        </p:nvSpPr>
        <p:spPr>
          <a:xfrm xmlns:a="http://schemas.openxmlformats.org/drawingml/2006/main">
            <a:off x="685800" y="2095500"/>
            <a:ext cx="3143250" cy="266700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BFC2F80A-D4F9-4A1A-BE4F-C6D47F4E0256}"/>
              </a:ext>
            </a:extLst>
          </p:cNvPr>
          <p:cNvSpPr>
            <a:spLocks xmlns:a="http://schemas.openxmlformats.org/drawingml/2006/main" noGrp="1"/>
          </p:cNvSpPr>
          <p:nvPr/>
        </p:nvSpPr>
        <p:spPr>
          <a:xfrm xmlns:a="http://schemas.openxmlformats.org/drawingml/2006/main">
            <a:off x="933450" y="2343150"/>
            <a:ext cx="762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000000"/>
                </a:solidFill>
              </a:defRPr>
            </a:pPr>
            <a:r>
              <a:rPr sz="2550" b="1">
                <a:solidFill>
                  <a:srgbClr val="000000"/>
                </a:solidFill>
              </a:rPr>
              <a:t>01</a:t>
            </a:r>
          </a:p>
        </p:txBody>
      </p:sp>
      <p:sp>
        <p:nvSpPr>
          <p:cNvPr id="6" name="">
            <a:extLst xmlns:a="http://schemas.openxmlformats.org/drawingml/2006/main">
              <a:ext uri="{FF2B5EF4-FFF2-40B4-BE49-F238E27FC236}">
                <a16:creationId xmlns:a16="http://schemas.microsoft.com/office/drawing/2014/main" id="{96070C6A-78E9-49A5-A9E1-5D146AFBF524}"/>
              </a:ext>
            </a:extLst>
          </p:cNvPr>
          <p:cNvSpPr>
            <a:spLocks xmlns:a="http://schemas.openxmlformats.org/drawingml/2006/main" noGrp="1"/>
          </p:cNvSpPr>
          <p:nvPr/>
        </p:nvSpPr>
        <p:spPr>
          <a:xfrm xmlns:a="http://schemas.openxmlformats.org/drawingml/2006/main">
            <a:off x="933450" y="3009900"/>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000000"/>
                </a:solidFill>
              </a:defRPr>
            </a:pPr>
            <a:r>
              <a:rPr sz="1950" b="1">
                <a:solidFill>
                  <a:srgbClr val="000000"/>
                </a:solidFill>
              </a:rPr>
              <a:t>客户理解口径</a:t>
            </a:r>
          </a:p>
        </p:txBody>
      </p:sp>
      <p:sp>
        <p:nvSpPr>
          <p:cNvPr id="7" name="">
            <a:extLst xmlns:a="http://schemas.openxmlformats.org/drawingml/2006/main">
              <a:ext uri="{FF2B5EF4-FFF2-40B4-BE49-F238E27FC236}">
                <a16:creationId xmlns:a16="http://schemas.microsoft.com/office/drawing/2014/main" id="{4052EAD7-37F4-422A-8712-D9FC7243A41D}"/>
              </a:ext>
            </a:extLst>
          </p:cNvPr>
          <p:cNvSpPr>
            <a:spLocks xmlns:a="http://schemas.openxmlformats.org/drawingml/2006/main" noGrp="1"/>
          </p:cNvSpPr>
          <p:nvPr/>
        </p:nvSpPr>
        <p:spPr>
          <a:xfrm xmlns:a="http://schemas.openxmlformats.org/drawingml/2006/main">
            <a:off x="933450" y="3562350"/>
            <a:ext cx="2571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22222"/>
                </a:solidFill>
              </a:defRPr>
            </a:pPr>
            <a:r>
              <a:rPr sz="1350" b="0">
                <a:solidFill>
                  <a:srgbClr val="222222"/>
                </a:solidFill>
              </a:rPr>
              <a:t>自然语言、多轮澄清、多 agent 协作、真实数据接入和应用生成。</a:t>
            </a:r>
          </a:p>
        </p:txBody>
      </p:sp>
      <p:sp>
        <p:nvSpPr>
          <p:cNvPr id="8" name="">
            <a:extLst xmlns:a="http://schemas.openxmlformats.org/drawingml/2006/main">
              <a:ext uri="{FF2B5EF4-FFF2-40B4-BE49-F238E27FC236}">
                <a16:creationId xmlns:a16="http://schemas.microsoft.com/office/drawing/2014/main" id="{AE3E01F2-49D0-490A-9D8E-A96F70229740}"/>
              </a:ext>
            </a:extLst>
          </p:cNvPr>
          <p:cNvSpPr>
            <a:spLocks xmlns:a="http://schemas.openxmlformats.org/drawingml/2006/main" noGrp="1"/>
          </p:cNvSpPr>
          <p:nvPr/>
        </p:nvSpPr>
        <p:spPr>
          <a:xfrm xmlns:a="http://schemas.openxmlformats.org/drawingml/2006/main">
            <a:off x="4019550" y="3143250"/>
            <a:ext cx="400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0">
                <a:solidFill>
                  <a:srgbClr val="555555"/>
                </a:solidFill>
              </a:defRPr>
            </a:pPr>
            <a:r>
              <a:rPr sz="2700" b="0">
                <a:solidFill>
                  <a:srgbClr val="555555"/>
                </a:solidFill>
              </a:rPr>
              <a:t>→</a:t>
            </a:r>
          </a:p>
        </p:txBody>
      </p:sp>
      <p:sp>
        <p:nvSpPr>
          <p:cNvPr id="9" name="">
            <a:extLst xmlns:a="http://schemas.openxmlformats.org/drawingml/2006/main">
              <a:ext uri="{FF2B5EF4-FFF2-40B4-BE49-F238E27FC236}">
                <a16:creationId xmlns:a16="http://schemas.microsoft.com/office/drawing/2014/main" id="{25D0ECA1-40C4-4C4C-8239-5F3831A6F1E4}"/>
              </a:ext>
            </a:extLst>
          </p:cNvPr>
          <p:cNvSpPr>
            <a:spLocks xmlns:a="http://schemas.openxmlformats.org/drawingml/2006/main" noGrp="1"/>
          </p:cNvSpPr>
          <p:nvPr/>
        </p:nvSpPr>
        <p:spPr>
          <a:xfrm xmlns:a="http://schemas.openxmlformats.org/drawingml/2006/main">
            <a:off x="4305300" y="2095500"/>
            <a:ext cx="3143250" cy="266700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8C3062F-FFCF-4991-A52D-A709C019B901}"/>
              </a:ext>
            </a:extLst>
          </p:cNvPr>
          <p:cNvSpPr>
            <a:spLocks xmlns:a="http://schemas.openxmlformats.org/drawingml/2006/main" noGrp="1"/>
          </p:cNvSpPr>
          <p:nvPr/>
        </p:nvSpPr>
        <p:spPr>
          <a:xfrm xmlns:a="http://schemas.openxmlformats.org/drawingml/2006/main">
            <a:off x="4552950" y="2343150"/>
            <a:ext cx="762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000000"/>
                </a:solidFill>
              </a:defRPr>
            </a:pPr>
            <a:r>
              <a:rPr sz="2550" b="1">
                <a:solidFill>
                  <a:srgbClr val="000000"/>
                </a:solidFill>
              </a:rPr>
              <a:t>02</a:t>
            </a:r>
          </a:p>
        </p:txBody>
      </p:sp>
      <p:sp>
        <p:nvSpPr>
          <p:cNvPr id="11" name="">
            <a:extLst xmlns:a="http://schemas.openxmlformats.org/drawingml/2006/main">
              <a:ext uri="{FF2B5EF4-FFF2-40B4-BE49-F238E27FC236}">
                <a16:creationId xmlns:a16="http://schemas.microsoft.com/office/drawing/2014/main" id="{9CB4DAD7-EB81-4B49-BEDE-59C1F35743A4}"/>
              </a:ext>
            </a:extLst>
          </p:cNvPr>
          <p:cNvSpPr>
            <a:spLocks xmlns:a="http://schemas.openxmlformats.org/drawingml/2006/main" noGrp="1"/>
          </p:cNvSpPr>
          <p:nvPr/>
        </p:nvSpPr>
        <p:spPr>
          <a:xfrm xmlns:a="http://schemas.openxmlformats.org/drawingml/2006/main">
            <a:off x="4552950" y="3009900"/>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000000"/>
                </a:solidFill>
              </a:defRPr>
            </a:pPr>
            <a:r>
              <a:rPr sz="1950" b="1">
                <a:solidFill>
                  <a:srgbClr val="000000"/>
                </a:solidFill>
              </a:rPr>
              <a:t>本次交付验证</a:t>
            </a:r>
          </a:p>
        </p:txBody>
      </p:sp>
      <p:sp>
        <p:nvSpPr>
          <p:cNvPr id="12" name="">
            <a:extLst xmlns:a="http://schemas.openxmlformats.org/drawingml/2006/main">
              <a:ext uri="{FF2B5EF4-FFF2-40B4-BE49-F238E27FC236}">
                <a16:creationId xmlns:a16="http://schemas.microsoft.com/office/drawing/2014/main" id="{E65BEDB1-0E89-40EC-846F-E1A2F2116733}"/>
              </a:ext>
            </a:extLst>
          </p:cNvPr>
          <p:cNvSpPr>
            <a:spLocks xmlns:a="http://schemas.openxmlformats.org/drawingml/2006/main" noGrp="1"/>
          </p:cNvSpPr>
          <p:nvPr/>
        </p:nvSpPr>
        <p:spPr>
          <a:xfrm xmlns:a="http://schemas.openxmlformats.org/drawingml/2006/main">
            <a:off x="4552950" y="3562350"/>
            <a:ext cx="2571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22222"/>
                </a:solidFill>
              </a:defRPr>
            </a:pPr>
            <a:r>
              <a:rPr sz="1350" b="0">
                <a:solidFill>
                  <a:srgbClr val="222222"/>
                </a:solidFill>
              </a:rPr>
              <a:t>自然语言到应用、本体数据接入、真实数据展示和客户系统嵌入。</a:t>
            </a:r>
          </a:p>
        </p:txBody>
      </p:sp>
      <p:sp>
        <p:nvSpPr>
          <p:cNvPr id="13" name="">
            <a:extLst xmlns:a="http://schemas.openxmlformats.org/drawingml/2006/main">
              <a:ext uri="{FF2B5EF4-FFF2-40B4-BE49-F238E27FC236}">
                <a16:creationId xmlns:a16="http://schemas.microsoft.com/office/drawing/2014/main" id="{FDFB8DBB-3D49-4E7C-AAD5-90222C3C7315}"/>
              </a:ext>
            </a:extLst>
          </p:cNvPr>
          <p:cNvSpPr>
            <a:spLocks xmlns:a="http://schemas.openxmlformats.org/drawingml/2006/main" noGrp="1"/>
          </p:cNvSpPr>
          <p:nvPr/>
        </p:nvSpPr>
        <p:spPr>
          <a:xfrm xmlns:a="http://schemas.openxmlformats.org/drawingml/2006/main">
            <a:off x="7639050" y="3143250"/>
            <a:ext cx="4000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0">
                <a:solidFill>
                  <a:srgbClr val="555555"/>
                </a:solidFill>
              </a:defRPr>
            </a:pPr>
            <a:r>
              <a:rPr sz="2700" b="0">
                <a:solidFill>
                  <a:srgbClr val="555555"/>
                </a:solidFill>
              </a:rPr>
              <a:t>→</a:t>
            </a:r>
          </a:p>
        </p:txBody>
      </p:sp>
      <p:sp>
        <p:nvSpPr>
          <p:cNvPr id="14" name="">
            <a:extLst xmlns:a="http://schemas.openxmlformats.org/drawingml/2006/main">
              <a:ext uri="{FF2B5EF4-FFF2-40B4-BE49-F238E27FC236}">
                <a16:creationId xmlns:a16="http://schemas.microsoft.com/office/drawing/2014/main" id="{B81BFEC3-A93A-49CE-A24A-AEC23C0047DA}"/>
              </a:ext>
            </a:extLst>
          </p:cNvPr>
          <p:cNvSpPr>
            <a:spLocks xmlns:a="http://schemas.openxmlformats.org/drawingml/2006/main" noGrp="1"/>
          </p:cNvSpPr>
          <p:nvPr/>
        </p:nvSpPr>
        <p:spPr>
          <a:xfrm xmlns:a="http://schemas.openxmlformats.org/drawingml/2006/main">
            <a:off x="7924800" y="2095500"/>
            <a:ext cx="3143250" cy="2667000"/>
          </a:xfrm>
          <a:prstGeom xmlns:a="http://schemas.openxmlformats.org/drawingml/2006/main" prst="rect">
            <a:avLst/>
          </a:prstGeom>
          <a:solidFill xmlns:a="http://schemas.openxmlformats.org/drawingml/2006/main">
            <a:srgbClr val="FFF4EF"/>
          </a:solidFill>
          <a:ln xmlns:a="http://schemas.openxmlformats.org/drawingml/2006/main" w="9525">
            <a:solidFill>
              <a:srgbClr val="FF6B35"/>
            </a:solidFill>
            <a:prstDash val="solid"/>
          </a:ln>
        </p:spPr>
      </p:sp>
      <p:sp>
        <p:nvSpPr>
          <p:cNvPr id="15" name="">
            <a:extLst xmlns:a="http://schemas.openxmlformats.org/drawingml/2006/main">
              <a:ext uri="{FF2B5EF4-FFF2-40B4-BE49-F238E27FC236}">
                <a16:creationId xmlns:a16="http://schemas.microsoft.com/office/drawing/2014/main" id="{E5372D81-047B-407E-925F-14768F7449BC}"/>
              </a:ext>
            </a:extLst>
          </p:cNvPr>
          <p:cNvSpPr>
            <a:spLocks xmlns:a="http://schemas.openxmlformats.org/drawingml/2006/main" noGrp="1"/>
          </p:cNvSpPr>
          <p:nvPr/>
        </p:nvSpPr>
        <p:spPr>
          <a:xfrm xmlns:a="http://schemas.openxmlformats.org/drawingml/2006/main">
            <a:off x="8172450" y="2343150"/>
            <a:ext cx="762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550" b="1">
                <a:solidFill>
                  <a:srgbClr val="FF6B35"/>
                </a:solidFill>
              </a:defRPr>
            </a:pPr>
            <a:r>
              <a:rPr sz="2550" b="1">
                <a:solidFill>
                  <a:srgbClr val="FF6B35"/>
                </a:solidFill>
              </a:rPr>
              <a:t>03</a:t>
            </a:r>
          </a:p>
        </p:txBody>
      </p:sp>
      <p:sp>
        <p:nvSpPr>
          <p:cNvPr id="16" name="">
            <a:extLst xmlns:a="http://schemas.openxmlformats.org/drawingml/2006/main">
              <a:ext uri="{FF2B5EF4-FFF2-40B4-BE49-F238E27FC236}">
                <a16:creationId xmlns:a16="http://schemas.microsoft.com/office/drawing/2014/main" id="{C82BA432-7CA7-4911-862B-A60EB7AF1A61}"/>
              </a:ext>
            </a:extLst>
          </p:cNvPr>
          <p:cNvSpPr>
            <a:spLocks xmlns:a="http://schemas.openxmlformats.org/drawingml/2006/main" noGrp="1"/>
          </p:cNvSpPr>
          <p:nvPr/>
        </p:nvSpPr>
        <p:spPr>
          <a:xfrm xmlns:a="http://schemas.openxmlformats.org/drawingml/2006/main">
            <a:off x="8172450" y="3009900"/>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000000"/>
                </a:solidFill>
              </a:defRPr>
            </a:pPr>
            <a:r>
              <a:rPr sz="1950" b="1">
                <a:solidFill>
                  <a:srgbClr val="000000"/>
                </a:solidFill>
              </a:rPr>
              <a:t>产品主张</a:t>
            </a:r>
          </a:p>
        </p:txBody>
      </p:sp>
      <p:sp>
        <p:nvSpPr>
          <p:cNvPr id="17" name="">
            <a:extLst xmlns:a="http://schemas.openxmlformats.org/drawingml/2006/main">
              <a:ext uri="{FF2B5EF4-FFF2-40B4-BE49-F238E27FC236}">
                <a16:creationId xmlns:a16="http://schemas.microsoft.com/office/drawing/2014/main" id="{416F5253-9ADD-4A87-BC66-8985F26AB7EA}"/>
              </a:ext>
            </a:extLst>
          </p:cNvPr>
          <p:cNvSpPr>
            <a:spLocks xmlns:a="http://schemas.openxmlformats.org/drawingml/2006/main" noGrp="1"/>
          </p:cNvSpPr>
          <p:nvPr/>
        </p:nvSpPr>
        <p:spPr>
          <a:xfrm xmlns:a="http://schemas.openxmlformats.org/drawingml/2006/main">
            <a:off x="8172450" y="3562350"/>
            <a:ext cx="2571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222222"/>
                </a:solidFill>
              </a:defRPr>
            </a:pPr>
            <a:r>
              <a:rPr sz="1350" b="0">
                <a:solidFill>
                  <a:srgbClr val="222222"/>
                </a:solidFill>
              </a:rPr>
              <a:t>多 agent 管理协作、任务分发执行、领域能力包沉淀和云产品融合。</a:t>
            </a:r>
          </a:p>
        </p:txBody>
      </p:sp>
      <p:sp>
        <p:nvSpPr>
          <p:cNvPr id="18" name="">
            <a:extLst xmlns:a="http://schemas.openxmlformats.org/drawingml/2006/main">
              <a:ext uri="{FF2B5EF4-FFF2-40B4-BE49-F238E27FC236}">
                <a16:creationId xmlns:a16="http://schemas.microsoft.com/office/drawing/2014/main" id="{4A0EBB81-FDED-4D40-9668-5EE353E480C1}"/>
              </a:ext>
            </a:extLst>
          </p:cNvPr>
          <p:cNvSpPr>
            <a:spLocks xmlns:a="http://schemas.openxmlformats.org/drawingml/2006/main" noGrp="1"/>
          </p:cNvSpPr>
          <p:nvPr/>
        </p:nvSpPr>
        <p:spPr>
          <a:xfrm xmlns:a="http://schemas.openxmlformats.org/drawingml/2006/main">
            <a:off x="514350" y="63817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55555"/>
                </a:solidFill>
              </a:defRPr>
            </a:pPr>
            <a:r>
              <a:rPr sz="1050" b="0">
                <a:solidFill>
                  <a:srgbClr val="555555"/>
                </a:solidFill>
              </a:rPr>
              <a:t>西安 630 项目软件工厂复盘</a:t>
            </a:r>
          </a:p>
        </p:txBody>
      </p:sp>
      <p:sp>
        <p:nvSpPr>
          <p:cNvPr id="19" name="">
            <a:extLst xmlns:a="http://schemas.openxmlformats.org/drawingml/2006/main">
              <a:ext uri="{FF2B5EF4-FFF2-40B4-BE49-F238E27FC236}">
                <a16:creationId xmlns:a16="http://schemas.microsoft.com/office/drawing/2014/main" id="{FA7CFDB0-283B-4EF5-BE3D-648C13419BC0}"/>
              </a:ext>
            </a:extLst>
          </p:cNvPr>
          <p:cNvSpPr>
            <a:spLocks xmlns:a="http://schemas.openxmlformats.org/drawingml/2006/main" noGrp="1"/>
          </p:cNvSpPr>
          <p:nvPr/>
        </p:nvSpPr>
        <p:spPr>
          <a:xfrm xmlns:a="http://schemas.openxmlformats.org/drawingml/2006/main">
            <a:off x="11287125" y="63817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555555"/>
                </a:solidFill>
              </a:defRPr>
            </a:pPr>
            <a:r>
              <a:rPr sz="1050" b="1">
                <a:solidFill>
                  <a:srgbClr val="555555"/>
                </a:solidFill>
              </a:rPr>
              <a:t>02</a:t>
            </a:r>
          </a:p>
        </p:txBody>
      </p:sp>
    </p:spTree>
    <p:extLst>
      <p:ext uri="{BB962C8B-B14F-4D97-AF65-F5344CB8AC3E}">
        <p14:creationId xmlns:p14="http://schemas.microsoft.com/office/powerpoint/2010/main" val="5500607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1161FCC-4BDA-4698-A4DE-09E1C89D4EFE}"/>
              </a:ext>
            </a:extLst>
          </p:cNvPr>
          <p:cNvSpPr>
            <a:spLocks xmlns:a="http://schemas.openxmlformats.org/drawingml/2006/main" noGrp="1"/>
          </p:cNvSpPr>
          <p:nvPr/>
        </p:nvSpPr>
        <p:spPr>
          <a:xfrm xmlns:a="http://schemas.openxmlformats.org/drawingml/2006/main">
            <a:off x="514350" y="342900"/>
            <a:ext cx="10191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0000"/>
                </a:solidFill>
              </a:defRPr>
            </a:pPr>
            <a:r>
              <a:rPr sz="2700" b="1">
                <a:solidFill>
                  <a:srgbClr val="000000"/>
                </a:solidFill>
              </a:rPr>
              <a:t>客户关注的是全过程可信，而不只是生成代码</a:t>
            </a:r>
          </a:p>
        </p:txBody>
      </p:sp>
      <p:sp>
        <p:nvSpPr>
          <p:cNvPr id="2" name="">
            <a:extLst xmlns:a="http://schemas.openxmlformats.org/drawingml/2006/main">
              <a:ext uri="{FF2B5EF4-FFF2-40B4-BE49-F238E27FC236}">
                <a16:creationId xmlns:a16="http://schemas.microsoft.com/office/drawing/2014/main" id="{7D75A8A2-C492-4939-B1EB-7A1E6BAB99F2}"/>
              </a:ext>
            </a:extLst>
          </p:cNvPr>
          <p:cNvSpPr>
            <a:spLocks xmlns:a="http://schemas.openxmlformats.org/drawingml/2006/main" noGrp="1"/>
          </p:cNvSpPr>
          <p:nvPr/>
        </p:nvSpPr>
        <p:spPr>
          <a:xfrm xmlns:a="http://schemas.openxmlformats.org/drawingml/2006/main">
            <a:off x="514350" y="12001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55555"/>
                </a:solidFill>
              </a:defRPr>
            </a:pPr>
            <a:r>
              <a:rPr sz="1275" b="0">
                <a:solidFill>
                  <a:srgbClr val="555555"/>
                </a:solidFill>
              </a:rPr>
              <a:t>客户更关心需求、数据、协作、产物和交付是否可见、可控、可确认。</a:t>
            </a:r>
          </a:p>
        </p:txBody>
      </p:sp>
      <p:sp>
        <p:nvSpPr>
          <p:cNvPr id="3" name="">
            <a:extLst xmlns:a="http://schemas.openxmlformats.org/drawingml/2006/main">
              <a:ext uri="{FF2B5EF4-FFF2-40B4-BE49-F238E27FC236}">
                <a16:creationId xmlns:a16="http://schemas.microsoft.com/office/drawing/2014/main" id="{EBA45ABA-F35B-4122-83DF-F6EA9FBC463D}"/>
              </a:ext>
            </a:extLst>
          </p:cNvPr>
          <p:cNvSpPr>
            <a:spLocks xmlns:a="http://schemas.openxmlformats.org/drawingml/2006/main" noGrp="1"/>
          </p:cNvSpPr>
          <p:nvPr/>
        </p:nvSpPr>
        <p:spPr>
          <a:xfrm xmlns:a="http://schemas.openxmlformats.org/drawingml/2006/main">
            <a:off x="514350" y="1581150"/>
            <a:ext cx="111633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3E60AFB2-7F90-4998-BEEB-DD50BFB27A8C}"/>
              </a:ext>
            </a:extLst>
          </p:cNvPr>
          <p:cNvSpPr>
            <a:spLocks xmlns:a="http://schemas.openxmlformats.org/drawingml/2006/main" noGrp="1"/>
          </p:cNvSpPr>
          <p:nvPr/>
        </p:nvSpPr>
        <p:spPr>
          <a:xfrm xmlns:a="http://schemas.openxmlformats.org/drawingml/2006/main">
            <a:off x="666750" y="1809750"/>
            <a:ext cx="3257550" cy="100965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859197F-B06C-4E28-A1D0-0D811B2A62F5}"/>
              </a:ext>
            </a:extLst>
          </p:cNvPr>
          <p:cNvSpPr>
            <a:spLocks xmlns:a="http://schemas.openxmlformats.org/drawingml/2006/main" noGrp="1"/>
          </p:cNvSpPr>
          <p:nvPr/>
        </p:nvSpPr>
        <p:spPr>
          <a:xfrm xmlns:a="http://schemas.openxmlformats.org/drawingml/2006/main">
            <a:off x="857250" y="19812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0000"/>
                </a:solidFill>
              </a:defRPr>
            </a:pPr>
            <a:r>
              <a:rPr sz="1575" b="1">
                <a:solidFill>
                  <a:srgbClr val="000000"/>
                </a:solidFill>
              </a:rPr>
              <a:t>需求理解与澄清</a:t>
            </a:r>
          </a:p>
        </p:txBody>
      </p:sp>
      <p:sp>
        <p:nvSpPr>
          <p:cNvPr id="6" name="">
            <a:extLst xmlns:a="http://schemas.openxmlformats.org/drawingml/2006/main">
              <a:ext uri="{FF2B5EF4-FFF2-40B4-BE49-F238E27FC236}">
                <a16:creationId xmlns:a16="http://schemas.microsoft.com/office/drawing/2014/main" id="{4A4F1DB5-CDC5-4C43-B24B-B96631922669}"/>
              </a:ext>
            </a:extLst>
          </p:cNvPr>
          <p:cNvSpPr>
            <a:spLocks xmlns:a="http://schemas.openxmlformats.org/drawingml/2006/main" noGrp="1"/>
          </p:cNvSpPr>
          <p:nvPr/>
        </p:nvSpPr>
        <p:spPr>
          <a:xfrm xmlns:a="http://schemas.openxmlformats.org/drawingml/2006/main">
            <a:off x="857250" y="2324100"/>
            <a:ext cx="2781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55555"/>
                </a:solidFill>
              </a:defRPr>
            </a:pPr>
            <a:r>
              <a:rPr sz="1200" b="0">
                <a:solidFill>
                  <a:srgbClr val="555555"/>
                </a:solidFill>
              </a:rPr>
              <a:t>主动提出澄清项，持续让用户确认</a:t>
            </a:r>
          </a:p>
        </p:txBody>
      </p:sp>
      <p:sp>
        <p:nvSpPr>
          <p:cNvPr id="7" name="">
            <a:extLst xmlns:a="http://schemas.openxmlformats.org/drawingml/2006/main">
              <a:ext uri="{FF2B5EF4-FFF2-40B4-BE49-F238E27FC236}">
                <a16:creationId xmlns:a16="http://schemas.microsoft.com/office/drawing/2014/main" id="{52D45BB7-7E69-4CEE-92FF-289F8EB85BB3}"/>
              </a:ext>
            </a:extLst>
          </p:cNvPr>
          <p:cNvSpPr>
            <a:spLocks xmlns:a="http://schemas.openxmlformats.org/drawingml/2006/main" noGrp="1"/>
          </p:cNvSpPr>
          <p:nvPr/>
        </p:nvSpPr>
        <p:spPr>
          <a:xfrm xmlns:a="http://schemas.openxmlformats.org/drawingml/2006/main">
            <a:off x="4400550" y="1809750"/>
            <a:ext cx="3257550" cy="1009650"/>
          </a:xfrm>
          <a:prstGeom xmlns:a="http://schemas.openxmlformats.org/drawingml/2006/main" prst="rect">
            <a:avLst/>
          </a:prstGeom>
          <a:solidFill xmlns:a="http://schemas.openxmlformats.org/drawingml/2006/main">
            <a:srgbClr val="FFF4EF"/>
          </a:solidFill>
          <a:ln xmlns:a="http://schemas.openxmlformats.org/drawingml/2006/main" w="9525">
            <a:solidFill>
              <a:srgbClr val="FF6B35"/>
            </a:solidFill>
            <a:prstDash val="solid"/>
          </a:ln>
        </p:spPr>
      </p:sp>
      <p:sp>
        <p:nvSpPr>
          <p:cNvPr id="8" name="">
            <a:extLst xmlns:a="http://schemas.openxmlformats.org/drawingml/2006/main">
              <a:ext uri="{FF2B5EF4-FFF2-40B4-BE49-F238E27FC236}">
                <a16:creationId xmlns:a16="http://schemas.microsoft.com/office/drawing/2014/main" id="{A714345E-6E03-4FF9-A878-F95C8112C4FC}"/>
              </a:ext>
            </a:extLst>
          </p:cNvPr>
          <p:cNvSpPr>
            <a:spLocks xmlns:a="http://schemas.openxmlformats.org/drawingml/2006/main" noGrp="1"/>
          </p:cNvSpPr>
          <p:nvPr/>
        </p:nvSpPr>
        <p:spPr>
          <a:xfrm xmlns:a="http://schemas.openxmlformats.org/drawingml/2006/main">
            <a:off x="4591050" y="19812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0000"/>
                </a:solidFill>
              </a:defRPr>
            </a:pPr>
            <a:r>
              <a:rPr sz="1575" b="1">
                <a:solidFill>
                  <a:srgbClr val="000000"/>
                </a:solidFill>
              </a:rPr>
              <a:t>数据接入与流转</a:t>
            </a:r>
          </a:p>
        </p:txBody>
      </p:sp>
      <p:sp>
        <p:nvSpPr>
          <p:cNvPr id="9" name="">
            <a:extLst xmlns:a="http://schemas.openxmlformats.org/drawingml/2006/main">
              <a:ext uri="{FF2B5EF4-FFF2-40B4-BE49-F238E27FC236}">
                <a16:creationId xmlns:a16="http://schemas.microsoft.com/office/drawing/2014/main" id="{CEE66FA5-43F2-42DD-825D-784537FBA4FF}"/>
              </a:ext>
            </a:extLst>
          </p:cNvPr>
          <p:cNvSpPr>
            <a:spLocks xmlns:a="http://schemas.openxmlformats.org/drawingml/2006/main" noGrp="1"/>
          </p:cNvSpPr>
          <p:nvPr/>
        </p:nvSpPr>
        <p:spPr>
          <a:xfrm xmlns:a="http://schemas.openxmlformats.org/drawingml/2006/main">
            <a:off x="4591050" y="2324100"/>
            <a:ext cx="2781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55555"/>
                </a:solidFill>
              </a:defRPr>
            </a:pPr>
            <a:r>
              <a:rPr sz="1200" b="0">
                <a:solidFill>
                  <a:srgbClr val="555555"/>
                </a:solidFill>
              </a:rPr>
              <a:t>说明来源、处理、分析输入和展示结果</a:t>
            </a:r>
          </a:p>
        </p:txBody>
      </p:sp>
      <p:sp>
        <p:nvSpPr>
          <p:cNvPr id="10" name="">
            <a:extLst xmlns:a="http://schemas.openxmlformats.org/drawingml/2006/main">
              <a:ext uri="{FF2B5EF4-FFF2-40B4-BE49-F238E27FC236}">
                <a16:creationId xmlns:a16="http://schemas.microsoft.com/office/drawing/2014/main" id="{F072FEAB-8221-4EA6-9970-DCA28331AB9D}"/>
              </a:ext>
            </a:extLst>
          </p:cNvPr>
          <p:cNvSpPr>
            <a:spLocks xmlns:a="http://schemas.openxmlformats.org/drawingml/2006/main" noGrp="1"/>
          </p:cNvSpPr>
          <p:nvPr/>
        </p:nvSpPr>
        <p:spPr>
          <a:xfrm xmlns:a="http://schemas.openxmlformats.org/drawingml/2006/main">
            <a:off x="8134350" y="1809750"/>
            <a:ext cx="3257550" cy="100965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208EA17-5915-4C09-934D-9E2BD598DE07}"/>
              </a:ext>
            </a:extLst>
          </p:cNvPr>
          <p:cNvSpPr>
            <a:spLocks xmlns:a="http://schemas.openxmlformats.org/drawingml/2006/main" noGrp="1"/>
          </p:cNvSpPr>
          <p:nvPr/>
        </p:nvSpPr>
        <p:spPr>
          <a:xfrm xmlns:a="http://schemas.openxmlformats.org/drawingml/2006/main">
            <a:off x="8324850" y="198120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0000"/>
                </a:solidFill>
              </a:defRPr>
            </a:pPr>
            <a:r>
              <a:rPr sz="1575" b="1">
                <a:solidFill>
                  <a:srgbClr val="000000"/>
                </a:solidFill>
              </a:rPr>
              <a:t>方案设计可控</a:t>
            </a:r>
          </a:p>
        </p:txBody>
      </p:sp>
      <p:sp>
        <p:nvSpPr>
          <p:cNvPr id="12" name="">
            <a:extLst xmlns:a="http://schemas.openxmlformats.org/drawingml/2006/main">
              <a:ext uri="{FF2B5EF4-FFF2-40B4-BE49-F238E27FC236}">
                <a16:creationId xmlns:a16="http://schemas.microsoft.com/office/drawing/2014/main" id="{954C98EA-E46B-4BB2-83E5-96F9C6002305}"/>
              </a:ext>
            </a:extLst>
          </p:cNvPr>
          <p:cNvSpPr>
            <a:spLocks xmlns:a="http://schemas.openxmlformats.org/drawingml/2006/main" noGrp="1"/>
          </p:cNvSpPr>
          <p:nvPr/>
        </p:nvSpPr>
        <p:spPr>
          <a:xfrm xmlns:a="http://schemas.openxmlformats.org/drawingml/2006/main">
            <a:off x="8324850" y="2324100"/>
            <a:ext cx="2781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55555"/>
                </a:solidFill>
              </a:defRPr>
            </a:pPr>
            <a:r>
              <a:rPr sz="1200" b="0">
                <a:solidFill>
                  <a:srgbClr val="555555"/>
                </a:solidFill>
              </a:rPr>
              <a:t>关键方案可人工调整</a:t>
            </a:r>
          </a:p>
        </p:txBody>
      </p:sp>
      <p:sp>
        <p:nvSpPr>
          <p:cNvPr id="13" name="">
            <a:extLst xmlns:a="http://schemas.openxmlformats.org/drawingml/2006/main">
              <a:ext uri="{FF2B5EF4-FFF2-40B4-BE49-F238E27FC236}">
                <a16:creationId xmlns:a16="http://schemas.microsoft.com/office/drawing/2014/main" id="{CEE9A656-EC99-4748-98A0-C3585C44B695}"/>
              </a:ext>
            </a:extLst>
          </p:cNvPr>
          <p:cNvSpPr>
            <a:spLocks xmlns:a="http://schemas.openxmlformats.org/drawingml/2006/main" noGrp="1"/>
          </p:cNvSpPr>
          <p:nvPr/>
        </p:nvSpPr>
        <p:spPr>
          <a:xfrm xmlns:a="http://schemas.openxmlformats.org/drawingml/2006/main">
            <a:off x="666750" y="3190875"/>
            <a:ext cx="3257550" cy="100965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C051578-9A0D-4E1C-A84C-0126F70E5515}"/>
              </a:ext>
            </a:extLst>
          </p:cNvPr>
          <p:cNvSpPr>
            <a:spLocks xmlns:a="http://schemas.openxmlformats.org/drawingml/2006/main" noGrp="1"/>
          </p:cNvSpPr>
          <p:nvPr/>
        </p:nvSpPr>
        <p:spPr>
          <a:xfrm xmlns:a="http://schemas.openxmlformats.org/drawingml/2006/main">
            <a:off x="857250" y="3362325"/>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0000"/>
                </a:solidFill>
              </a:defRPr>
            </a:pPr>
            <a:r>
              <a:rPr sz="1575" b="1">
                <a:solidFill>
                  <a:srgbClr val="000000"/>
                </a:solidFill>
              </a:rPr>
              <a:t>多 agent 协作可视化</a:t>
            </a:r>
          </a:p>
        </p:txBody>
      </p:sp>
      <p:sp>
        <p:nvSpPr>
          <p:cNvPr id="15" name="">
            <a:extLst xmlns:a="http://schemas.openxmlformats.org/drawingml/2006/main">
              <a:ext uri="{FF2B5EF4-FFF2-40B4-BE49-F238E27FC236}">
                <a16:creationId xmlns:a16="http://schemas.microsoft.com/office/drawing/2014/main" id="{0DDA3C85-9D78-4DB7-9549-DD0791D1BA76}"/>
              </a:ext>
            </a:extLst>
          </p:cNvPr>
          <p:cNvSpPr>
            <a:spLocks xmlns:a="http://schemas.openxmlformats.org/drawingml/2006/main" noGrp="1"/>
          </p:cNvSpPr>
          <p:nvPr/>
        </p:nvSpPr>
        <p:spPr>
          <a:xfrm xmlns:a="http://schemas.openxmlformats.org/drawingml/2006/main">
            <a:off x="857250" y="3705225"/>
            <a:ext cx="2781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55555"/>
                </a:solidFill>
              </a:defRPr>
            </a:pPr>
            <a:r>
              <a:rPr sz="1200" b="0">
                <a:solidFill>
                  <a:srgbClr val="555555"/>
                </a:solidFill>
              </a:rPr>
              <a:t>看协作图、状态、产物和失败重试</a:t>
            </a:r>
          </a:p>
        </p:txBody>
      </p:sp>
      <p:sp>
        <p:nvSpPr>
          <p:cNvPr id="16" name="">
            <a:extLst xmlns:a="http://schemas.openxmlformats.org/drawingml/2006/main">
              <a:ext uri="{FF2B5EF4-FFF2-40B4-BE49-F238E27FC236}">
                <a16:creationId xmlns:a16="http://schemas.microsoft.com/office/drawing/2014/main" id="{B3AB1413-7A90-4B9F-9532-EEB0926D9C4C}"/>
              </a:ext>
            </a:extLst>
          </p:cNvPr>
          <p:cNvSpPr>
            <a:spLocks xmlns:a="http://schemas.openxmlformats.org/drawingml/2006/main" noGrp="1"/>
          </p:cNvSpPr>
          <p:nvPr/>
        </p:nvSpPr>
        <p:spPr>
          <a:xfrm xmlns:a="http://schemas.openxmlformats.org/drawingml/2006/main">
            <a:off x="4400550" y="3190875"/>
            <a:ext cx="3257550" cy="100965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5F774D9-C8D3-48F9-A5F7-C1ACCFCF1AD7}"/>
              </a:ext>
            </a:extLst>
          </p:cNvPr>
          <p:cNvSpPr>
            <a:spLocks xmlns:a="http://schemas.openxmlformats.org/drawingml/2006/main" noGrp="1"/>
          </p:cNvSpPr>
          <p:nvPr/>
        </p:nvSpPr>
        <p:spPr>
          <a:xfrm xmlns:a="http://schemas.openxmlformats.org/drawingml/2006/main">
            <a:off x="4591050" y="3362325"/>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0000"/>
                </a:solidFill>
              </a:defRPr>
            </a:pPr>
            <a:r>
              <a:rPr sz="1575" b="1">
                <a:solidFill>
                  <a:srgbClr val="000000"/>
                </a:solidFill>
              </a:rPr>
              <a:t>最终应用质量</a:t>
            </a:r>
          </a:p>
        </p:txBody>
      </p:sp>
      <p:sp>
        <p:nvSpPr>
          <p:cNvPr id="18" name="">
            <a:extLst xmlns:a="http://schemas.openxmlformats.org/drawingml/2006/main">
              <a:ext uri="{FF2B5EF4-FFF2-40B4-BE49-F238E27FC236}">
                <a16:creationId xmlns:a16="http://schemas.microsoft.com/office/drawing/2014/main" id="{02A25244-D79D-4107-9CEF-802C60E36312}"/>
              </a:ext>
            </a:extLst>
          </p:cNvPr>
          <p:cNvSpPr>
            <a:spLocks xmlns:a="http://schemas.openxmlformats.org/drawingml/2006/main" noGrp="1"/>
          </p:cNvSpPr>
          <p:nvPr/>
        </p:nvSpPr>
        <p:spPr>
          <a:xfrm xmlns:a="http://schemas.openxmlformats.org/drawingml/2006/main">
            <a:off x="4591050" y="3705225"/>
            <a:ext cx="2781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55555"/>
                </a:solidFill>
              </a:defRPr>
            </a:pPr>
            <a:r>
              <a:rPr sz="1200" b="0">
                <a:solidFill>
                  <a:srgbClr val="555555"/>
                </a:solidFill>
              </a:rPr>
              <a:t>真实数据驱动、贴合系统、可嵌入</a:t>
            </a:r>
          </a:p>
        </p:txBody>
      </p:sp>
      <p:sp>
        <p:nvSpPr>
          <p:cNvPr id="19" name="">
            <a:extLst xmlns:a="http://schemas.openxmlformats.org/drawingml/2006/main">
              <a:ext uri="{FF2B5EF4-FFF2-40B4-BE49-F238E27FC236}">
                <a16:creationId xmlns:a16="http://schemas.microsoft.com/office/drawing/2014/main" id="{059982E6-6614-4C93-9317-A57C57462D10}"/>
              </a:ext>
            </a:extLst>
          </p:cNvPr>
          <p:cNvSpPr>
            <a:spLocks xmlns:a="http://schemas.openxmlformats.org/drawingml/2006/main" noGrp="1"/>
          </p:cNvSpPr>
          <p:nvPr/>
        </p:nvSpPr>
        <p:spPr>
          <a:xfrm xmlns:a="http://schemas.openxmlformats.org/drawingml/2006/main">
            <a:off x="8134350" y="3190875"/>
            <a:ext cx="3257550" cy="100965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DE98592-3FCB-494E-A20D-085E76F2BF8A}"/>
              </a:ext>
            </a:extLst>
          </p:cNvPr>
          <p:cNvSpPr>
            <a:spLocks xmlns:a="http://schemas.openxmlformats.org/drawingml/2006/main" noGrp="1"/>
          </p:cNvSpPr>
          <p:nvPr/>
        </p:nvSpPr>
        <p:spPr>
          <a:xfrm xmlns:a="http://schemas.openxmlformats.org/drawingml/2006/main">
            <a:off x="8324850" y="3362325"/>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0000"/>
                </a:solidFill>
              </a:defRPr>
            </a:pPr>
            <a:r>
              <a:rPr sz="1575" b="1">
                <a:solidFill>
                  <a:srgbClr val="000000"/>
                </a:solidFill>
              </a:rPr>
              <a:t>自我进化与沉淀</a:t>
            </a:r>
          </a:p>
        </p:txBody>
      </p:sp>
      <p:sp>
        <p:nvSpPr>
          <p:cNvPr id="21" name="">
            <a:extLst xmlns:a="http://schemas.openxmlformats.org/drawingml/2006/main">
              <a:ext uri="{FF2B5EF4-FFF2-40B4-BE49-F238E27FC236}">
                <a16:creationId xmlns:a16="http://schemas.microsoft.com/office/drawing/2014/main" id="{6655B40B-78E3-4312-B8FD-F75BD1086D44}"/>
              </a:ext>
            </a:extLst>
          </p:cNvPr>
          <p:cNvSpPr>
            <a:spLocks xmlns:a="http://schemas.openxmlformats.org/drawingml/2006/main" noGrp="1"/>
          </p:cNvSpPr>
          <p:nvPr/>
        </p:nvSpPr>
        <p:spPr>
          <a:xfrm xmlns:a="http://schemas.openxmlformats.org/drawingml/2006/main">
            <a:off x="8324850" y="3705225"/>
            <a:ext cx="2781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55555"/>
                </a:solidFill>
              </a:defRPr>
            </a:pPr>
            <a:r>
              <a:rPr sz="1200" b="0">
                <a:solidFill>
                  <a:srgbClr val="555555"/>
                </a:solidFill>
              </a:rPr>
              <a:t>沉淀 agent、skills 和过往经验</a:t>
            </a:r>
          </a:p>
        </p:txBody>
      </p:sp>
      <p:sp>
        <p:nvSpPr>
          <p:cNvPr id="22" name="">
            <a:extLst xmlns:a="http://schemas.openxmlformats.org/drawingml/2006/main">
              <a:ext uri="{FF2B5EF4-FFF2-40B4-BE49-F238E27FC236}">
                <a16:creationId xmlns:a16="http://schemas.microsoft.com/office/drawing/2014/main" id="{28C71A69-248D-473D-A59D-5D008E63516A}"/>
              </a:ext>
            </a:extLst>
          </p:cNvPr>
          <p:cNvSpPr>
            <a:spLocks xmlns:a="http://schemas.openxmlformats.org/drawingml/2006/main" noGrp="1"/>
          </p:cNvSpPr>
          <p:nvPr/>
        </p:nvSpPr>
        <p:spPr>
          <a:xfrm xmlns:a="http://schemas.openxmlformats.org/drawingml/2006/main">
            <a:off x="666750" y="4895850"/>
            <a:ext cx="1057275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23" name="">
            <a:extLst xmlns:a="http://schemas.openxmlformats.org/drawingml/2006/main">
              <a:ext uri="{FF2B5EF4-FFF2-40B4-BE49-F238E27FC236}">
                <a16:creationId xmlns:a16="http://schemas.microsoft.com/office/drawing/2014/main" id="{753450CE-BFE0-4E83-9ACF-9EBEB3E12350}"/>
              </a:ext>
            </a:extLst>
          </p:cNvPr>
          <p:cNvSpPr>
            <a:spLocks xmlns:a="http://schemas.openxmlformats.org/drawingml/2006/main" noGrp="1"/>
          </p:cNvSpPr>
          <p:nvPr/>
        </p:nvSpPr>
        <p:spPr>
          <a:xfrm xmlns:a="http://schemas.openxmlformats.org/drawingml/2006/main">
            <a:off x="666750" y="51435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FF6B35"/>
                </a:solidFill>
              </a:defRPr>
            </a:pPr>
            <a:r>
              <a:rPr sz="1125" b="1">
                <a:solidFill>
                  <a:srgbClr val="FF6B35"/>
                </a:solidFill>
              </a:rPr>
              <a:t>客户场景暴露的底层要求</a:t>
            </a:r>
          </a:p>
        </p:txBody>
      </p:sp>
      <p:sp>
        <p:nvSpPr>
          <p:cNvPr id="24" name="">
            <a:extLst xmlns:a="http://schemas.openxmlformats.org/drawingml/2006/main">
              <a:ext uri="{FF2B5EF4-FFF2-40B4-BE49-F238E27FC236}">
                <a16:creationId xmlns:a16="http://schemas.microsoft.com/office/drawing/2014/main" id="{23363B1C-122E-43B8-90FB-454442CAE2A2}"/>
              </a:ext>
            </a:extLst>
          </p:cNvPr>
          <p:cNvSpPr>
            <a:spLocks xmlns:a="http://schemas.openxmlformats.org/drawingml/2006/main" noGrp="1"/>
          </p:cNvSpPr>
          <p:nvPr/>
        </p:nvSpPr>
        <p:spPr>
          <a:xfrm xmlns:a="http://schemas.openxmlformats.org/drawingml/2006/main">
            <a:off x="666750" y="5429250"/>
            <a:ext cx="1009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0000"/>
                </a:solidFill>
              </a:defRPr>
            </a:pPr>
            <a:r>
              <a:rPr sz="1650" b="1">
                <a:solidFill>
                  <a:srgbClr val="000000"/>
                </a:solidFill>
              </a:rPr>
              <a:t>强领域理解 + 外部数据接入 + 判断规则转应用逻辑 + 复杂前端表达 + 领域能力沉淀</a:t>
            </a:r>
          </a:p>
        </p:txBody>
      </p:sp>
      <p:sp>
        <p:nvSpPr>
          <p:cNvPr id="25" name="">
            <a:extLst xmlns:a="http://schemas.openxmlformats.org/drawingml/2006/main">
              <a:ext uri="{FF2B5EF4-FFF2-40B4-BE49-F238E27FC236}">
                <a16:creationId xmlns:a16="http://schemas.microsoft.com/office/drawing/2014/main" id="{7F8200FE-F45B-4B98-9ABB-296F4E99EEB6}"/>
              </a:ext>
            </a:extLst>
          </p:cNvPr>
          <p:cNvSpPr>
            <a:spLocks xmlns:a="http://schemas.openxmlformats.org/drawingml/2006/main" noGrp="1"/>
          </p:cNvSpPr>
          <p:nvPr/>
        </p:nvSpPr>
        <p:spPr>
          <a:xfrm xmlns:a="http://schemas.openxmlformats.org/drawingml/2006/main">
            <a:off x="514350" y="63817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55555"/>
                </a:solidFill>
              </a:defRPr>
            </a:pPr>
            <a:r>
              <a:rPr sz="1050" b="0">
                <a:solidFill>
                  <a:srgbClr val="555555"/>
                </a:solidFill>
              </a:rPr>
              <a:t>西安 630 项目软件工厂复盘</a:t>
            </a:r>
          </a:p>
        </p:txBody>
      </p:sp>
      <p:sp>
        <p:nvSpPr>
          <p:cNvPr id="26" name="">
            <a:extLst xmlns:a="http://schemas.openxmlformats.org/drawingml/2006/main">
              <a:ext uri="{FF2B5EF4-FFF2-40B4-BE49-F238E27FC236}">
                <a16:creationId xmlns:a16="http://schemas.microsoft.com/office/drawing/2014/main" id="{2B3CBCE5-209D-4357-B2C2-0BD31253BD02}"/>
              </a:ext>
            </a:extLst>
          </p:cNvPr>
          <p:cNvSpPr>
            <a:spLocks xmlns:a="http://schemas.openxmlformats.org/drawingml/2006/main" noGrp="1"/>
          </p:cNvSpPr>
          <p:nvPr/>
        </p:nvSpPr>
        <p:spPr>
          <a:xfrm xmlns:a="http://schemas.openxmlformats.org/drawingml/2006/main">
            <a:off x="11287125" y="63817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555555"/>
                </a:solidFill>
              </a:defRPr>
            </a:pPr>
            <a:r>
              <a:rPr sz="1050" b="1">
                <a:solidFill>
                  <a:srgbClr val="555555"/>
                </a:solidFill>
              </a:rPr>
              <a:t>03</a:t>
            </a:r>
          </a:p>
        </p:txBody>
      </p:sp>
    </p:spTree>
    <p:extLst>
      <p:ext uri="{BB962C8B-B14F-4D97-AF65-F5344CB8AC3E}">
        <p14:creationId xmlns:p14="http://schemas.microsoft.com/office/powerpoint/2010/main" val="92945847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6E3303B-DF66-4DA3-A424-B6B7255B2B56}"/>
              </a:ext>
            </a:extLst>
          </p:cNvPr>
          <p:cNvSpPr>
            <a:spLocks xmlns:a="http://schemas.openxmlformats.org/drawingml/2006/main" noGrp="1"/>
          </p:cNvSpPr>
          <p:nvPr/>
        </p:nvSpPr>
        <p:spPr>
          <a:xfrm xmlns:a="http://schemas.openxmlformats.org/drawingml/2006/main">
            <a:off x="514350" y="342900"/>
            <a:ext cx="10191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0000"/>
                </a:solidFill>
              </a:defRPr>
            </a:pPr>
            <a:r>
              <a:rPr sz="2700" b="1">
                <a:solidFill>
                  <a:srgbClr val="000000"/>
                </a:solidFill>
              </a:rPr>
              <a:t>电子云证明了闭环可用，但过程可信还要加强</a:t>
            </a:r>
          </a:p>
        </p:txBody>
      </p:sp>
      <p:sp>
        <p:nvSpPr>
          <p:cNvPr id="2" name="">
            <a:extLst xmlns:a="http://schemas.openxmlformats.org/drawingml/2006/main">
              <a:ext uri="{FF2B5EF4-FFF2-40B4-BE49-F238E27FC236}">
                <a16:creationId xmlns:a16="http://schemas.microsoft.com/office/drawing/2014/main" id="{C31E1DAB-825F-471D-B20B-A9478C5F7200}"/>
              </a:ext>
            </a:extLst>
          </p:cNvPr>
          <p:cNvSpPr>
            <a:spLocks xmlns:a="http://schemas.openxmlformats.org/drawingml/2006/main" noGrp="1"/>
          </p:cNvSpPr>
          <p:nvPr/>
        </p:nvSpPr>
        <p:spPr>
          <a:xfrm xmlns:a="http://schemas.openxmlformats.org/drawingml/2006/main">
            <a:off x="514350" y="12001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55555"/>
                </a:solidFill>
              </a:defRPr>
            </a:pPr>
            <a:r>
              <a:rPr sz="1275" b="0">
                <a:solidFill>
                  <a:srgbClr val="555555"/>
                </a:solidFill>
              </a:rPr>
              <a:t>现场观察不应理解为厂商输赢，而应理解为客户认可能力差距。</a:t>
            </a:r>
          </a:p>
        </p:txBody>
      </p:sp>
      <p:sp>
        <p:nvSpPr>
          <p:cNvPr id="3" name="">
            <a:extLst xmlns:a="http://schemas.openxmlformats.org/drawingml/2006/main">
              <a:ext uri="{FF2B5EF4-FFF2-40B4-BE49-F238E27FC236}">
                <a16:creationId xmlns:a16="http://schemas.microsoft.com/office/drawing/2014/main" id="{19F5D4BF-BB6E-4D4A-9425-D7691B129A67}"/>
              </a:ext>
            </a:extLst>
          </p:cNvPr>
          <p:cNvSpPr>
            <a:spLocks xmlns:a="http://schemas.openxmlformats.org/drawingml/2006/main" noGrp="1"/>
          </p:cNvSpPr>
          <p:nvPr/>
        </p:nvSpPr>
        <p:spPr>
          <a:xfrm xmlns:a="http://schemas.openxmlformats.org/drawingml/2006/main">
            <a:off x="514350" y="1581150"/>
            <a:ext cx="111633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A8155D9D-D3D2-4676-AE9D-FD688E35A9B7}"/>
              </a:ext>
            </a:extLst>
          </p:cNvPr>
          <p:cNvSpPr>
            <a:spLocks xmlns:a="http://schemas.openxmlformats.org/drawingml/2006/main" noGrp="1"/>
          </p:cNvSpPr>
          <p:nvPr/>
        </p:nvSpPr>
        <p:spPr>
          <a:xfrm xmlns:a="http://schemas.openxmlformats.org/drawingml/2006/main">
            <a:off x="666750" y="17145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FF6B35"/>
                </a:solidFill>
              </a:defRPr>
            </a:pPr>
            <a:r>
              <a:rPr sz="1125" b="1">
                <a:solidFill>
                  <a:srgbClr val="FF6B35"/>
                </a:solidFill>
              </a:rPr>
              <a:t>本次已验证</a:t>
            </a:r>
          </a:p>
        </p:txBody>
      </p:sp>
      <p:sp>
        <p:nvSpPr>
          <p:cNvPr id="5" name="">
            <a:extLst xmlns:a="http://schemas.openxmlformats.org/drawingml/2006/main">
              <a:ext uri="{FF2B5EF4-FFF2-40B4-BE49-F238E27FC236}">
                <a16:creationId xmlns:a16="http://schemas.microsoft.com/office/drawing/2014/main" id="{4F28538D-C699-4B2D-A16E-E8D9A52FADF3}"/>
              </a:ext>
            </a:extLst>
          </p:cNvPr>
          <p:cNvSpPr>
            <a:spLocks xmlns:a="http://schemas.openxmlformats.org/drawingml/2006/main" noGrp="1"/>
          </p:cNvSpPr>
          <p:nvPr/>
        </p:nvSpPr>
        <p:spPr>
          <a:xfrm xmlns:a="http://schemas.openxmlformats.org/drawingml/2006/main">
            <a:off x="666750" y="21717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6" name="">
            <a:extLst xmlns:a="http://schemas.openxmlformats.org/drawingml/2006/main">
              <a:ext uri="{FF2B5EF4-FFF2-40B4-BE49-F238E27FC236}">
                <a16:creationId xmlns:a16="http://schemas.microsoft.com/office/drawing/2014/main" id="{E7A94E89-0CA0-49F5-B209-3586382BA1D8}"/>
              </a:ext>
            </a:extLst>
          </p:cNvPr>
          <p:cNvSpPr>
            <a:spLocks xmlns:a="http://schemas.openxmlformats.org/drawingml/2006/main" noGrp="1"/>
          </p:cNvSpPr>
          <p:nvPr/>
        </p:nvSpPr>
        <p:spPr>
          <a:xfrm xmlns:a="http://schemas.openxmlformats.org/drawingml/2006/main">
            <a:off x="838200" y="2095500"/>
            <a:ext cx="42576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00000"/>
                </a:solidFill>
              </a:defRPr>
            </a:pPr>
            <a:r>
              <a:rPr sz="1350" b="0">
                <a:solidFill>
                  <a:srgbClr val="000000"/>
                </a:solidFill>
              </a:rPr>
              <a:t>自然语言描述生成应用整体流程跑通</a:t>
            </a:r>
          </a:p>
        </p:txBody>
      </p:sp>
      <p:sp>
        <p:nvSpPr>
          <p:cNvPr id="7" name="">
            <a:extLst xmlns:a="http://schemas.openxmlformats.org/drawingml/2006/main">
              <a:ext uri="{FF2B5EF4-FFF2-40B4-BE49-F238E27FC236}">
                <a16:creationId xmlns:a16="http://schemas.microsoft.com/office/drawing/2014/main" id="{00676197-4F38-4701-BDC8-4E51CBD8B54F}"/>
              </a:ext>
            </a:extLst>
          </p:cNvPr>
          <p:cNvSpPr>
            <a:spLocks xmlns:a="http://schemas.openxmlformats.org/drawingml/2006/main" noGrp="1"/>
          </p:cNvSpPr>
          <p:nvPr/>
        </p:nvSpPr>
        <p:spPr>
          <a:xfrm xmlns:a="http://schemas.openxmlformats.org/drawingml/2006/main">
            <a:off x="666750" y="26289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8" name="">
            <a:extLst xmlns:a="http://schemas.openxmlformats.org/drawingml/2006/main">
              <a:ext uri="{FF2B5EF4-FFF2-40B4-BE49-F238E27FC236}">
                <a16:creationId xmlns:a16="http://schemas.microsoft.com/office/drawing/2014/main" id="{DE51390C-D61A-4F0F-8D06-F9DBAAE010F6}"/>
              </a:ext>
            </a:extLst>
          </p:cNvPr>
          <p:cNvSpPr>
            <a:spLocks xmlns:a="http://schemas.openxmlformats.org/drawingml/2006/main" noGrp="1"/>
          </p:cNvSpPr>
          <p:nvPr/>
        </p:nvSpPr>
        <p:spPr>
          <a:xfrm xmlns:a="http://schemas.openxmlformats.org/drawingml/2006/main">
            <a:off x="838200" y="2552700"/>
            <a:ext cx="42576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00000"/>
                </a:solidFill>
              </a:defRPr>
            </a:pPr>
            <a:r>
              <a:rPr sz="1350" b="0">
                <a:solidFill>
                  <a:srgbClr val="000000"/>
                </a:solidFill>
              </a:rPr>
              <a:t>本体数据源已对接</a:t>
            </a:r>
          </a:p>
        </p:txBody>
      </p:sp>
      <p:sp>
        <p:nvSpPr>
          <p:cNvPr id="9" name="">
            <a:extLst xmlns:a="http://schemas.openxmlformats.org/drawingml/2006/main">
              <a:ext uri="{FF2B5EF4-FFF2-40B4-BE49-F238E27FC236}">
                <a16:creationId xmlns:a16="http://schemas.microsoft.com/office/drawing/2014/main" id="{F717272C-EEA2-4DD3-94A5-4F94E16FE2BE}"/>
              </a:ext>
            </a:extLst>
          </p:cNvPr>
          <p:cNvSpPr>
            <a:spLocks xmlns:a="http://schemas.openxmlformats.org/drawingml/2006/main" noGrp="1"/>
          </p:cNvSpPr>
          <p:nvPr/>
        </p:nvSpPr>
        <p:spPr>
          <a:xfrm xmlns:a="http://schemas.openxmlformats.org/drawingml/2006/main">
            <a:off x="666750" y="30861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10" name="">
            <a:extLst xmlns:a="http://schemas.openxmlformats.org/drawingml/2006/main">
              <a:ext uri="{FF2B5EF4-FFF2-40B4-BE49-F238E27FC236}">
                <a16:creationId xmlns:a16="http://schemas.microsoft.com/office/drawing/2014/main" id="{205D7462-4E59-4BE9-8FB0-64A816A5CAA8}"/>
              </a:ext>
            </a:extLst>
          </p:cNvPr>
          <p:cNvSpPr>
            <a:spLocks xmlns:a="http://schemas.openxmlformats.org/drawingml/2006/main" noGrp="1"/>
          </p:cNvSpPr>
          <p:nvPr/>
        </p:nvSpPr>
        <p:spPr>
          <a:xfrm xmlns:a="http://schemas.openxmlformats.org/drawingml/2006/main">
            <a:off x="838200" y="3009900"/>
            <a:ext cx="42576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00000"/>
                </a:solidFill>
              </a:defRPr>
            </a:pPr>
            <a:r>
              <a:rPr sz="1350" b="0">
                <a:solidFill>
                  <a:srgbClr val="000000"/>
                </a:solidFill>
              </a:rPr>
              <a:t>生成应用调用本体数据并展示真实数据</a:t>
            </a:r>
          </a:p>
        </p:txBody>
      </p:sp>
      <p:sp>
        <p:nvSpPr>
          <p:cNvPr id="11" name="">
            <a:extLst xmlns:a="http://schemas.openxmlformats.org/drawingml/2006/main">
              <a:ext uri="{FF2B5EF4-FFF2-40B4-BE49-F238E27FC236}">
                <a16:creationId xmlns:a16="http://schemas.microsoft.com/office/drawing/2014/main" id="{4E54E553-7768-4DEC-A522-6F894BE9528E}"/>
              </a:ext>
            </a:extLst>
          </p:cNvPr>
          <p:cNvSpPr>
            <a:spLocks xmlns:a="http://schemas.openxmlformats.org/drawingml/2006/main" noGrp="1"/>
          </p:cNvSpPr>
          <p:nvPr/>
        </p:nvSpPr>
        <p:spPr>
          <a:xfrm xmlns:a="http://schemas.openxmlformats.org/drawingml/2006/main">
            <a:off x="666750" y="35433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12" name="">
            <a:extLst xmlns:a="http://schemas.openxmlformats.org/drawingml/2006/main">
              <a:ext uri="{FF2B5EF4-FFF2-40B4-BE49-F238E27FC236}">
                <a16:creationId xmlns:a16="http://schemas.microsoft.com/office/drawing/2014/main" id="{8DF22050-81CA-4299-9DFC-DCAC7AC8B021}"/>
              </a:ext>
            </a:extLst>
          </p:cNvPr>
          <p:cNvSpPr>
            <a:spLocks xmlns:a="http://schemas.openxmlformats.org/drawingml/2006/main" noGrp="1"/>
          </p:cNvSpPr>
          <p:nvPr/>
        </p:nvSpPr>
        <p:spPr>
          <a:xfrm xmlns:a="http://schemas.openxmlformats.org/drawingml/2006/main">
            <a:off x="838200" y="3467100"/>
            <a:ext cx="42576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00000"/>
                </a:solidFill>
              </a:defRPr>
            </a:pPr>
            <a:r>
              <a:rPr sz="1350" b="0">
                <a:solidFill>
                  <a:srgbClr val="000000"/>
                </a:solidFill>
              </a:rPr>
              <a:t>界面样式贴合客户系统</a:t>
            </a:r>
          </a:p>
        </p:txBody>
      </p:sp>
      <p:sp>
        <p:nvSpPr>
          <p:cNvPr id="13" name="">
            <a:extLst xmlns:a="http://schemas.openxmlformats.org/drawingml/2006/main">
              <a:ext uri="{FF2B5EF4-FFF2-40B4-BE49-F238E27FC236}">
                <a16:creationId xmlns:a16="http://schemas.microsoft.com/office/drawing/2014/main" id="{07DA3F3F-77A6-4648-AB7A-EEFDAC4DD7C4}"/>
              </a:ext>
            </a:extLst>
          </p:cNvPr>
          <p:cNvSpPr>
            <a:spLocks xmlns:a="http://schemas.openxmlformats.org/drawingml/2006/main" noGrp="1"/>
          </p:cNvSpPr>
          <p:nvPr/>
        </p:nvSpPr>
        <p:spPr>
          <a:xfrm xmlns:a="http://schemas.openxmlformats.org/drawingml/2006/main">
            <a:off x="666750" y="40005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14" name="">
            <a:extLst xmlns:a="http://schemas.openxmlformats.org/drawingml/2006/main">
              <a:ext uri="{FF2B5EF4-FFF2-40B4-BE49-F238E27FC236}">
                <a16:creationId xmlns:a16="http://schemas.microsoft.com/office/drawing/2014/main" id="{828E539C-56A6-432B-8947-FFABD25A5292}"/>
              </a:ext>
            </a:extLst>
          </p:cNvPr>
          <p:cNvSpPr>
            <a:spLocks xmlns:a="http://schemas.openxmlformats.org/drawingml/2006/main" noGrp="1"/>
          </p:cNvSpPr>
          <p:nvPr/>
        </p:nvSpPr>
        <p:spPr>
          <a:xfrm xmlns:a="http://schemas.openxmlformats.org/drawingml/2006/main">
            <a:off x="838200" y="3924300"/>
            <a:ext cx="42576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00000"/>
                </a:solidFill>
              </a:defRPr>
            </a:pPr>
            <a:r>
              <a:rPr sz="1350" b="0">
                <a:solidFill>
                  <a:srgbClr val="000000"/>
                </a:solidFill>
              </a:rPr>
              <a:t>生成应用具备嵌入客户系统的便利性</a:t>
            </a:r>
          </a:p>
        </p:txBody>
      </p:sp>
      <p:sp>
        <p:nvSpPr>
          <p:cNvPr id="15" name="">
            <a:extLst xmlns:a="http://schemas.openxmlformats.org/drawingml/2006/main">
              <a:ext uri="{FF2B5EF4-FFF2-40B4-BE49-F238E27FC236}">
                <a16:creationId xmlns:a16="http://schemas.microsoft.com/office/drawing/2014/main" id="{550B3CB0-829B-4C09-ABE6-98F91AC0E4E5}"/>
              </a:ext>
            </a:extLst>
          </p:cNvPr>
          <p:cNvSpPr>
            <a:spLocks xmlns:a="http://schemas.openxmlformats.org/drawingml/2006/main" noGrp="1"/>
          </p:cNvSpPr>
          <p:nvPr/>
        </p:nvSpPr>
        <p:spPr>
          <a:xfrm xmlns:a="http://schemas.openxmlformats.org/drawingml/2006/main">
            <a:off x="5753100" y="1695450"/>
            <a:ext cx="5619750" cy="352425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FA9DC67-896C-454D-8DB0-6DBB906F10CA}"/>
              </a:ext>
            </a:extLst>
          </p:cNvPr>
          <p:cNvSpPr>
            <a:spLocks xmlns:a="http://schemas.openxmlformats.org/drawingml/2006/main" noGrp="1"/>
          </p:cNvSpPr>
          <p:nvPr/>
        </p:nvSpPr>
        <p:spPr>
          <a:xfrm xmlns:a="http://schemas.openxmlformats.org/drawingml/2006/main">
            <a:off x="6038850" y="20002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FF6B35"/>
                </a:solidFill>
              </a:defRPr>
            </a:pPr>
            <a:r>
              <a:rPr sz="1125" b="1">
                <a:solidFill>
                  <a:srgbClr val="FF6B35"/>
                </a:solidFill>
              </a:rPr>
              <a:t>现场厂商观察</a:t>
            </a:r>
          </a:p>
        </p:txBody>
      </p:sp>
      <p:sp>
        <p:nvSpPr>
          <p:cNvPr id="17" name="">
            <a:extLst xmlns:a="http://schemas.openxmlformats.org/drawingml/2006/main">
              <a:ext uri="{FF2B5EF4-FFF2-40B4-BE49-F238E27FC236}">
                <a16:creationId xmlns:a16="http://schemas.microsoft.com/office/drawing/2014/main" id="{CFBEF0B5-D9A5-41F7-931C-27BA8B156570}"/>
              </a:ext>
            </a:extLst>
          </p:cNvPr>
          <p:cNvSpPr>
            <a:spLocks xmlns:a="http://schemas.openxmlformats.org/drawingml/2006/main" noGrp="1"/>
          </p:cNvSpPr>
          <p:nvPr/>
        </p:nvSpPr>
        <p:spPr>
          <a:xfrm xmlns:a="http://schemas.openxmlformats.org/drawingml/2006/main">
            <a:off x="6038850" y="24574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0000"/>
                </a:solidFill>
              </a:defRPr>
            </a:pPr>
            <a:r>
              <a:rPr sz="1575" b="1">
                <a:solidFill>
                  <a:srgbClr val="000000"/>
                </a:solidFill>
              </a:rPr>
              <a:t>领铄</a:t>
            </a:r>
          </a:p>
        </p:txBody>
      </p:sp>
      <p:sp>
        <p:nvSpPr>
          <p:cNvPr id="18" name="">
            <a:extLst xmlns:a="http://schemas.openxmlformats.org/drawingml/2006/main">
              <a:ext uri="{FF2B5EF4-FFF2-40B4-BE49-F238E27FC236}">
                <a16:creationId xmlns:a16="http://schemas.microsoft.com/office/drawing/2014/main" id="{0856DD1D-83D4-42D0-B674-18342A1196FF}"/>
              </a:ext>
            </a:extLst>
          </p:cNvPr>
          <p:cNvSpPr>
            <a:spLocks xmlns:a="http://schemas.openxmlformats.org/drawingml/2006/main" noGrp="1"/>
          </p:cNvSpPr>
          <p:nvPr/>
        </p:nvSpPr>
        <p:spPr>
          <a:xfrm xmlns:a="http://schemas.openxmlformats.org/drawingml/2006/main">
            <a:off x="7029450" y="2457450"/>
            <a:ext cx="3810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22222"/>
                </a:solidFill>
              </a:defRPr>
            </a:pPr>
            <a:r>
              <a:rPr sz="1275" b="0">
                <a:solidFill>
                  <a:srgbClr val="222222"/>
                </a:solidFill>
              </a:rPr>
              <a:t>需求分析交互、澄清项识别、数据处理过程更容易被客户感知。</a:t>
            </a:r>
          </a:p>
        </p:txBody>
      </p:sp>
      <p:sp>
        <p:nvSpPr>
          <p:cNvPr id="19" name="">
            <a:extLst xmlns:a="http://schemas.openxmlformats.org/drawingml/2006/main">
              <a:ext uri="{FF2B5EF4-FFF2-40B4-BE49-F238E27FC236}">
                <a16:creationId xmlns:a16="http://schemas.microsoft.com/office/drawing/2014/main" id="{0D143983-FC9B-41E6-9B48-CD63A19222F9}"/>
              </a:ext>
            </a:extLst>
          </p:cNvPr>
          <p:cNvSpPr>
            <a:spLocks xmlns:a="http://schemas.openxmlformats.org/drawingml/2006/main" noGrp="1"/>
          </p:cNvSpPr>
          <p:nvPr/>
        </p:nvSpPr>
        <p:spPr>
          <a:xfrm xmlns:a="http://schemas.openxmlformats.org/drawingml/2006/main">
            <a:off x="6038850" y="3048000"/>
            <a:ext cx="485775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20" name="">
            <a:extLst xmlns:a="http://schemas.openxmlformats.org/drawingml/2006/main">
              <a:ext uri="{FF2B5EF4-FFF2-40B4-BE49-F238E27FC236}">
                <a16:creationId xmlns:a16="http://schemas.microsoft.com/office/drawing/2014/main" id="{1F402BE7-F76B-4B42-95DE-05CCA9FD24E3}"/>
              </a:ext>
            </a:extLst>
          </p:cNvPr>
          <p:cNvSpPr>
            <a:spLocks xmlns:a="http://schemas.openxmlformats.org/drawingml/2006/main" noGrp="1"/>
          </p:cNvSpPr>
          <p:nvPr/>
        </p:nvSpPr>
        <p:spPr>
          <a:xfrm xmlns:a="http://schemas.openxmlformats.org/drawingml/2006/main">
            <a:off x="6038850" y="323850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0000"/>
                </a:solidFill>
              </a:defRPr>
            </a:pPr>
            <a:r>
              <a:rPr sz="1575" b="1">
                <a:solidFill>
                  <a:srgbClr val="000000"/>
                </a:solidFill>
              </a:rPr>
              <a:t>电子云</a:t>
            </a:r>
          </a:p>
        </p:txBody>
      </p:sp>
      <p:sp>
        <p:nvSpPr>
          <p:cNvPr id="21" name="">
            <a:extLst xmlns:a="http://schemas.openxmlformats.org/drawingml/2006/main">
              <a:ext uri="{FF2B5EF4-FFF2-40B4-BE49-F238E27FC236}">
                <a16:creationId xmlns:a16="http://schemas.microsoft.com/office/drawing/2014/main" id="{05531299-6DFC-4EEC-BDBD-289BAE300442}"/>
              </a:ext>
            </a:extLst>
          </p:cNvPr>
          <p:cNvSpPr>
            <a:spLocks xmlns:a="http://schemas.openxmlformats.org/drawingml/2006/main" noGrp="1"/>
          </p:cNvSpPr>
          <p:nvPr/>
        </p:nvSpPr>
        <p:spPr>
          <a:xfrm xmlns:a="http://schemas.openxmlformats.org/drawingml/2006/main">
            <a:off x="7029450" y="3238500"/>
            <a:ext cx="3810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22222"/>
                </a:solidFill>
              </a:defRPr>
            </a:pPr>
            <a:r>
              <a:rPr sz="1275" b="0">
                <a:solidFill>
                  <a:srgbClr val="222222"/>
                </a:solidFill>
              </a:rPr>
              <a:t>真实数据应用生成闭环、客户系统嵌入能力、与电子云产品结合空间。</a:t>
            </a:r>
          </a:p>
        </p:txBody>
      </p:sp>
      <p:sp>
        <p:nvSpPr>
          <p:cNvPr id="22" name="">
            <a:extLst xmlns:a="http://schemas.openxmlformats.org/drawingml/2006/main">
              <a:ext uri="{FF2B5EF4-FFF2-40B4-BE49-F238E27FC236}">
                <a16:creationId xmlns:a16="http://schemas.microsoft.com/office/drawing/2014/main" id="{7E2708B7-5562-4ED2-A200-13A06981771B}"/>
              </a:ext>
            </a:extLst>
          </p:cNvPr>
          <p:cNvSpPr>
            <a:spLocks xmlns:a="http://schemas.openxmlformats.org/drawingml/2006/main" noGrp="1"/>
          </p:cNvSpPr>
          <p:nvPr/>
        </p:nvSpPr>
        <p:spPr>
          <a:xfrm xmlns:a="http://schemas.openxmlformats.org/drawingml/2006/main">
            <a:off x="6038850" y="3829050"/>
            <a:ext cx="485775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23" name="">
            <a:extLst xmlns:a="http://schemas.openxmlformats.org/drawingml/2006/main">
              <a:ext uri="{FF2B5EF4-FFF2-40B4-BE49-F238E27FC236}">
                <a16:creationId xmlns:a16="http://schemas.microsoft.com/office/drawing/2014/main" id="{3BA1304B-49DF-4F73-94F0-F20B55CCD6AC}"/>
              </a:ext>
            </a:extLst>
          </p:cNvPr>
          <p:cNvSpPr>
            <a:spLocks xmlns:a="http://schemas.openxmlformats.org/drawingml/2006/main" noGrp="1"/>
          </p:cNvSpPr>
          <p:nvPr/>
        </p:nvSpPr>
        <p:spPr>
          <a:xfrm xmlns:a="http://schemas.openxmlformats.org/drawingml/2006/main">
            <a:off x="6038850" y="40195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0000"/>
                </a:solidFill>
              </a:defRPr>
            </a:pPr>
            <a:r>
              <a:rPr sz="1575" b="1">
                <a:solidFill>
                  <a:srgbClr val="000000"/>
                </a:solidFill>
              </a:rPr>
              <a:t>15 所</a:t>
            </a:r>
          </a:p>
        </p:txBody>
      </p:sp>
      <p:sp>
        <p:nvSpPr>
          <p:cNvPr id="24" name="">
            <a:extLst xmlns:a="http://schemas.openxmlformats.org/drawingml/2006/main">
              <a:ext uri="{FF2B5EF4-FFF2-40B4-BE49-F238E27FC236}">
                <a16:creationId xmlns:a16="http://schemas.microsoft.com/office/drawing/2014/main" id="{63B34155-B910-4300-A1A8-4A6F85735D57}"/>
              </a:ext>
            </a:extLst>
          </p:cNvPr>
          <p:cNvSpPr>
            <a:spLocks xmlns:a="http://schemas.openxmlformats.org/drawingml/2006/main" noGrp="1"/>
          </p:cNvSpPr>
          <p:nvPr/>
        </p:nvSpPr>
        <p:spPr>
          <a:xfrm xmlns:a="http://schemas.openxmlformats.org/drawingml/2006/main">
            <a:off x="7029450" y="4019550"/>
            <a:ext cx="3810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22222"/>
                </a:solidFill>
              </a:defRPr>
            </a:pPr>
            <a:r>
              <a:rPr sz="1275" b="0">
                <a:solidFill>
                  <a:srgbClr val="222222"/>
                </a:solidFill>
              </a:rPr>
              <a:t>工程链路直接，但产品化展示和用户体验不足。</a:t>
            </a:r>
          </a:p>
        </p:txBody>
      </p:sp>
      <p:sp>
        <p:nvSpPr>
          <p:cNvPr id="25" name="">
            <a:extLst xmlns:a="http://schemas.openxmlformats.org/drawingml/2006/main">
              <a:ext uri="{FF2B5EF4-FFF2-40B4-BE49-F238E27FC236}">
                <a16:creationId xmlns:a16="http://schemas.microsoft.com/office/drawing/2014/main" id="{08253FDD-7ECD-40F5-880B-B6744023ED76}"/>
              </a:ext>
            </a:extLst>
          </p:cNvPr>
          <p:cNvSpPr>
            <a:spLocks xmlns:a="http://schemas.openxmlformats.org/drawingml/2006/main" noGrp="1"/>
          </p:cNvSpPr>
          <p:nvPr/>
        </p:nvSpPr>
        <p:spPr>
          <a:xfrm xmlns:a="http://schemas.openxmlformats.org/drawingml/2006/main">
            <a:off x="5753100" y="5572125"/>
            <a:ext cx="5619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00000"/>
                </a:solidFill>
              </a:defRPr>
            </a:pPr>
            <a:r>
              <a:rPr sz="1500" b="1">
                <a:solidFill>
                  <a:srgbClr val="000000"/>
                </a:solidFill>
              </a:rPr>
              <a:t>领铄更容易让客户看到“过程可信”；电子云更明确证明了“闭环可用”。</a:t>
            </a:r>
          </a:p>
        </p:txBody>
      </p:sp>
      <p:sp>
        <p:nvSpPr>
          <p:cNvPr id="26" name="">
            <a:extLst xmlns:a="http://schemas.openxmlformats.org/drawingml/2006/main">
              <a:ext uri="{FF2B5EF4-FFF2-40B4-BE49-F238E27FC236}">
                <a16:creationId xmlns:a16="http://schemas.microsoft.com/office/drawing/2014/main" id="{F6100853-3514-4E89-82CB-18F46A0803B7}"/>
              </a:ext>
            </a:extLst>
          </p:cNvPr>
          <p:cNvSpPr>
            <a:spLocks xmlns:a="http://schemas.openxmlformats.org/drawingml/2006/main" noGrp="1"/>
          </p:cNvSpPr>
          <p:nvPr/>
        </p:nvSpPr>
        <p:spPr>
          <a:xfrm xmlns:a="http://schemas.openxmlformats.org/drawingml/2006/main">
            <a:off x="514350" y="63817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55555"/>
                </a:solidFill>
              </a:defRPr>
            </a:pPr>
            <a:r>
              <a:rPr sz="1050" b="0">
                <a:solidFill>
                  <a:srgbClr val="555555"/>
                </a:solidFill>
              </a:rPr>
              <a:t>西安 630 项目软件工厂复盘</a:t>
            </a:r>
          </a:p>
        </p:txBody>
      </p:sp>
      <p:sp>
        <p:nvSpPr>
          <p:cNvPr id="27" name="">
            <a:extLst xmlns:a="http://schemas.openxmlformats.org/drawingml/2006/main">
              <a:ext uri="{FF2B5EF4-FFF2-40B4-BE49-F238E27FC236}">
                <a16:creationId xmlns:a16="http://schemas.microsoft.com/office/drawing/2014/main" id="{ACA46AED-9D93-4875-B7CF-E67878EE24D9}"/>
              </a:ext>
            </a:extLst>
          </p:cNvPr>
          <p:cNvSpPr>
            <a:spLocks xmlns:a="http://schemas.openxmlformats.org/drawingml/2006/main" noGrp="1"/>
          </p:cNvSpPr>
          <p:nvPr/>
        </p:nvSpPr>
        <p:spPr>
          <a:xfrm xmlns:a="http://schemas.openxmlformats.org/drawingml/2006/main">
            <a:off x="11287125" y="63817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555555"/>
                </a:solidFill>
              </a:defRPr>
            </a:pPr>
            <a:r>
              <a:rPr sz="1050" b="1">
                <a:solidFill>
                  <a:srgbClr val="555555"/>
                </a:solidFill>
              </a:rPr>
              <a:t>04</a:t>
            </a:r>
          </a:p>
        </p:txBody>
      </p:sp>
    </p:spTree>
    <p:extLst>
      <p:ext uri="{BB962C8B-B14F-4D97-AF65-F5344CB8AC3E}">
        <p14:creationId xmlns:p14="http://schemas.microsoft.com/office/powerpoint/2010/main" val="90750848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F4C6682-2B2B-471B-9E05-C77C5CE8F369}"/>
              </a:ext>
            </a:extLst>
          </p:cNvPr>
          <p:cNvSpPr>
            <a:spLocks xmlns:a="http://schemas.openxmlformats.org/drawingml/2006/main" noGrp="1"/>
          </p:cNvSpPr>
          <p:nvPr/>
        </p:nvSpPr>
        <p:spPr>
          <a:xfrm xmlns:a="http://schemas.openxmlformats.org/drawingml/2006/main">
            <a:off x="514350" y="342900"/>
            <a:ext cx="10191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0000"/>
                </a:solidFill>
              </a:defRPr>
            </a:pPr>
            <a:r>
              <a:rPr sz="2700" b="1">
                <a:solidFill>
                  <a:srgbClr val="000000"/>
                </a:solidFill>
              </a:rPr>
              <a:t>下一阶段要把闭环可用升级为过程可信</a:t>
            </a:r>
          </a:p>
        </p:txBody>
      </p:sp>
      <p:sp>
        <p:nvSpPr>
          <p:cNvPr id="2" name="">
            <a:extLst xmlns:a="http://schemas.openxmlformats.org/drawingml/2006/main">
              <a:ext uri="{FF2B5EF4-FFF2-40B4-BE49-F238E27FC236}">
                <a16:creationId xmlns:a16="http://schemas.microsoft.com/office/drawing/2014/main" id="{19179A35-3330-4296-BC66-C8E09E44FA42}"/>
              </a:ext>
            </a:extLst>
          </p:cNvPr>
          <p:cNvSpPr>
            <a:spLocks xmlns:a="http://schemas.openxmlformats.org/drawingml/2006/main" noGrp="1"/>
          </p:cNvSpPr>
          <p:nvPr/>
        </p:nvSpPr>
        <p:spPr>
          <a:xfrm xmlns:a="http://schemas.openxmlformats.org/drawingml/2006/main">
            <a:off x="514350" y="12001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55555"/>
                </a:solidFill>
              </a:defRPr>
            </a:pPr>
            <a:r>
              <a:rPr sz="1275" b="0">
                <a:solidFill>
                  <a:srgbClr val="555555"/>
                </a:solidFill>
              </a:rPr>
              <a:t>客户高感知能力决定现场认可度，产品主轴能力决定长期形态。</a:t>
            </a:r>
          </a:p>
        </p:txBody>
      </p:sp>
      <p:sp>
        <p:nvSpPr>
          <p:cNvPr id="3" name="">
            <a:extLst xmlns:a="http://schemas.openxmlformats.org/drawingml/2006/main">
              <a:ext uri="{FF2B5EF4-FFF2-40B4-BE49-F238E27FC236}">
                <a16:creationId xmlns:a16="http://schemas.microsoft.com/office/drawing/2014/main" id="{190913E1-DB00-4AE7-9778-68E25934ADF7}"/>
              </a:ext>
            </a:extLst>
          </p:cNvPr>
          <p:cNvSpPr>
            <a:spLocks xmlns:a="http://schemas.openxmlformats.org/drawingml/2006/main" noGrp="1"/>
          </p:cNvSpPr>
          <p:nvPr/>
        </p:nvSpPr>
        <p:spPr>
          <a:xfrm xmlns:a="http://schemas.openxmlformats.org/drawingml/2006/main">
            <a:off x="514350" y="1581150"/>
            <a:ext cx="111633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5CEA04FB-9627-4742-B687-5E33D43C8C5C}"/>
              </a:ext>
            </a:extLst>
          </p:cNvPr>
          <p:cNvSpPr>
            <a:spLocks xmlns:a="http://schemas.openxmlformats.org/drawingml/2006/main" noGrp="1"/>
          </p:cNvSpPr>
          <p:nvPr/>
        </p:nvSpPr>
        <p:spPr>
          <a:xfrm xmlns:a="http://schemas.openxmlformats.org/drawingml/2006/main">
            <a:off x="666750" y="1809750"/>
            <a:ext cx="4000500" cy="990600"/>
          </a:xfrm>
          <a:prstGeom xmlns:a="http://schemas.openxmlformats.org/drawingml/2006/main" prst="rect">
            <a:avLst/>
          </a:prstGeom>
          <a:solidFill xmlns:a="http://schemas.openxmlformats.org/drawingml/2006/main">
            <a:srgbClr val="FFF4EF"/>
          </a:solidFill>
          <a:ln xmlns:a="http://schemas.openxmlformats.org/drawingml/2006/main" w="9525">
            <a:solidFill>
              <a:srgbClr val="FF6B35"/>
            </a:solidFill>
            <a:prstDash val="solid"/>
          </a:ln>
        </p:spPr>
      </p:sp>
      <p:sp>
        <p:nvSpPr>
          <p:cNvPr id="5" name="">
            <a:extLst xmlns:a="http://schemas.openxmlformats.org/drawingml/2006/main">
              <a:ext uri="{FF2B5EF4-FFF2-40B4-BE49-F238E27FC236}">
                <a16:creationId xmlns:a16="http://schemas.microsoft.com/office/drawing/2014/main" id="{615A561A-F4B6-45B1-99D8-14C9DE5D8C0A}"/>
              </a:ext>
            </a:extLst>
          </p:cNvPr>
          <p:cNvSpPr>
            <a:spLocks xmlns:a="http://schemas.openxmlformats.org/drawingml/2006/main" noGrp="1"/>
          </p:cNvSpPr>
          <p:nvPr/>
        </p:nvSpPr>
        <p:spPr>
          <a:xfrm xmlns:a="http://schemas.openxmlformats.org/drawingml/2006/main">
            <a:off x="876300" y="198120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00000"/>
                </a:solidFill>
              </a:defRPr>
            </a:pPr>
            <a:r>
              <a:rPr sz="1800" b="1">
                <a:solidFill>
                  <a:srgbClr val="000000"/>
                </a:solidFill>
              </a:rPr>
              <a:t>过程可信</a:t>
            </a:r>
          </a:p>
        </p:txBody>
      </p:sp>
      <p:sp>
        <p:nvSpPr>
          <p:cNvPr id="6" name="">
            <a:extLst xmlns:a="http://schemas.openxmlformats.org/drawingml/2006/main">
              <a:ext uri="{FF2B5EF4-FFF2-40B4-BE49-F238E27FC236}">
                <a16:creationId xmlns:a16="http://schemas.microsoft.com/office/drawing/2014/main" id="{608912AD-3971-4989-B3A7-0C1FA313AD7E}"/>
              </a:ext>
            </a:extLst>
          </p:cNvPr>
          <p:cNvSpPr>
            <a:spLocks xmlns:a="http://schemas.openxmlformats.org/drawingml/2006/main" noGrp="1"/>
          </p:cNvSpPr>
          <p:nvPr/>
        </p:nvSpPr>
        <p:spPr>
          <a:xfrm xmlns:a="http://schemas.openxmlformats.org/drawingml/2006/main">
            <a:off x="876300" y="236220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55555"/>
                </a:solidFill>
              </a:defRPr>
            </a:pPr>
            <a:r>
              <a:rPr sz="1200" b="0">
                <a:solidFill>
                  <a:srgbClr val="555555"/>
                </a:solidFill>
              </a:rPr>
              <a:t>需求澄清、数据流转、agent 协作过程可见</a:t>
            </a:r>
          </a:p>
        </p:txBody>
      </p:sp>
      <p:sp>
        <p:nvSpPr>
          <p:cNvPr id="7" name="">
            <a:extLst xmlns:a="http://schemas.openxmlformats.org/drawingml/2006/main">
              <a:ext uri="{FF2B5EF4-FFF2-40B4-BE49-F238E27FC236}">
                <a16:creationId xmlns:a16="http://schemas.microsoft.com/office/drawing/2014/main" id="{1C123E1F-C3F3-41DE-B5CD-ECF0CB449EE1}"/>
              </a:ext>
            </a:extLst>
          </p:cNvPr>
          <p:cNvSpPr>
            <a:spLocks xmlns:a="http://schemas.openxmlformats.org/drawingml/2006/main" noGrp="1"/>
          </p:cNvSpPr>
          <p:nvPr/>
        </p:nvSpPr>
        <p:spPr>
          <a:xfrm xmlns:a="http://schemas.openxmlformats.org/drawingml/2006/main">
            <a:off x="5143500" y="1809750"/>
            <a:ext cx="4000500" cy="99060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72D5C13-ABBC-44CA-B3AE-8A8C8BD4B8A5}"/>
              </a:ext>
            </a:extLst>
          </p:cNvPr>
          <p:cNvSpPr>
            <a:spLocks xmlns:a="http://schemas.openxmlformats.org/drawingml/2006/main" noGrp="1"/>
          </p:cNvSpPr>
          <p:nvPr/>
        </p:nvSpPr>
        <p:spPr>
          <a:xfrm xmlns:a="http://schemas.openxmlformats.org/drawingml/2006/main">
            <a:off x="5353050" y="198120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00000"/>
                </a:solidFill>
              </a:defRPr>
            </a:pPr>
            <a:r>
              <a:rPr sz="1800" b="1">
                <a:solidFill>
                  <a:srgbClr val="000000"/>
                </a:solidFill>
              </a:rPr>
              <a:t>产物稳定</a:t>
            </a:r>
          </a:p>
        </p:txBody>
      </p:sp>
      <p:sp>
        <p:nvSpPr>
          <p:cNvPr id="9" name="">
            <a:extLst xmlns:a="http://schemas.openxmlformats.org/drawingml/2006/main">
              <a:ext uri="{FF2B5EF4-FFF2-40B4-BE49-F238E27FC236}">
                <a16:creationId xmlns:a16="http://schemas.microsoft.com/office/drawing/2014/main" id="{FDEB73C3-54F9-4E66-B6DB-3162E380D7F4}"/>
              </a:ext>
            </a:extLst>
          </p:cNvPr>
          <p:cNvSpPr>
            <a:spLocks xmlns:a="http://schemas.openxmlformats.org/drawingml/2006/main" noGrp="1"/>
          </p:cNvSpPr>
          <p:nvPr/>
        </p:nvSpPr>
        <p:spPr>
          <a:xfrm xmlns:a="http://schemas.openxmlformats.org/drawingml/2006/main">
            <a:off x="5353050" y="236220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55555"/>
                </a:solidFill>
              </a:defRPr>
            </a:pPr>
            <a:r>
              <a:rPr sz="1200" b="0">
                <a:solidFill>
                  <a:srgbClr val="555555"/>
                </a:solidFill>
              </a:rPr>
              <a:t>应用质量、真实数据接入、部署验证更稳定</a:t>
            </a:r>
          </a:p>
        </p:txBody>
      </p:sp>
      <p:sp>
        <p:nvSpPr>
          <p:cNvPr id="10" name="">
            <a:extLst xmlns:a="http://schemas.openxmlformats.org/drawingml/2006/main">
              <a:ext uri="{FF2B5EF4-FFF2-40B4-BE49-F238E27FC236}">
                <a16:creationId xmlns:a16="http://schemas.microsoft.com/office/drawing/2014/main" id="{EAFD5887-B2C8-4A7F-8776-1A0A445A396D}"/>
              </a:ext>
            </a:extLst>
          </p:cNvPr>
          <p:cNvSpPr>
            <a:spLocks xmlns:a="http://schemas.openxmlformats.org/drawingml/2006/main" noGrp="1"/>
          </p:cNvSpPr>
          <p:nvPr/>
        </p:nvSpPr>
        <p:spPr>
          <a:xfrm xmlns:a="http://schemas.openxmlformats.org/drawingml/2006/main">
            <a:off x="666750" y="3238500"/>
            <a:ext cx="4000500" cy="99060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425F21D-EFFD-4570-8A13-42A93EA6380C}"/>
              </a:ext>
            </a:extLst>
          </p:cNvPr>
          <p:cNvSpPr>
            <a:spLocks xmlns:a="http://schemas.openxmlformats.org/drawingml/2006/main" noGrp="1"/>
          </p:cNvSpPr>
          <p:nvPr/>
        </p:nvSpPr>
        <p:spPr>
          <a:xfrm xmlns:a="http://schemas.openxmlformats.org/drawingml/2006/main">
            <a:off x="876300" y="340995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00000"/>
                </a:solidFill>
              </a:defRPr>
            </a:pPr>
            <a:r>
              <a:rPr sz="1800" b="1">
                <a:solidFill>
                  <a:srgbClr val="000000"/>
                </a:solidFill>
              </a:rPr>
              <a:t>能力可沉淀</a:t>
            </a:r>
          </a:p>
        </p:txBody>
      </p:sp>
      <p:sp>
        <p:nvSpPr>
          <p:cNvPr id="12" name="">
            <a:extLst xmlns:a="http://schemas.openxmlformats.org/drawingml/2006/main">
              <a:ext uri="{FF2B5EF4-FFF2-40B4-BE49-F238E27FC236}">
                <a16:creationId xmlns:a16="http://schemas.microsoft.com/office/drawing/2014/main" id="{A5EEF247-4AB1-4B8D-9F04-D9BAF3A6EFBF}"/>
              </a:ext>
            </a:extLst>
          </p:cNvPr>
          <p:cNvSpPr>
            <a:spLocks xmlns:a="http://schemas.openxmlformats.org/drawingml/2006/main" noGrp="1"/>
          </p:cNvSpPr>
          <p:nvPr/>
        </p:nvSpPr>
        <p:spPr>
          <a:xfrm xmlns:a="http://schemas.openxmlformats.org/drawingml/2006/main">
            <a:off x="876300" y="37909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55555"/>
                </a:solidFill>
              </a:defRPr>
            </a:pPr>
            <a:r>
              <a:rPr sz="1200" b="0">
                <a:solidFill>
                  <a:srgbClr val="555555"/>
                </a:solidFill>
              </a:rPr>
              <a:t>领域经验、skills、subagent、应用蓝本可复用</a:t>
            </a:r>
          </a:p>
        </p:txBody>
      </p:sp>
      <p:sp>
        <p:nvSpPr>
          <p:cNvPr id="13" name="">
            <a:extLst xmlns:a="http://schemas.openxmlformats.org/drawingml/2006/main">
              <a:ext uri="{FF2B5EF4-FFF2-40B4-BE49-F238E27FC236}">
                <a16:creationId xmlns:a16="http://schemas.microsoft.com/office/drawing/2014/main" id="{2C7C34FE-BD2E-4B2C-B4C1-1C6DA20FB32F}"/>
              </a:ext>
            </a:extLst>
          </p:cNvPr>
          <p:cNvSpPr>
            <a:spLocks xmlns:a="http://schemas.openxmlformats.org/drawingml/2006/main" noGrp="1"/>
          </p:cNvSpPr>
          <p:nvPr/>
        </p:nvSpPr>
        <p:spPr>
          <a:xfrm xmlns:a="http://schemas.openxmlformats.org/drawingml/2006/main">
            <a:off x="5143500" y="3238500"/>
            <a:ext cx="4000500" cy="99060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2122D09-D0A9-49B8-9B5C-C7CFE4461CE6}"/>
              </a:ext>
            </a:extLst>
          </p:cNvPr>
          <p:cNvSpPr>
            <a:spLocks xmlns:a="http://schemas.openxmlformats.org/drawingml/2006/main" noGrp="1"/>
          </p:cNvSpPr>
          <p:nvPr/>
        </p:nvSpPr>
        <p:spPr>
          <a:xfrm xmlns:a="http://schemas.openxmlformats.org/drawingml/2006/main">
            <a:off x="5353050" y="3409950"/>
            <a:ext cx="152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00000"/>
                </a:solidFill>
              </a:defRPr>
            </a:pPr>
            <a:r>
              <a:rPr sz="1800" b="1">
                <a:solidFill>
                  <a:srgbClr val="000000"/>
                </a:solidFill>
              </a:rPr>
              <a:t>工程可进入</a:t>
            </a:r>
          </a:p>
        </p:txBody>
      </p:sp>
      <p:sp>
        <p:nvSpPr>
          <p:cNvPr id="15" name="">
            <a:extLst xmlns:a="http://schemas.openxmlformats.org/drawingml/2006/main">
              <a:ext uri="{FF2B5EF4-FFF2-40B4-BE49-F238E27FC236}">
                <a16:creationId xmlns:a16="http://schemas.microsoft.com/office/drawing/2014/main" id="{614695CF-15B0-41F2-8336-572E5AD3C202}"/>
              </a:ext>
            </a:extLst>
          </p:cNvPr>
          <p:cNvSpPr>
            <a:spLocks xmlns:a="http://schemas.openxmlformats.org/drawingml/2006/main" noGrp="1"/>
          </p:cNvSpPr>
          <p:nvPr/>
        </p:nvSpPr>
        <p:spPr>
          <a:xfrm xmlns:a="http://schemas.openxmlformats.org/drawingml/2006/main">
            <a:off x="5353050" y="37909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555555"/>
                </a:solidFill>
              </a:defRPr>
            </a:pPr>
            <a:r>
              <a:rPr sz="1200" b="0">
                <a:solidFill>
                  <a:srgbClr val="555555"/>
                </a:solidFill>
              </a:rPr>
              <a:t>agent 产物进入 DevOps、低代码、微服务、网关、观测</a:t>
            </a:r>
          </a:p>
        </p:txBody>
      </p:sp>
      <p:sp>
        <p:nvSpPr>
          <p:cNvPr id="16" name="">
            <a:extLst xmlns:a="http://schemas.openxmlformats.org/drawingml/2006/main">
              <a:ext uri="{FF2B5EF4-FFF2-40B4-BE49-F238E27FC236}">
                <a16:creationId xmlns:a16="http://schemas.microsoft.com/office/drawing/2014/main" id="{2EDA26F0-250D-48FF-A199-73D06908835E}"/>
              </a:ext>
            </a:extLst>
          </p:cNvPr>
          <p:cNvSpPr>
            <a:spLocks xmlns:a="http://schemas.openxmlformats.org/drawingml/2006/main" noGrp="1"/>
          </p:cNvSpPr>
          <p:nvPr/>
        </p:nvSpPr>
        <p:spPr>
          <a:xfrm xmlns:a="http://schemas.openxmlformats.org/drawingml/2006/main">
            <a:off x="9525000" y="1809750"/>
            <a:ext cx="1809750" cy="24193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9A8C436-E2BC-499A-9095-776F7328745F}"/>
              </a:ext>
            </a:extLst>
          </p:cNvPr>
          <p:cNvSpPr>
            <a:spLocks xmlns:a="http://schemas.openxmlformats.org/drawingml/2006/main" noGrp="1"/>
          </p:cNvSpPr>
          <p:nvPr/>
        </p:nvSpPr>
        <p:spPr>
          <a:xfrm xmlns:a="http://schemas.openxmlformats.org/drawingml/2006/main">
            <a:off x="9715500" y="2038350"/>
            <a:ext cx="1428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00000"/>
                </a:solidFill>
              </a:defRPr>
            </a:pPr>
            <a:r>
              <a:rPr sz="1800" b="1">
                <a:solidFill>
                  <a:srgbClr val="000000"/>
                </a:solidFill>
              </a:rPr>
              <a:t>客户高感知</a:t>
            </a:r>
          </a:p>
          <a:p xmlns:a="http://schemas.openxmlformats.org/drawingml/2006/main">
            <a:pPr algn="ctr">
              <a:defRPr sz="1800" b="1">
                <a:solidFill>
                  <a:srgbClr val="000000"/>
                </a:solidFill>
              </a:defRPr>
            </a:pPr>
            <a:r>
              <a:rPr sz="1800" b="1">
                <a:solidFill>
                  <a:srgbClr val="000000"/>
                </a:solidFill>
              </a:rPr>
              <a:t>优先级</a:t>
            </a:r>
          </a:p>
        </p:txBody>
      </p:sp>
      <p:sp>
        <p:nvSpPr>
          <p:cNvPr id="18" name="">
            <a:extLst xmlns:a="http://schemas.openxmlformats.org/drawingml/2006/main">
              <a:ext uri="{FF2B5EF4-FFF2-40B4-BE49-F238E27FC236}">
                <a16:creationId xmlns:a16="http://schemas.microsoft.com/office/drawing/2014/main" id="{4CB2E9AD-9DC2-4176-8702-113C2D2A997E}"/>
              </a:ext>
            </a:extLst>
          </p:cNvPr>
          <p:cNvSpPr>
            <a:spLocks xmlns:a="http://schemas.openxmlformats.org/drawingml/2006/main" noGrp="1"/>
          </p:cNvSpPr>
          <p:nvPr/>
        </p:nvSpPr>
        <p:spPr>
          <a:xfrm xmlns:a="http://schemas.openxmlformats.org/drawingml/2006/main">
            <a:off x="9744075" y="2800350"/>
            <a:ext cx="1381125"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222222"/>
                </a:solidFill>
              </a:defRPr>
            </a:pPr>
            <a:r>
              <a:rPr sz="1200" b="0">
                <a:solidFill>
                  <a:srgbClr val="222222"/>
                </a:solidFill>
              </a:rPr>
              <a:t>1 数据流转可视化</a:t>
            </a:r>
          </a:p>
          <a:p xmlns:a="http://schemas.openxmlformats.org/drawingml/2006/main">
            <a:pPr algn="l">
              <a:defRPr sz="1200" b="0">
                <a:solidFill>
                  <a:srgbClr val="222222"/>
                </a:solidFill>
              </a:defRPr>
            </a:pPr>
            <a:r>
              <a:rPr sz="1200" b="0">
                <a:solidFill>
                  <a:srgbClr val="222222"/>
                </a:solidFill>
              </a:rPr>
              <a:t>2 需求澄清</a:t>
            </a:r>
          </a:p>
          <a:p xmlns:a="http://schemas.openxmlformats.org/drawingml/2006/main">
            <a:pPr algn="l">
              <a:defRPr sz="1200" b="0">
                <a:solidFill>
                  <a:srgbClr val="222222"/>
                </a:solidFill>
              </a:defRPr>
            </a:pPr>
            <a:r>
              <a:rPr sz="1200" b="0">
                <a:solidFill>
                  <a:srgbClr val="222222"/>
                </a:solidFill>
              </a:rPr>
              <a:t>3 多 agent 状态</a:t>
            </a:r>
          </a:p>
          <a:p xmlns:a="http://schemas.openxmlformats.org/drawingml/2006/main">
            <a:pPr algn="l">
              <a:defRPr sz="1200" b="0">
                <a:solidFill>
                  <a:srgbClr val="222222"/>
                </a:solidFill>
              </a:defRPr>
            </a:pPr>
            <a:r>
              <a:rPr sz="1200" b="0">
                <a:solidFill>
                  <a:srgbClr val="222222"/>
                </a:solidFill>
              </a:rPr>
              <a:t>4 应用效果</a:t>
            </a:r>
          </a:p>
          <a:p xmlns:a="http://schemas.openxmlformats.org/drawingml/2006/main">
            <a:pPr algn="l">
              <a:defRPr sz="1200" b="0">
                <a:solidFill>
                  <a:srgbClr val="222222"/>
                </a:solidFill>
              </a:defRPr>
            </a:pPr>
            <a:r>
              <a:rPr sz="1200" b="0">
                <a:solidFill>
                  <a:srgbClr val="222222"/>
                </a:solidFill>
              </a:rPr>
              <a:t>5 能力沉淀</a:t>
            </a:r>
          </a:p>
        </p:txBody>
      </p:sp>
      <p:sp>
        <p:nvSpPr>
          <p:cNvPr id="19" name="">
            <a:extLst xmlns:a="http://schemas.openxmlformats.org/drawingml/2006/main">
              <a:ext uri="{FF2B5EF4-FFF2-40B4-BE49-F238E27FC236}">
                <a16:creationId xmlns:a16="http://schemas.microsoft.com/office/drawing/2014/main" id="{1E6F5A62-F97C-450A-8783-FE7BED974387}"/>
              </a:ext>
            </a:extLst>
          </p:cNvPr>
          <p:cNvSpPr>
            <a:spLocks xmlns:a="http://schemas.openxmlformats.org/drawingml/2006/main" noGrp="1"/>
          </p:cNvSpPr>
          <p:nvPr/>
        </p:nvSpPr>
        <p:spPr>
          <a:xfrm xmlns:a="http://schemas.openxmlformats.org/drawingml/2006/main">
            <a:off x="666750" y="5381625"/>
            <a:ext cx="895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000000"/>
                </a:solidFill>
              </a:defRPr>
            </a:pPr>
            <a:r>
              <a:rPr sz="1800" b="1">
                <a:solidFill>
                  <a:srgbClr val="000000"/>
                </a:solidFill>
              </a:rPr>
              <a:t>数据链路讲清楚，多 agent 和生成应用才更可信。</a:t>
            </a:r>
          </a:p>
        </p:txBody>
      </p:sp>
      <p:sp>
        <p:nvSpPr>
          <p:cNvPr id="20" name="">
            <a:extLst xmlns:a="http://schemas.openxmlformats.org/drawingml/2006/main">
              <a:ext uri="{FF2B5EF4-FFF2-40B4-BE49-F238E27FC236}">
                <a16:creationId xmlns:a16="http://schemas.microsoft.com/office/drawing/2014/main" id="{186CB192-F61B-4C0A-9272-3263FAE43750}"/>
              </a:ext>
            </a:extLst>
          </p:cNvPr>
          <p:cNvSpPr>
            <a:spLocks xmlns:a="http://schemas.openxmlformats.org/drawingml/2006/main" noGrp="1"/>
          </p:cNvSpPr>
          <p:nvPr/>
        </p:nvSpPr>
        <p:spPr>
          <a:xfrm xmlns:a="http://schemas.openxmlformats.org/drawingml/2006/main">
            <a:off x="514350" y="63817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55555"/>
                </a:solidFill>
              </a:defRPr>
            </a:pPr>
            <a:r>
              <a:rPr sz="1050" b="0">
                <a:solidFill>
                  <a:srgbClr val="555555"/>
                </a:solidFill>
              </a:rPr>
              <a:t>西安 630 项目软件工厂复盘</a:t>
            </a:r>
          </a:p>
        </p:txBody>
      </p:sp>
      <p:sp>
        <p:nvSpPr>
          <p:cNvPr id="21" name="">
            <a:extLst xmlns:a="http://schemas.openxmlformats.org/drawingml/2006/main">
              <a:ext uri="{FF2B5EF4-FFF2-40B4-BE49-F238E27FC236}">
                <a16:creationId xmlns:a16="http://schemas.microsoft.com/office/drawing/2014/main" id="{DF9CE179-4A9B-43D5-90C3-1582DD1096DE}"/>
              </a:ext>
            </a:extLst>
          </p:cNvPr>
          <p:cNvSpPr>
            <a:spLocks xmlns:a="http://schemas.openxmlformats.org/drawingml/2006/main" noGrp="1"/>
          </p:cNvSpPr>
          <p:nvPr/>
        </p:nvSpPr>
        <p:spPr>
          <a:xfrm xmlns:a="http://schemas.openxmlformats.org/drawingml/2006/main">
            <a:off x="11287125" y="63817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555555"/>
                </a:solidFill>
              </a:defRPr>
            </a:pPr>
            <a:r>
              <a:rPr sz="1050" b="1">
                <a:solidFill>
                  <a:srgbClr val="555555"/>
                </a:solidFill>
              </a:rPr>
              <a:t>05</a:t>
            </a:r>
          </a:p>
        </p:txBody>
      </p:sp>
    </p:spTree>
    <p:extLst>
      <p:ext uri="{BB962C8B-B14F-4D97-AF65-F5344CB8AC3E}">
        <p14:creationId xmlns:p14="http://schemas.microsoft.com/office/powerpoint/2010/main" val="152922309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982D4B1-9E24-47FA-B34C-B5431CC22A61}"/>
              </a:ext>
            </a:extLst>
          </p:cNvPr>
          <p:cNvSpPr>
            <a:spLocks xmlns:a="http://schemas.openxmlformats.org/drawingml/2006/main" noGrp="1"/>
          </p:cNvSpPr>
          <p:nvPr/>
        </p:nvSpPr>
        <p:spPr>
          <a:xfrm xmlns:a="http://schemas.openxmlformats.org/drawingml/2006/main">
            <a:off x="514350" y="342900"/>
            <a:ext cx="10191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0000"/>
                </a:solidFill>
              </a:defRPr>
            </a:pPr>
            <a:r>
              <a:rPr sz="2700" b="1">
                <a:solidFill>
                  <a:srgbClr val="000000"/>
                </a:solidFill>
              </a:rPr>
              <a:t>软件工厂不是 demo 生成器，也不是云产品的 AI 包装层</a:t>
            </a:r>
          </a:p>
        </p:txBody>
      </p:sp>
      <p:sp>
        <p:nvSpPr>
          <p:cNvPr id="2" name="">
            <a:extLst xmlns:a="http://schemas.openxmlformats.org/drawingml/2006/main">
              <a:ext uri="{FF2B5EF4-FFF2-40B4-BE49-F238E27FC236}">
                <a16:creationId xmlns:a16="http://schemas.microsoft.com/office/drawing/2014/main" id="{12BA060F-EC58-464F-875A-2AA9CF303E2F}"/>
              </a:ext>
            </a:extLst>
          </p:cNvPr>
          <p:cNvSpPr>
            <a:spLocks xmlns:a="http://schemas.openxmlformats.org/drawingml/2006/main" noGrp="1"/>
          </p:cNvSpPr>
          <p:nvPr/>
        </p:nvSpPr>
        <p:spPr>
          <a:xfrm xmlns:a="http://schemas.openxmlformats.org/drawingml/2006/main">
            <a:off x="514350" y="12001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55555"/>
                </a:solidFill>
              </a:defRPr>
            </a:pPr>
            <a:r>
              <a:rPr sz="1275" b="0">
                <a:solidFill>
                  <a:srgbClr val="555555"/>
                </a:solidFill>
              </a:rPr>
              <a:t>长期主轴是多 agent 管理协作、任务分发执行和领域能力包沉淀。</a:t>
            </a:r>
          </a:p>
        </p:txBody>
      </p:sp>
      <p:sp>
        <p:nvSpPr>
          <p:cNvPr id="3" name="">
            <a:extLst xmlns:a="http://schemas.openxmlformats.org/drawingml/2006/main">
              <a:ext uri="{FF2B5EF4-FFF2-40B4-BE49-F238E27FC236}">
                <a16:creationId xmlns:a16="http://schemas.microsoft.com/office/drawing/2014/main" id="{154007D3-34B1-4162-B14A-62FAC682CADB}"/>
              </a:ext>
            </a:extLst>
          </p:cNvPr>
          <p:cNvSpPr>
            <a:spLocks xmlns:a="http://schemas.openxmlformats.org/drawingml/2006/main" noGrp="1"/>
          </p:cNvSpPr>
          <p:nvPr/>
        </p:nvSpPr>
        <p:spPr>
          <a:xfrm xmlns:a="http://schemas.openxmlformats.org/drawingml/2006/main">
            <a:off x="514350" y="1581150"/>
            <a:ext cx="111633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BF32BD79-6876-493F-A101-23E911E4D6A1}"/>
              </a:ext>
            </a:extLst>
          </p:cNvPr>
          <p:cNvSpPr>
            <a:spLocks xmlns:a="http://schemas.openxmlformats.org/drawingml/2006/main" noGrp="1"/>
          </p:cNvSpPr>
          <p:nvPr/>
        </p:nvSpPr>
        <p:spPr>
          <a:xfrm xmlns:a="http://schemas.openxmlformats.org/drawingml/2006/main">
            <a:off x="3714750" y="1952625"/>
            <a:ext cx="4762500" cy="1428750"/>
          </a:xfrm>
          <a:prstGeom xmlns:a="http://schemas.openxmlformats.org/drawingml/2006/main" prst="rect">
            <a:avLst/>
          </a:prstGeom>
          <a:solidFill xmlns:a="http://schemas.openxmlformats.org/drawingml/2006/main">
            <a:srgbClr val="FFF4EF"/>
          </a:solidFill>
          <a:ln xmlns:a="http://schemas.openxmlformats.org/drawingml/2006/main" w="9525">
            <a:solidFill>
              <a:srgbClr val="FF6B35"/>
            </a:solidFill>
            <a:prstDash val="solid"/>
          </a:ln>
        </p:spPr>
      </p:sp>
      <p:sp>
        <p:nvSpPr>
          <p:cNvPr id="5" name="">
            <a:extLst xmlns:a="http://schemas.openxmlformats.org/drawingml/2006/main">
              <a:ext uri="{FF2B5EF4-FFF2-40B4-BE49-F238E27FC236}">
                <a16:creationId xmlns:a16="http://schemas.microsoft.com/office/drawing/2014/main" id="{C12632F0-4B08-4AAE-A763-129C3820ECC8}"/>
              </a:ext>
            </a:extLst>
          </p:cNvPr>
          <p:cNvSpPr>
            <a:spLocks xmlns:a="http://schemas.openxmlformats.org/drawingml/2006/main" noGrp="1"/>
          </p:cNvSpPr>
          <p:nvPr/>
        </p:nvSpPr>
        <p:spPr>
          <a:xfrm xmlns:a="http://schemas.openxmlformats.org/drawingml/2006/main">
            <a:off x="4048125" y="2247900"/>
            <a:ext cx="4095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400" b="1">
                <a:solidFill>
                  <a:srgbClr val="000000"/>
                </a:solidFill>
              </a:defRPr>
            </a:pPr>
            <a:r>
              <a:rPr sz="2400" b="1">
                <a:solidFill>
                  <a:srgbClr val="000000"/>
                </a:solidFill>
              </a:rPr>
              <a:t>多 agent 管理协作</a:t>
            </a:r>
          </a:p>
          <a:p xmlns:a="http://schemas.openxmlformats.org/drawingml/2006/main">
            <a:pPr algn="ctr">
              <a:defRPr sz="2400" b="1">
                <a:solidFill>
                  <a:srgbClr val="000000"/>
                </a:solidFill>
              </a:defRPr>
            </a:pPr>
            <a:r>
              <a:rPr sz="2400" b="1">
                <a:solidFill>
                  <a:srgbClr val="000000"/>
                </a:solidFill>
              </a:rPr>
              <a:t>与任务分发执行</a:t>
            </a:r>
          </a:p>
        </p:txBody>
      </p:sp>
      <p:sp>
        <p:nvSpPr>
          <p:cNvPr id="6" name="">
            <a:extLst xmlns:a="http://schemas.openxmlformats.org/drawingml/2006/main">
              <a:ext uri="{FF2B5EF4-FFF2-40B4-BE49-F238E27FC236}">
                <a16:creationId xmlns:a16="http://schemas.microsoft.com/office/drawing/2014/main" id="{DA8061AB-31CB-4655-997D-2968B4B75A92}"/>
              </a:ext>
            </a:extLst>
          </p:cNvPr>
          <p:cNvSpPr>
            <a:spLocks xmlns:a="http://schemas.openxmlformats.org/drawingml/2006/main" noGrp="1"/>
          </p:cNvSpPr>
          <p:nvPr/>
        </p:nvSpPr>
        <p:spPr>
          <a:xfrm xmlns:a="http://schemas.openxmlformats.org/drawingml/2006/main">
            <a:off x="666750" y="1905000"/>
            <a:ext cx="2476500" cy="93345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0DB10BE-CF66-416B-B7FA-E13B2F9F79DC}"/>
              </a:ext>
            </a:extLst>
          </p:cNvPr>
          <p:cNvSpPr>
            <a:spLocks xmlns:a="http://schemas.openxmlformats.org/drawingml/2006/main" noGrp="1"/>
          </p:cNvSpPr>
          <p:nvPr/>
        </p:nvSpPr>
        <p:spPr>
          <a:xfrm xmlns:a="http://schemas.openxmlformats.org/drawingml/2006/main">
            <a:off x="876300" y="2190750"/>
            <a:ext cx="2057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000000"/>
                </a:solidFill>
              </a:defRPr>
            </a:pPr>
            <a:r>
              <a:rPr sz="1650" b="1">
                <a:solidFill>
                  <a:srgbClr val="000000"/>
                </a:solidFill>
              </a:rPr>
              <a:t>软件工厂工作台</a:t>
            </a:r>
          </a:p>
        </p:txBody>
      </p:sp>
      <p:sp>
        <p:nvSpPr>
          <p:cNvPr id="8" name="">
            <a:extLst xmlns:a="http://schemas.openxmlformats.org/drawingml/2006/main">
              <a:ext uri="{FF2B5EF4-FFF2-40B4-BE49-F238E27FC236}">
                <a16:creationId xmlns:a16="http://schemas.microsoft.com/office/drawing/2014/main" id="{F7E7DF6A-5E5D-483D-9925-4907B3CF0D9E}"/>
              </a:ext>
            </a:extLst>
          </p:cNvPr>
          <p:cNvSpPr>
            <a:spLocks xmlns:a="http://schemas.openxmlformats.org/drawingml/2006/main" noGrp="1"/>
          </p:cNvSpPr>
          <p:nvPr/>
        </p:nvSpPr>
        <p:spPr>
          <a:xfrm xmlns:a="http://schemas.openxmlformats.org/drawingml/2006/main">
            <a:off x="8858250" y="1905000"/>
            <a:ext cx="2476500" cy="93345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E583F1D-F318-4EC3-8993-6B5002302D54}"/>
              </a:ext>
            </a:extLst>
          </p:cNvPr>
          <p:cNvSpPr>
            <a:spLocks xmlns:a="http://schemas.openxmlformats.org/drawingml/2006/main" noGrp="1"/>
          </p:cNvSpPr>
          <p:nvPr/>
        </p:nvSpPr>
        <p:spPr>
          <a:xfrm xmlns:a="http://schemas.openxmlformats.org/drawingml/2006/main">
            <a:off x="9067800" y="2190750"/>
            <a:ext cx="2057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000000"/>
                </a:solidFill>
              </a:defRPr>
            </a:pPr>
            <a:r>
              <a:rPr sz="1650" b="1">
                <a:solidFill>
                  <a:srgbClr val="000000"/>
                </a:solidFill>
              </a:rPr>
              <a:t>领域能力包沉淀</a:t>
            </a:r>
          </a:p>
        </p:txBody>
      </p:sp>
      <p:sp>
        <p:nvSpPr>
          <p:cNvPr id="10" name="">
            <a:extLst xmlns:a="http://schemas.openxmlformats.org/drawingml/2006/main">
              <a:ext uri="{FF2B5EF4-FFF2-40B4-BE49-F238E27FC236}">
                <a16:creationId xmlns:a16="http://schemas.microsoft.com/office/drawing/2014/main" id="{E28E4B28-8183-435D-9D22-2E15AD8C0392}"/>
              </a:ext>
            </a:extLst>
          </p:cNvPr>
          <p:cNvSpPr>
            <a:spLocks xmlns:a="http://schemas.openxmlformats.org/drawingml/2006/main" noGrp="1"/>
          </p:cNvSpPr>
          <p:nvPr/>
        </p:nvSpPr>
        <p:spPr>
          <a:xfrm xmlns:a="http://schemas.openxmlformats.org/drawingml/2006/main">
            <a:off x="666750" y="4095750"/>
            <a:ext cx="2476500" cy="93345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B3B24A7-1B91-43F1-BC8A-6045F21090AB}"/>
              </a:ext>
            </a:extLst>
          </p:cNvPr>
          <p:cNvSpPr>
            <a:spLocks xmlns:a="http://schemas.openxmlformats.org/drawingml/2006/main" noGrp="1"/>
          </p:cNvSpPr>
          <p:nvPr/>
        </p:nvSpPr>
        <p:spPr>
          <a:xfrm xmlns:a="http://schemas.openxmlformats.org/drawingml/2006/main">
            <a:off x="876300" y="4381500"/>
            <a:ext cx="2057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000000"/>
                </a:solidFill>
              </a:defRPr>
            </a:pPr>
            <a:r>
              <a:rPr sz="1650" b="1">
                <a:solidFill>
                  <a:srgbClr val="000000"/>
                </a:solidFill>
              </a:rPr>
              <a:t>Agent / Skills 市场</a:t>
            </a:r>
          </a:p>
        </p:txBody>
      </p:sp>
      <p:sp>
        <p:nvSpPr>
          <p:cNvPr id="12" name="">
            <a:extLst xmlns:a="http://schemas.openxmlformats.org/drawingml/2006/main">
              <a:ext uri="{FF2B5EF4-FFF2-40B4-BE49-F238E27FC236}">
                <a16:creationId xmlns:a16="http://schemas.microsoft.com/office/drawing/2014/main" id="{EC2BA8AC-B6F9-4A95-B2AE-A4100E230AB8}"/>
              </a:ext>
            </a:extLst>
          </p:cNvPr>
          <p:cNvSpPr>
            <a:spLocks xmlns:a="http://schemas.openxmlformats.org/drawingml/2006/main" noGrp="1"/>
          </p:cNvSpPr>
          <p:nvPr/>
        </p:nvSpPr>
        <p:spPr>
          <a:xfrm xmlns:a="http://schemas.openxmlformats.org/drawingml/2006/main">
            <a:off x="8858250" y="4095750"/>
            <a:ext cx="2476500" cy="93345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796B8EC-FF6F-41F3-8D46-F8C58B783026}"/>
              </a:ext>
            </a:extLst>
          </p:cNvPr>
          <p:cNvSpPr>
            <a:spLocks xmlns:a="http://schemas.openxmlformats.org/drawingml/2006/main" noGrp="1"/>
          </p:cNvSpPr>
          <p:nvPr/>
        </p:nvSpPr>
        <p:spPr>
          <a:xfrm xmlns:a="http://schemas.openxmlformats.org/drawingml/2006/main">
            <a:off x="9067800" y="4381500"/>
            <a:ext cx="2057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000000"/>
                </a:solidFill>
              </a:defRPr>
            </a:pPr>
            <a:r>
              <a:rPr sz="1650" b="1">
                <a:solidFill>
                  <a:srgbClr val="000000"/>
                </a:solidFill>
              </a:rPr>
              <a:t>云产品能力底座</a:t>
            </a:r>
          </a:p>
        </p:txBody>
      </p:sp>
      <p:sp>
        <p:nvSpPr>
          <p:cNvPr id="14" name="">
            <a:extLst xmlns:a="http://schemas.openxmlformats.org/drawingml/2006/main">
              <a:ext uri="{FF2B5EF4-FFF2-40B4-BE49-F238E27FC236}">
                <a16:creationId xmlns:a16="http://schemas.microsoft.com/office/drawing/2014/main" id="{5DDB1FF0-6859-49DA-95E4-7F575AA77F6E}"/>
              </a:ext>
            </a:extLst>
          </p:cNvPr>
          <p:cNvSpPr>
            <a:spLocks xmlns:a="http://schemas.openxmlformats.org/drawingml/2006/main" noGrp="1"/>
          </p:cNvSpPr>
          <p:nvPr/>
        </p:nvSpPr>
        <p:spPr>
          <a:xfrm xmlns:a="http://schemas.openxmlformats.org/drawingml/2006/main">
            <a:off x="2000250" y="5429250"/>
            <a:ext cx="819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000000"/>
                </a:solidFill>
              </a:defRPr>
            </a:pPr>
            <a:r>
              <a:rPr sz="1650" b="1">
                <a:solidFill>
                  <a:srgbClr val="000000"/>
                </a:solidFill>
              </a:rPr>
              <a:t>核心对象：agent、skills、subagent、任务、编排、领域知识、产物</a:t>
            </a:r>
          </a:p>
        </p:txBody>
      </p:sp>
      <p:sp>
        <p:nvSpPr>
          <p:cNvPr id="15" name="">
            <a:extLst xmlns:a="http://schemas.openxmlformats.org/drawingml/2006/main">
              <a:ext uri="{FF2B5EF4-FFF2-40B4-BE49-F238E27FC236}">
                <a16:creationId xmlns:a16="http://schemas.microsoft.com/office/drawing/2014/main" id="{6BA6032D-B20A-4CF0-B512-75AF913EEB8C}"/>
              </a:ext>
            </a:extLst>
          </p:cNvPr>
          <p:cNvSpPr>
            <a:spLocks xmlns:a="http://schemas.openxmlformats.org/drawingml/2006/main" noGrp="1"/>
          </p:cNvSpPr>
          <p:nvPr/>
        </p:nvSpPr>
        <p:spPr>
          <a:xfrm xmlns:a="http://schemas.openxmlformats.org/drawingml/2006/main">
            <a:off x="514350" y="63817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55555"/>
                </a:solidFill>
              </a:defRPr>
            </a:pPr>
            <a:r>
              <a:rPr sz="1050" b="0">
                <a:solidFill>
                  <a:srgbClr val="555555"/>
                </a:solidFill>
              </a:rPr>
              <a:t>西安 630 项目软件工厂复盘</a:t>
            </a:r>
          </a:p>
        </p:txBody>
      </p:sp>
      <p:sp>
        <p:nvSpPr>
          <p:cNvPr id="16" name="">
            <a:extLst xmlns:a="http://schemas.openxmlformats.org/drawingml/2006/main">
              <a:ext uri="{FF2B5EF4-FFF2-40B4-BE49-F238E27FC236}">
                <a16:creationId xmlns:a16="http://schemas.microsoft.com/office/drawing/2014/main" id="{FEF5D89A-B30C-46B8-96A5-E2931D1D4044}"/>
              </a:ext>
            </a:extLst>
          </p:cNvPr>
          <p:cNvSpPr>
            <a:spLocks xmlns:a="http://schemas.openxmlformats.org/drawingml/2006/main" noGrp="1"/>
          </p:cNvSpPr>
          <p:nvPr/>
        </p:nvSpPr>
        <p:spPr>
          <a:xfrm xmlns:a="http://schemas.openxmlformats.org/drawingml/2006/main">
            <a:off x="11287125" y="63817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555555"/>
                </a:solidFill>
              </a:defRPr>
            </a:pPr>
            <a:r>
              <a:rPr sz="1050" b="1">
                <a:solidFill>
                  <a:srgbClr val="555555"/>
                </a:solidFill>
              </a:rPr>
              <a:t>06</a:t>
            </a:r>
          </a:p>
        </p:txBody>
      </p:sp>
    </p:spTree>
    <p:extLst>
      <p:ext uri="{BB962C8B-B14F-4D97-AF65-F5344CB8AC3E}">
        <p14:creationId xmlns:p14="http://schemas.microsoft.com/office/powerpoint/2010/main" val="181344896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4A60730-369D-4126-B871-6574C06BB099}"/>
              </a:ext>
            </a:extLst>
          </p:cNvPr>
          <p:cNvSpPr>
            <a:spLocks xmlns:a="http://schemas.openxmlformats.org/drawingml/2006/main" noGrp="1"/>
          </p:cNvSpPr>
          <p:nvPr/>
        </p:nvSpPr>
        <p:spPr>
          <a:xfrm xmlns:a="http://schemas.openxmlformats.org/drawingml/2006/main">
            <a:off x="514350" y="342900"/>
            <a:ext cx="10191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0000"/>
                </a:solidFill>
              </a:defRPr>
            </a:pPr>
            <a:r>
              <a:rPr sz="2700" b="1">
                <a:solidFill>
                  <a:srgbClr val="000000"/>
                </a:solidFill>
              </a:rPr>
              <a:t>产品架构以软件工厂工作台为入口，向下编排 agent 和云产品能力</a:t>
            </a:r>
          </a:p>
        </p:txBody>
      </p:sp>
      <p:sp>
        <p:nvSpPr>
          <p:cNvPr id="2" name="">
            <a:extLst xmlns:a="http://schemas.openxmlformats.org/drawingml/2006/main">
              <a:ext uri="{FF2B5EF4-FFF2-40B4-BE49-F238E27FC236}">
                <a16:creationId xmlns:a16="http://schemas.microsoft.com/office/drawing/2014/main" id="{14B5C3CD-3547-4AF0-8ADD-79E01F0D9897}"/>
              </a:ext>
            </a:extLst>
          </p:cNvPr>
          <p:cNvSpPr>
            <a:spLocks xmlns:a="http://schemas.openxmlformats.org/drawingml/2006/main" noGrp="1"/>
          </p:cNvSpPr>
          <p:nvPr/>
        </p:nvSpPr>
        <p:spPr>
          <a:xfrm xmlns:a="http://schemas.openxmlformats.org/drawingml/2006/main">
            <a:off x="514350" y="12001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55555"/>
                </a:solidFill>
              </a:defRPr>
            </a:pPr>
            <a:r>
              <a:rPr sz="1275" b="0">
                <a:solidFill>
                  <a:srgbClr val="555555"/>
                </a:solidFill>
              </a:rPr>
              <a:t>产品层面要把客户可感知过程、agent 能力资产和工程生产链路连成一个闭环。</a:t>
            </a:r>
          </a:p>
        </p:txBody>
      </p:sp>
      <p:sp>
        <p:nvSpPr>
          <p:cNvPr id="3" name="">
            <a:extLst xmlns:a="http://schemas.openxmlformats.org/drawingml/2006/main">
              <a:ext uri="{FF2B5EF4-FFF2-40B4-BE49-F238E27FC236}">
                <a16:creationId xmlns:a16="http://schemas.microsoft.com/office/drawing/2014/main" id="{66FD663C-EB20-43AD-B397-096F0D5486D4}"/>
              </a:ext>
            </a:extLst>
          </p:cNvPr>
          <p:cNvSpPr>
            <a:spLocks xmlns:a="http://schemas.openxmlformats.org/drawingml/2006/main" noGrp="1"/>
          </p:cNvSpPr>
          <p:nvPr/>
        </p:nvSpPr>
        <p:spPr>
          <a:xfrm xmlns:a="http://schemas.openxmlformats.org/drawingml/2006/main">
            <a:off x="514350" y="1581150"/>
            <a:ext cx="111633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1B802B5E-3395-45FE-A6D6-4BAB254E1BB2}"/>
              </a:ext>
            </a:extLst>
          </p:cNvPr>
          <p:cNvSpPr>
            <a:spLocks xmlns:a="http://schemas.openxmlformats.org/drawingml/2006/main" noGrp="1"/>
          </p:cNvSpPr>
          <p:nvPr/>
        </p:nvSpPr>
        <p:spPr>
          <a:xfrm xmlns:a="http://schemas.openxmlformats.org/drawingml/2006/main">
            <a:off x="666750" y="1714500"/>
            <a:ext cx="7905750" cy="64770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6F42ABE-69F8-4E26-963B-359C1510FAFC}"/>
              </a:ext>
            </a:extLst>
          </p:cNvPr>
          <p:cNvSpPr>
            <a:spLocks xmlns:a="http://schemas.openxmlformats.org/drawingml/2006/main" noGrp="1"/>
          </p:cNvSpPr>
          <p:nvPr/>
        </p:nvSpPr>
        <p:spPr>
          <a:xfrm xmlns:a="http://schemas.openxmlformats.org/drawingml/2006/main">
            <a:off x="895350" y="18669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0000"/>
                </a:solidFill>
              </a:defRPr>
            </a:pPr>
            <a:r>
              <a:rPr sz="1650" b="1">
                <a:solidFill>
                  <a:srgbClr val="000000"/>
                </a:solidFill>
              </a:rPr>
              <a:t>软件工厂工作台</a:t>
            </a:r>
          </a:p>
        </p:txBody>
      </p:sp>
      <p:sp>
        <p:nvSpPr>
          <p:cNvPr id="6" name="">
            <a:extLst xmlns:a="http://schemas.openxmlformats.org/drawingml/2006/main">
              <a:ext uri="{FF2B5EF4-FFF2-40B4-BE49-F238E27FC236}">
                <a16:creationId xmlns:a16="http://schemas.microsoft.com/office/drawing/2014/main" id="{EB4BD805-9945-4ED9-87DC-C467091D2472}"/>
              </a:ext>
            </a:extLst>
          </p:cNvPr>
          <p:cNvSpPr>
            <a:spLocks xmlns:a="http://schemas.openxmlformats.org/drawingml/2006/main" noGrp="1"/>
          </p:cNvSpPr>
          <p:nvPr/>
        </p:nvSpPr>
        <p:spPr>
          <a:xfrm xmlns:a="http://schemas.openxmlformats.org/drawingml/2006/main">
            <a:off x="3238500" y="19050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22222"/>
                </a:solidFill>
              </a:defRPr>
            </a:pPr>
            <a:r>
              <a:rPr sz="1275" b="0">
                <a:solidFill>
                  <a:srgbClr val="222222"/>
                </a:solidFill>
              </a:rPr>
              <a:t>需求澄清 / 协作编排执行图 / 数据流验证 / 产物确认 / 应用预览</a:t>
            </a:r>
          </a:p>
        </p:txBody>
      </p:sp>
      <p:sp>
        <p:nvSpPr>
          <p:cNvPr id="7" name="">
            <a:extLst xmlns:a="http://schemas.openxmlformats.org/drawingml/2006/main">
              <a:ext uri="{FF2B5EF4-FFF2-40B4-BE49-F238E27FC236}">
                <a16:creationId xmlns:a16="http://schemas.microsoft.com/office/drawing/2014/main" id="{0B053C48-293E-4C00-9BA2-2CEBEC531C45}"/>
              </a:ext>
            </a:extLst>
          </p:cNvPr>
          <p:cNvSpPr>
            <a:spLocks xmlns:a="http://schemas.openxmlformats.org/drawingml/2006/main" noGrp="1"/>
          </p:cNvSpPr>
          <p:nvPr/>
        </p:nvSpPr>
        <p:spPr>
          <a:xfrm xmlns:a="http://schemas.openxmlformats.org/drawingml/2006/main">
            <a:off x="4400550" y="234315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0">
                <a:solidFill>
                  <a:srgbClr val="555555"/>
                </a:solidFill>
              </a:defRPr>
            </a:pPr>
            <a:r>
              <a:rPr sz="1650" b="0">
                <a:solidFill>
                  <a:srgbClr val="555555"/>
                </a:solidFill>
              </a:rPr>
              <a:t>↓</a:t>
            </a:r>
          </a:p>
        </p:txBody>
      </p:sp>
      <p:sp>
        <p:nvSpPr>
          <p:cNvPr id="8" name="">
            <a:extLst xmlns:a="http://schemas.openxmlformats.org/drawingml/2006/main">
              <a:ext uri="{FF2B5EF4-FFF2-40B4-BE49-F238E27FC236}">
                <a16:creationId xmlns:a16="http://schemas.microsoft.com/office/drawing/2014/main" id="{1AE03EDE-F21D-44A6-A198-93F4A54A68F1}"/>
              </a:ext>
            </a:extLst>
          </p:cNvPr>
          <p:cNvSpPr>
            <a:spLocks xmlns:a="http://schemas.openxmlformats.org/drawingml/2006/main" noGrp="1"/>
          </p:cNvSpPr>
          <p:nvPr/>
        </p:nvSpPr>
        <p:spPr>
          <a:xfrm xmlns:a="http://schemas.openxmlformats.org/drawingml/2006/main">
            <a:off x="666750" y="2571750"/>
            <a:ext cx="7905750" cy="647700"/>
          </a:xfrm>
          <a:prstGeom xmlns:a="http://schemas.openxmlformats.org/drawingml/2006/main" prst="rect">
            <a:avLst/>
          </a:prstGeom>
          <a:solidFill xmlns:a="http://schemas.openxmlformats.org/drawingml/2006/main">
            <a:srgbClr val="FFF4EF"/>
          </a:solidFill>
          <a:ln xmlns:a="http://schemas.openxmlformats.org/drawingml/2006/main" w="9525">
            <a:solidFill>
              <a:srgbClr val="FF6B35"/>
            </a:solidFill>
            <a:prstDash val="solid"/>
          </a:ln>
        </p:spPr>
      </p:sp>
      <p:sp>
        <p:nvSpPr>
          <p:cNvPr id="9" name="">
            <a:extLst xmlns:a="http://schemas.openxmlformats.org/drawingml/2006/main">
              <a:ext uri="{FF2B5EF4-FFF2-40B4-BE49-F238E27FC236}">
                <a16:creationId xmlns:a16="http://schemas.microsoft.com/office/drawing/2014/main" id="{8BF93443-B7DF-4943-A2A8-524FEAA4D2C2}"/>
              </a:ext>
            </a:extLst>
          </p:cNvPr>
          <p:cNvSpPr>
            <a:spLocks xmlns:a="http://schemas.openxmlformats.org/drawingml/2006/main" noGrp="1"/>
          </p:cNvSpPr>
          <p:nvPr/>
        </p:nvSpPr>
        <p:spPr>
          <a:xfrm xmlns:a="http://schemas.openxmlformats.org/drawingml/2006/main">
            <a:off x="895350" y="27241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0000"/>
                </a:solidFill>
              </a:defRPr>
            </a:pPr>
            <a:r>
              <a:rPr sz="1650" b="1">
                <a:solidFill>
                  <a:srgbClr val="000000"/>
                </a:solidFill>
              </a:rPr>
              <a:t>多 agent 管理协作</a:t>
            </a:r>
          </a:p>
        </p:txBody>
      </p:sp>
      <p:sp>
        <p:nvSpPr>
          <p:cNvPr id="10" name="">
            <a:extLst xmlns:a="http://schemas.openxmlformats.org/drawingml/2006/main">
              <a:ext uri="{FF2B5EF4-FFF2-40B4-BE49-F238E27FC236}">
                <a16:creationId xmlns:a16="http://schemas.microsoft.com/office/drawing/2014/main" id="{7A0AACE7-84F5-4A30-B4C9-CFADFC16B10E}"/>
              </a:ext>
            </a:extLst>
          </p:cNvPr>
          <p:cNvSpPr>
            <a:spLocks xmlns:a="http://schemas.openxmlformats.org/drawingml/2006/main" noGrp="1"/>
          </p:cNvSpPr>
          <p:nvPr/>
        </p:nvSpPr>
        <p:spPr>
          <a:xfrm xmlns:a="http://schemas.openxmlformats.org/drawingml/2006/main">
            <a:off x="3238500" y="27622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22222"/>
                </a:solidFill>
              </a:defRPr>
            </a:pPr>
            <a:r>
              <a:rPr sz="1275" b="0">
                <a:solidFill>
                  <a:srgbClr val="222222"/>
                </a:solidFill>
              </a:rPr>
              <a:t>协作编排 agent / 默认生产主链路 / 动态扩展专业 agent / 任务分发执行</a:t>
            </a:r>
          </a:p>
        </p:txBody>
      </p:sp>
      <p:sp>
        <p:nvSpPr>
          <p:cNvPr id="11" name="">
            <a:extLst xmlns:a="http://schemas.openxmlformats.org/drawingml/2006/main">
              <a:ext uri="{FF2B5EF4-FFF2-40B4-BE49-F238E27FC236}">
                <a16:creationId xmlns:a16="http://schemas.microsoft.com/office/drawing/2014/main" id="{48457EE5-A9E4-4D6F-ADF3-E65C9E72BF51}"/>
              </a:ext>
            </a:extLst>
          </p:cNvPr>
          <p:cNvSpPr>
            <a:spLocks xmlns:a="http://schemas.openxmlformats.org/drawingml/2006/main" noGrp="1"/>
          </p:cNvSpPr>
          <p:nvPr/>
        </p:nvSpPr>
        <p:spPr>
          <a:xfrm xmlns:a="http://schemas.openxmlformats.org/drawingml/2006/main">
            <a:off x="4400550" y="320040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0">
                <a:solidFill>
                  <a:srgbClr val="555555"/>
                </a:solidFill>
              </a:defRPr>
            </a:pPr>
            <a:r>
              <a:rPr sz="1650" b="0">
                <a:solidFill>
                  <a:srgbClr val="555555"/>
                </a:solidFill>
              </a:rPr>
              <a:t>↓</a:t>
            </a:r>
          </a:p>
        </p:txBody>
      </p:sp>
      <p:sp>
        <p:nvSpPr>
          <p:cNvPr id="12" name="">
            <a:extLst xmlns:a="http://schemas.openxmlformats.org/drawingml/2006/main">
              <a:ext uri="{FF2B5EF4-FFF2-40B4-BE49-F238E27FC236}">
                <a16:creationId xmlns:a16="http://schemas.microsoft.com/office/drawing/2014/main" id="{5E586817-5BF6-4276-ACCD-8985E4532A77}"/>
              </a:ext>
            </a:extLst>
          </p:cNvPr>
          <p:cNvSpPr>
            <a:spLocks xmlns:a="http://schemas.openxmlformats.org/drawingml/2006/main" noGrp="1"/>
          </p:cNvSpPr>
          <p:nvPr/>
        </p:nvSpPr>
        <p:spPr>
          <a:xfrm xmlns:a="http://schemas.openxmlformats.org/drawingml/2006/main">
            <a:off x="666750" y="3429000"/>
            <a:ext cx="7905750" cy="64770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00D7A37-E96C-4E3D-B55C-AA00F85CEF8A}"/>
              </a:ext>
            </a:extLst>
          </p:cNvPr>
          <p:cNvSpPr>
            <a:spLocks xmlns:a="http://schemas.openxmlformats.org/drawingml/2006/main" noGrp="1"/>
          </p:cNvSpPr>
          <p:nvPr/>
        </p:nvSpPr>
        <p:spPr>
          <a:xfrm xmlns:a="http://schemas.openxmlformats.org/drawingml/2006/main">
            <a:off x="895350" y="35814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0000"/>
                </a:solidFill>
              </a:defRPr>
            </a:pPr>
            <a:r>
              <a:rPr sz="1650" b="1">
                <a:solidFill>
                  <a:srgbClr val="000000"/>
                </a:solidFill>
              </a:rPr>
              <a:t>能力资产层</a:t>
            </a:r>
          </a:p>
        </p:txBody>
      </p:sp>
      <p:sp>
        <p:nvSpPr>
          <p:cNvPr id="14" name="">
            <a:extLst xmlns:a="http://schemas.openxmlformats.org/drawingml/2006/main">
              <a:ext uri="{FF2B5EF4-FFF2-40B4-BE49-F238E27FC236}">
                <a16:creationId xmlns:a16="http://schemas.microsoft.com/office/drawing/2014/main" id="{B65777E3-2E5A-44CE-80B5-B482DD19DDB8}"/>
              </a:ext>
            </a:extLst>
          </p:cNvPr>
          <p:cNvSpPr>
            <a:spLocks xmlns:a="http://schemas.openxmlformats.org/drawingml/2006/main" noGrp="1"/>
          </p:cNvSpPr>
          <p:nvPr/>
        </p:nvSpPr>
        <p:spPr>
          <a:xfrm xmlns:a="http://schemas.openxmlformats.org/drawingml/2006/main">
            <a:off x="3238500" y="361950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22222"/>
                </a:solidFill>
              </a:defRPr>
            </a:pPr>
            <a:r>
              <a:rPr sz="1275" b="0">
                <a:solidFill>
                  <a:srgbClr val="222222"/>
                </a:solidFill>
              </a:rPr>
              <a:t>领域能力包 / 协作智能体市场 / Skills 市场 / 本地能力库</a:t>
            </a:r>
          </a:p>
        </p:txBody>
      </p:sp>
      <p:sp>
        <p:nvSpPr>
          <p:cNvPr id="15" name="">
            <a:extLst xmlns:a="http://schemas.openxmlformats.org/drawingml/2006/main">
              <a:ext uri="{FF2B5EF4-FFF2-40B4-BE49-F238E27FC236}">
                <a16:creationId xmlns:a16="http://schemas.microsoft.com/office/drawing/2014/main" id="{80CD01D1-E083-46D5-829D-AA85AF252C0F}"/>
              </a:ext>
            </a:extLst>
          </p:cNvPr>
          <p:cNvSpPr>
            <a:spLocks xmlns:a="http://schemas.openxmlformats.org/drawingml/2006/main" noGrp="1"/>
          </p:cNvSpPr>
          <p:nvPr/>
        </p:nvSpPr>
        <p:spPr>
          <a:xfrm xmlns:a="http://schemas.openxmlformats.org/drawingml/2006/main">
            <a:off x="4400550" y="405765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0">
                <a:solidFill>
                  <a:srgbClr val="555555"/>
                </a:solidFill>
              </a:defRPr>
            </a:pPr>
            <a:r>
              <a:rPr sz="1650" b="0">
                <a:solidFill>
                  <a:srgbClr val="555555"/>
                </a:solidFill>
              </a:rPr>
              <a:t>↓</a:t>
            </a:r>
          </a:p>
        </p:txBody>
      </p:sp>
      <p:sp>
        <p:nvSpPr>
          <p:cNvPr id="16" name="">
            <a:extLst xmlns:a="http://schemas.openxmlformats.org/drawingml/2006/main">
              <a:ext uri="{FF2B5EF4-FFF2-40B4-BE49-F238E27FC236}">
                <a16:creationId xmlns:a16="http://schemas.microsoft.com/office/drawing/2014/main" id="{EF37E571-9F1F-49FD-8E4C-F9D666FD0608}"/>
              </a:ext>
            </a:extLst>
          </p:cNvPr>
          <p:cNvSpPr>
            <a:spLocks xmlns:a="http://schemas.openxmlformats.org/drawingml/2006/main" noGrp="1"/>
          </p:cNvSpPr>
          <p:nvPr/>
        </p:nvSpPr>
        <p:spPr>
          <a:xfrm xmlns:a="http://schemas.openxmlformats.org/drawingml/2006/main">
            <a:off x="666750" y="4286250"/>
            <a:ext cx="7905750" cy="64770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D3DD666-9FD8-420A-B753-B8E4580748E6}"/>
              </a:ext>
            </a:extLst>
          </p:cNvPr>
          <p:cNvSpPr>
            <a:spLocks xmlns:a="http://schemas.openxmlformats.org/drawingml/2006/main" noGrp="1"/>
          </p:cNvSpPr>
          <p:nvPr/>
        </p:nvSpPr>
        <p:spPr>
          <a:xfrm xmlns:a="http://schemas.openxmlformats.org/drawingml/2006/main">
            <a:off x="895350" y="44386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0000"/>
                </a:solidFill>
              </a:defRPr>
            </a:pPr>
            <a:r>
              <a:rPr sz="1650" b="1">
                <a:solidFill>
                  <a:srgbClr val="000000"/>
                </a:solidFill>
              </a:rPr>
              <a:t>云产品能力底座</a:t>
            </a:r>
          </a:p>
        </p:txBody>
      </p:sp>
      <p:sp>
        <p:nvSpPr>
          <p:cNvPr id="18" name="">
            <a:extLst xmlns:a="http://schemas.openxmlformats.org/drawingml/2006/main">
              <a:ext uri="{FF2B5EF4-FFF2-40B4-BE49-F238E27FC236}">
                <a16:creationId xmlns:a16="http://schemas.microsoft.com/office/drawing/2014/main" id="{919FBEC3-2656-46AD-BD43-0FB8991DC5E0}"/>
              </a:ext>
            </a:extLst>
          </p:cNvPr>
          <p:cNvSpPr>
            <a:spLocks xmlns:a="http://schemas.openxmlformats.org/drawingml/2006/main" noGrp="1"/>
          </p:cNvSpPr>
          <p:nvPr/>
        </p:nvSpPr>
        <p:spPr>
          <a:xfrm xmlns:a="http://schemas.openxmlformats.org/drawingml/2006/main">
            <a:off x="3238500" y="44767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222222"/>
                </a:solidFill>
              </a:defRPr>
            </a:pPr>
            <a:r>
              <a:rPr sz="1275" b="0">
                <a:solidFill>
                  <a:srgbClr val="222222"/>
                </a:solidFill>
              </a:rPr>
              <a:t>DevOps / 低代码 / 微服务 / 网关 / 观测</a:t>
            </a:r>
          </a:p>
        </p:txBody>
      </p:sp>
      <p:sp>
        <p:nvSpPr>
          <p:cNvPr id="19" name="">
            <a:extLst xmlns:a="http://schemas.openxmlformats.org/drawingml/2006/main">
              <a:ext uri="{FF2B5EF4-FFF2-40B4-BE49-F238E27FC236}">
                <a16:creationId xmlns:a16="http://schemas.microsoft.com/office/drawing/2014/main" id="{E430D23C-C583-4A28-9E95-0A4CC7A12221}"/>
              </a:ext>
            </a:extLst>
          </p:cNvPr>
          <p:cNvSpPr>
            <a:spLocks xmlns:a="http://schemas.openxmlformats.org/drawingml/2006/main" noGrp="1"/>
          </p:cNvSpPr>
          <p:nvPr/>
        </p:nvSpPr>
        <p:spPr>
          <a:xfrm xmlns:a="http://schemas.openxmlformats.org/drawingml/2006/main">
            <a:off x="9144000" y="1714500"/>
            <a:ext cx="2190750" cy="321945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71DC38F-0610-4709-8563-85E25969C63B}"/>
              </a:ext>
            </a:extLst>
          </p:cNvPr>
          <p:cNvSpPr>
            <a:spLocks xmlns:a="http://schemas.openxmlformats.org/drawingml/2006/main" noGrp="1"/>
          </p:cNvSpPr>
          <p:nvPr/>
        </p:nvSpPr>
        <p:spPr>
          <a:xfrm xmlns:a="http://schemas.openxmlformats.org/drawingml/2006/main">
            <a:off x="9429750" y="200025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FF6B35"/>
                </a:solidFill>
              </a:defRPr>
            </a:pPr>
            <a:r>
              <a:rPr sz="1125" b="1">
                <a:solidFill>
                  <a:srgbClr val="FF6B35"/>
                </a:solidFill>
              </a:rPr>
              <a:t>工程产物</a:t>
            </a:r>
          </a:p>
        </p:txBody>
      </p:sp>
      <p:sp>
        <p:nvSpPr>
          <p:cNvPr id="21" name="">
            <a:extLst xmlns:a="http://schemas.openxmlformats.org/drawingml/2006/main">
              <a:ext uri="{FF2B5EF4-FFF2-40B4-BE49-F238E27FC236}">
                <a16:creationId xmlns:a16="http://schemas.microsoft.com/office/drawing/2014/main" id="{0C4B299A-6F52-4D7C-B096-AB542A38F453}"/>
              </a:ext>
            </a:extLst>
          </p:cNvPr>
          <p:cNvSpPr>
            <a:spLocks xmlns:a="http://schemas.openxmlformats.org/drawingml/2006/main" noGrp="1"/>
          </p:cNvSpPr>
          <p:nvPr/>
        </p:nvSpPr>
        <p:spPr>
          <a:xfrm xmlns:a="http://schemas.openxmlformats.org/drawingml/2006/main">
            <a:off x="9429750" y="25146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22" name="">
            <a:extLst xmlns:a="http://schemas.openxmlformats.org/drawingml/2006/main">
              <a:ext uri="{FF2B5EF4-FFF2-40B4-BE49-F238E27FC236}">
                <a16:creationId xmlns:a16="http://schemas.microsoft.com/office/drawing/2014/main" id="{272D2E4B-27A8-4498-A3C6-25E2665F0983}"/>
              </a:ext>
            </a:extLst>
          </p:cNvPr>
          <p:cNvSpPr>
            <a:spLocks xmlns:a="http://schemas.openxmlformats.org/drawingml/2006/main" noGrp="1"/>
          </p:cNvSpPr>
          <p:nvPr/>
        </p:nvSpPr>
        <p:spPr>
          <a:xfrm xmlns:a="http://schemas.openxmlformats.org/drawingml/2006/main">
            <a:off x="9601200" y="2438400"/>
            <a:ext cx="1447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00000"/>
                </a:solidFill>
              </a:defRPr>
            </a:pPr>
            <a:r>
              <a:rPr sz="1200" b="0">
                <a:solidFill>
                  <a:srgbClr val="000000"/>
                </a:solidFill>
              </a:rPr>
              <a:t>需求项 / 任务项</a:t>
            </a:r>
          </a:p>
        </p:txBody>
      </p:sp>
      <p:sp>
        <p:nvSpPr>
          <p:cNvPr id="23" name="">
            <a:extLst xmlns:a="http://schemas.openxmlformats.org/drawingml/2006/main">
              <a:ext uri="{FF2B5EF4-FFF2-40B4-BE49-F238E27FC236}">
                <a16:creationId xmlns:a16="http://schemas.microsoft.com/office/drawing/2014/main" id="{0744EED9-6FFA-4ED6-8A28-19AB34FD9F7A}"/>
              </a:ext>
            </a:extLst>
          </p:cNvPr>
          <p:cNvSpPr>
            <a:spLocks xmlns:a="http://schemas.openxmlformats.org/drawingml/2006/main" noGrp="1"/>
          </p:cNvSpPr>
          <p:nvPr/>
        </p:nvSpPr>
        <p:spPr>
          <a:xfrm xmlns:a="http://schemas.openxmlformats.org/drawingml/2006/main">
            <a:off x="9429750" y="2962275"/>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24" name="">
            <a:extLst xmlns:a="http://schemas.openxmlformats.org/drawingml/2006/main">
              <a:ext uri="{FF2B5EF4-FFF2-40B4-BE49-F238E27FC236}">
                <a16:creationId xmlns:a16="http://schemas.microsoft.com/office/drawing/2014/main" id="{86318715-2399-4B3D-AAFF-9A3B6E82F2F9}"/>
              </a:ext>
            </a:extLst>
          </p:cNvPr>
          <p:cNvSpPr>
            <a:spLocks xmlns:a="http://schemas.openxmlformats.org/drawingml/2006/main" noGrp="1"/>
          </p:cNvSpPr>
          <p:nvPr/>
        </p:nvSpPr>
        <p:spPr>
          <a:xfrm xmlns:a="http://schemas.openxmlformats.org/drawingml/2006/main">
            <a:off x="9601200" y="2886075"/>
            <a:ext cx="1447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00000"/>
                </a:solidFill>
              </a:defRPr>
            </a:pPr>
            <a:r>
              <a:rPr sz="1200" b="0">
                <a:solidFill>
                  <a:srgbClr val="000000"/>
                </a:solidFill>
              </a:rPr>
              <a:t>测试用例</a:t>
            </a:r>
          </a:p>
        </p:txBody>
      </p:sp>
      <p:sp>
        <p:nvSpPr>
          <p:cNvPr id="25" name="">
            <a:extLst xmlns:a="http://schemas.openxmlformats.org/drawingml/2006/main">
              <a:ext uri="{FF2B5EF4-FFF2-40B4-BE49-F238E27FC236}">
                <a16:creationId xmlns:a16="http://schemas.microsoft.com/office/drawing/2014/main" id="{C4F99DBD-15E7-44F8-B79B-FAAB0ED7329D}"/>
              </a:ext>
            </a:extLst>
          </p:cNvPr>
          <p:cNvSpPr>
            <a:spLocks xmlns:a="http://schemas.openxmlformats.org/drawingml/2006/main" noGrp="1"/>
          </p:cNvSpPr>
          <p:nvPr/>
        </p:nvSpPr>
        <p:spPr>
          <a:xfrm xmlns:a="http://schemas.openxmlformats.org/drawingml/2006/main">
            <a:off x="9429750" y="340995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33E6AC8E-220C-4747-9601-F27627572792}"/>
              </a:ext>
            </a:extLst>
          </p:cNvPr>
          <p:cNvSpPr>
            <a:spLocks xmlns:a="http://schemas.openxmlformats.org/drawingml/2006/main" noGrp="1"/>
          </p:cNvSpPr>
          <p:nvPr/>
        </p:nvSpPr>
        <p:spPr>
          <a:xfrm xmlns:a="http://schemas.openxmlformats.org/drawingml/2006/main">
            <a:off x="9601200" y="3333750"/>
            <a:ext cx="1447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00000"/>
                </a:solidFill>
              </a:defRPr>
            </a:pPr>
            <a:r>
              <a:rPr sz="1200" b="0">
                <a:solidFill>
                  <a:srgbClr val="000000"/>
                </a:solidFill>
              </a:rPr>
              <a:t>代码与测试脚本</a:t>
            </a:r>
          </a:p>
        </p:txBody>
      </p:sp>
      <p:sp>
        <p:nvSpPr>
          <p:cNvPr id="27" name="">
            <a:extLst xmlns:a="http://schemas.openxmlformats.org/drawingml/2006/main">
              <a:ext uri="{FF2B5EF4-FFF2-40B4-BE49-F238E27FC236}">
                <a16:creationId xmlns:a16="http://schemas.microsoft.com/office/drawing/2014/main" id="{D4EBAF61-F066-44BE-8458-F493435ACBE4}"/>
              </a:ext>
            </a:extLst>
          </p:cNvPr>
          <p:cNvSpPr>
            <a:spLocks xmlns:a="http://schemas.openxmlformats.org/drawingml/2006/main" noGrp="1"/>
          </p:cNvSpPr>
          <p:nvPr/>
        </p:nvSpPr>
        <p:spPr>
          <a:xfrm xmlns:a="http://schemas.openxmlformats.org/drawingml/2006/main">
            <a:off x="9429750" y="3857625"/>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28" name="">
            <a:extLst xmlns:a="http://schemas.openxmlformats.org/drawingml/2006/main">
              <a:ext uri="{FF2B5EF4-FFF2-40B4-BE49-F238E27FC236}">
                <a16:creationId xmlns:a16="http://schemas.microsoft.com/office/drawing/2014/main" id="{FDBC7C51-A8F6-41BB-B3F6-D7379D78B628}"/>
              </a:ext>
            </a:extLst>
          </p:cNvPr>
          <p:cNvSpPr>
            <a:spLocks xmlns:a="http://schemas.openxmlformats.org/drawingml/2006/main" noGrp="1"/>
          </p:cNvSpPr>
          <p:nvPr/>
        </p:nvSpPr>
        <p:spPr>
          <a:xfrm xmlns:a="http://schemas.openxmlformats.org/drawingml/2006/main">
            <a:off x="9601200" y="3781425"/>
            <a:ext cx="1447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00000"/>
                </a:solidFill>
              </a:defRPr>
            </a:pPr>
            <a:r>
              <a:rPr sz="1200" b="0">
                <a:solidFill>
                  <a:srgbClr val="000000"/>
                </a:solidFill>
              </a:rPr>
              <a:t>应用版本与部署</a:t>
            </a:r>
          </a:p>
        </p:txBody>
      </p:sp>
      <p:sp>
        <p:nvSpPr>
          <p:cNvPr id="29" name="">
            <a:extLst xmlns:a="http://schemas.openxmlformats.org/drawingml/2006/main">
              <a:ext uri="{FF2B5EF4-FFF2-40B4-BE49-F238E27FC236}">
                <a16:creationId xmlns:a16="http://schemas.microsoft.com/office/drawing/2014/main" id="{65C666DA-8F8E-43C4-8736-6346F4F408A9}"/>
              </a:ext>
            </a:extLst>
          </p:cNvPr>
          <p:cNvSpPr>
            <a:spLocks xmlns:a="http://schemas.openxmlformats.org/drawingml/2006/main" noGrp="1"/>
          </p:cNvSpPr>
          <p:nvPr/>
        </p:nvSpPr>
        <p:spPr>
          <a:xfrm xmlns:a="http://schemas.openxmlformats.org/drawingml/2006/main">
            <a:off x="9429750" y="43053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30" name="">
            <a:extLst xmlns:a="http://schemas.openxmlformats.org/drawingml/2006/main">
              <a:ext uri="{FF2B5EF4-FFF2-40B4-BE49-F238E27FC236}">
                <a16:creationId xmlns:a16="http://schemas.microsoft.com/office/drawing/2014/main" id="{2E0DACE4-B7A5-4C39-8E38-006EB70C6317}"/>
              </a:ext>
            </a:extLst>
          </p:cNvPr>
          <p:cNvSpPr>
            <a:spLocks xmlns:a="http://schemas.openxmlformats.org/drawingml/2006/main" noGrp="1"/>
          </p:cNvSpPr>
          <p:nvPr/>
        </p:nvSpPr>
        <p:spPr>
          <a:xfrm xmlns:a="http://schemas.openxmlformats.org/drawingml/2006/main">
            <a:off x="9601200" y="4229100"/>
            <a:ext cx="1447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00000"/>
                </a:solidFill>
              </a:defRPr>
            </a:pPr>
            <a:r>
              <a:rPr sz="1200" b="0">
                <a:solidFill>
                  <a:srgbClr val="000000"/>
                </a:solidFill>
              </a:rPr>
              <a:t>观测指标与告警</a:t>
            </a:r>
          </a:p>
        </p:txBody>
      </p:sp>
      <p:sp>
        <p:nvSpPr>
          <p:cNvPr id="31" name="">
            <a:extLst xmlns:a="http://schemas.openxmlformats.org/drawingml/2006/main">
              <a:ext uri="{FF2B5EF4-FFF2-40B4-BE49-F238E27FC236}">
                <a16:creationId xmlns:a16="http://schemas.microsoft.com/office/drawing/2014/main" id="{449D087A-4404-48DD-8CED-C2892DDCB800}"/>
              </a:ext>
            </a:extLst>
          </p:cNvPr>
          <p:cNvSpPr>
            <a:spLocks xmlns:a="http://schemas.openxmlformats.org/drawingml/2006/main" noGrp="1"/>
          </p:cNvSpPr>
          <p:nvPr/>
        </p:nvSpPr>
        <p:spPr>
          <a:xfrm xmlns:a="http://schemas.openxmlformats.org/drawingml/2006/main">
            <a:off x="666750" y="5572125"/>
            <a:ext cx="895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0000"/>
                </a:solidFill>
              </a:defRPr>
            </a:pPr>
            <a:r>
              <a:rPr sz="1650" b="1">
                <a:solidFill>
                  <a:srgbClr val="000000"/>
                </a:solidFill>
              </a:rPr>
              <a:t>工作台呈现过程可信，agent 负责协作执行，云产品承接真实工程资产。</a:t>
            </a:r>
          </a:p>
        </p:txBody>
      </p:sp>
      <p:sp>
        <p:nvSpPr>
          <p:cNvPr id="32" name="">
            <a:extLst xmlns:a="http://schemas.openxmlformats.org/drawingml/2006/main">
              <a:ext uri="{FF2B5EF4-FFF2-40B4-BE49-F238E27FC236}">
                <a16:creationId xmlns:a16="http://schemas.microsoft.com/office/drawing/2014/main" id="{6D2C9AA7-8686-46AD-8852-9AD203317D4F}"/>
              </a:ext>
            </a:extLst>
          </p:cNvPr>
          <p:cNvSpPr>
            <a:spLocks xmlns:a="http://schemas.openxmlformats.org/drawingml/2006/main" noGrp="1"/>
          </p:cNvSpPr>
          <p:nvPr/>
        </p:nvSpPr>
        <p:spPr>
          <a:xfrm xmlns:a="http://schemas.openxmlformats.org/drawingml/2006/main">
            <a:off x="514350" y="63817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55555"/>
                </a:solidFill>
              </a:defRPr>
            </a:pPr>
            <a:r>
              <a:rPr sz="1050" b="0">
                <a:solidFill>
                  <a:srgbClr val="555555"/>
                </a:solidFill>
              </a:rPr>
              <a:t>西安 630 项目软件工厂复盘</a:t>
            </a:r>
          </a:p>
        </p:txBody>
      </p:sp>
      <p:sp>
        <p:nvSpPr>
          <p:cNvPr id="33" name="">
            <a:extLst xmlns:a="http://schemas.openxmlformats.org/drawingml/2006/main">
              <a:ext uri="{FF2B5EF4-FFF2-40B4-BE49-F238E27FC236}">
                <a16:creationId xmlns:a16="http://schemas.microsoft.com/office/drawing/2014/main" id="{3993C206-37BC-4291-911A-1447E02549A8}"/>
              </a:ext>
            </a:extLst>
          </p:cNvPr>
          <p:cNvSpPr>
            <a:spLocks xmlns:a="http://schemas.openxmlformats.org/drawingml/2006/main" noGrp="1"/>
          </p:cNvSpPr>
          <p:nvPr/>
        </p:nvSpPr>
        <p:spPr>
          <a:xfrm xmlns:a="http://schemas.openxmlformats.org/drawingml/2006/main">
            <a:off x="11287125" y="63817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555555"/>
                </a:solidFill>
              </a:defRPr>
            </a:pPr>
            <a:r>
              <a:rPr sz="1050" b="1">
                <a:solidFill>
                  <a:srgbClr val="555555"/>
                </a:solidFill>
              </a:rPr>
              <a:t>07</a:t>
            </a:r>
          </a:p>
        </p:txBody>
      </p:sp>
    </p:spTree>
    <p:extLst>
      <p:ext uri="{BB962C8B-B14F-4D97-AF65-F5344CB8AC3E}">
        <p14:creationId xmlns:p14="http://schemas.microsoft.com/office/powerpoint/2010/main" val="46260207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EB06518-33CB-4FDE-A888-59DD8663370F}"/>
              </a:ext>
            </a:extLst>
          </p:cNvPr>
          <p:cNvSpPr>
            <a:spLocks xmlns:a="http://schemas.openxmlformats.org/drawingml/2006/main" noGrp="1"/>
          </p:cNvSpPr>
          <p:nvPr/>
        </p:nvSpPr>
        <p:spPr>
          <a:xfrm xmlns:a="http://schemas.openxmlformats.org/drawingml/2006/main">
            <a:off x="514350" y="342900"/>
            <a:ext cx="10191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0000"/>
                </a:solidFill>
              </a:defRPr>
            </a:pPr>
            <a:r>
              <a:rPr sz="2700" b="1">
                <a:solidFill>
                  <a:srgbClr val="000000"/>
                </a:solidFill>
              </a:rPr>
              <a:t>未来技术架构围绕 agent runtime 和云产品连接能力建设</a:t>
            </a:r>
          </a:p>
        </p:txBody>
      </p:sp>
      <p:sp>
        <p:nvSpPr>
          <p:cNvPr id="2" name="">
            <a:extLst xmlns:a="http://schemas.openxmlformats.org/drawingml/2006/main">
              <a:ext uri="{FF2B5EF4-FFF2-40B4-BE49-F238E27FC236}">
                <a16:creationId xmlns:a16="http://schemas.microsoft.com/office/drawing/2014/main" id="{BC68882D-0BE0-4EF8-9899-26BB146F2B67}"/>
              </a:ext>
            </a:extLst>
          </p:cNvPr>
          <p:cNvSpPr>
            <a:spLocks xmlns:a="http://schemas.openxmlformats.org/drawingml/2006/main" noGrp="1"/>
          </p:cNvSpPr>
          <p:nvPr/>
        </p:nvSpPr>
        <p:spPr>
          <a:xfrm xmlns:a="http://schemas.openxmlformats.org/drawingml/2006/main">
            <a:off x="514350" y="12001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55555"/>
                </a:solidFill>
              </a:defRPr>
            </a:pPr>
            <a:r>
              <a:rPr sz="1275" b="0">
                <a:solidFill>
                  <a:srgbClr val="555555"/>
                </a:solidFill>
              </a:rPr>
              <a:t>目标不是复刻当前项目实现，而是形成可扩展、可治理、可接入云产品的软件生产平台。</a:t>
            </a:r>
          </a:p>
        </p:txBody>
      </p:sp>
      <p:sp>
        <p:nvSpPr>
          <p:cNvPr id="3" name="">
            <a:extLst xmlns:a="http://schemas.openxmlformats.org/drawingml/2006/main">
              <a:ext uri="{FF2B5EF4-FFF2-40B4-BE49-F238E27FC236}">
                <a16:creationId xmlns:a16="http://schemas.microsoft.com/office/drawing/2014/main" id="{3BBDADDD-F7E6-45B2-9ECF-35BBA46132A4}"/>
              </a:ext>
            </a:extLst>
          </p:cNvPr>
          <p:cNvSpPr>
            <a:spLocks xmlns:a="http://schemas.openxmlformats.org/drawingml/2006/main" noGrp="1"/>
          </p:cNvSpPr>
          <p:nvPr/>
        </p:nvSpPr>
        <p:spPr>
          <a:xfrm xmlns:a="http://schemas.openxmlformats.org/drawingml/2006/main">
            <a:off x="514350" y="1581150"/>
            <a:ext cx="111633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EF5631AB-83BD-4DA2-B594-AEB9E2BDA378}"/>
              </a:ext>
            </a:extLst>
          </p:cNvPr>
          <p:cNvSpPr>
            <a:spLocks xmlns:a="http://schemas.openxmlformats.org/drawingml/2006/main" noGrp="1"/>
          </p:cNvSpPr>
          <p:nvPr/>
        </p:nvSpPr>
        <p:spPr>
          <a:xfrm xmlns:a="http://schemas.openxmlformats.org/drawingml/2006/main">
            <a:off x="666750" y="1952625"/>
            <a:ext cx="2381250" cy="781050"/>
          </a:xfrm>
          <a:prstGeom xmlns:a="http://schemas.openxmlformats.org/drawingml/2006/main" prst="rect">
            <a:avLst/>
          </a:prstGeom>
          <a:solidFill xmlns:a="http://schemas.openxmlformats.org/drawingml/2006/main">
            <a:srgbClr val="FFF4EF"/>
          </a:solidFill>
          <a:ln xmlns:a="http://schemas.openxmlformats.org/drawingml/2006/main" w="9525">
            <a:solidFill>
              <a:srgbClr val="FF6B35"/>
            </a:solidFill>
            <a:prstDash val="solid"/>
          </a:ln>
        </p:spPr>
      </p:sp>
      <p:sp>
        <p:nvSpPr>
          <p:cNvPr id="5" name="">
            <a:extLst xmlns:a="http://schemas.openxmlformats.org/drawingml/2006/main">
              <a:ext uri="{FF2B5EF4-FFF2-40B4-BE49-F238E27FC236}">
                <a16:creationId xmlns:a16="http://schemas.microsoft.com/office/drawing/2014/main" id="{1E1F1D17-F37F-4D2E-92FD-2D03A897D3F0}"/>
              </a:ext>
            </a:extLst>
          </p:cNvPr>
          <p:cNvSpPr>
            <a:spLocks xmlns:a="http://schemas.openxmlformats.org/drawingml/2006/main" noGrp="1"/>
          </p:cNvSpPr>
          <p:nvPr/>
        </p:nvSpPr>
        <p:spPr>
          <a:xfrm xmlns:a="http://schemas.openxmlformats.org/drawingml/2006/main">
            <a:off x="762000" y="2057400"/>
            <a:ext cx="219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000000"/>
                </a:solidFill>
              </a:defRPr>
            </a:pPr>
            <a:r>
              <a:rPr sz="1125" b="1">
                <a:solidFill>
                  <a:srgbClr val="000000"/>
                </a:solidFill>
              </a:rPr>
              <a:t>软件工厂工作台</a:t>
            </a:r>
          </a:p>
          <a:p xmlns:a="http://schemas.openxmlformats.org/drawingml/2006/main">
            <a:pPr algn="ctr">
              <a:defRPr sz="1125" b="1">
                <a:solidFill>
                  <a:srgbClr val="000000"/>
                </a:solidFill>
              </a:defRPr>
            </a:pPr>
            <a:r>
              <a:rPr sz="1125" b="1">
                <a:solidFill>
                  <a:srgbClr val="000000"/>
                </a:solidFill>
              </a:rPr>
              <a:t>需求澄清 / 编排图 / 数据流 / 产物确认</a:t>
            </a:r>
          </a:p>
        </p:txBody>
      </p:sp>
      <p:sp>
        <p:nvSpPr>
          <p:cNvPr id="6" name="">
            <a:extLst xmlns:a="http://schemas.openxmlformats.org/drawingml/2006/main">
              <a:ext uri="{FF2B5EF4-FFF2-40B4-BE49-F238E27FC236}">
                <a16:creationId xmlns:a16="http://schemas.microsoft.com/office/drawing/2014/main" id="{D4E06379-3E66-4CD7-8934-171889F94446}"/>
              </a:ext>
            </a:extLst>
          </p:cNvPr>
          <p:cNvSpPr>
            <a:spLocks xmlns:a="http://schemas.openxmlformats.org/drawingml/2006/main" noGrp="1"/>
          </p:cNvSpPr>
          <p:nvPr/>
        </p:nvSpPr>
        <p:spPr>
          <a:xfrm xmlns:a="http://schemas.openxmlformats.org/drawingml/2006/main">
            <a:off x="666750" y="3143250"/>
            <a:ext cx="2381250" cy="7810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70CFD1DA-80A2-4DED-B513-F24E50330DEA}"/>
              </a:ext>
            </a:extLst>
          </p:cNvPr>
          <p:cNvSpPr>
            <a:spLocks xmlns:a="http://schemas.openxmlformats.org/drawingml/2006/main" noGrp="1"/>
          </p:cNvSpPr>
          <p:nvPr/>
        </p:nvSpPr>
        <p:spPr>
          <a:xfrm xmlns:a="http://schemas.openxmlformats.org/drawingml/2006/main">
            <a:off x="762000" y="3248025"/>
            <a:ext cx="219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000000"/>
                </a:solidFill>
              </a:defRPr>
            </a:pPr>
            <a:r>
              <a:rPr sz="1125" b="1">
                <a:solidFill>
                  <a:srgbClr val="000000"/>
                </a:solidFill>
              </a:rPr>
              <a:t>Agent / Skills 市场</a:t>
            </a:r>
          </a:p>
          <a:p xmlns:a="http://schemas.openxmlformats.org/drawingml/2006/main">
            <a:pPr algn="ctr">
              <a:defRPr sz="1125" b="1">
                <a:solidFill>
                  <a:srgbClr val="000000"/>
                </a:solidFill>
              </a:defRPr>
            </a:pPr>
            <a:r>
              <a:rPr sz="1125" b="1">
                <a:solidFill>
                  <a:srgbClr val="000000"/>
                </a:solidFill>
              </a:rPr>
              <a:t>发现 / 安装 / 版本 / 权限 / 治理</a:t>
            </a:r>
          </a:p>
        </p:txBody>
      </p:sp>
      <p:sp>
        <p:nvSpPr>
          <p:cNvPr id="8" name="">
            <a:extLst xmlns:a="http://schemas.openxmlformats.org/drawingml/2006/main">
              <a:ext uri="{FF2B5EF4-FFF2-40B4-BE49-F238E27FC236}">
                <a16:creationId xmlns:a16="http://schemas.microsoft.com/office/drawing/2014/main" id="{3B8B1193-CC90-491C-87F7-AA8137CB3F72}"/>
              </a:ext>
            </a:extLst>
          </p:cNvPr>
          <p:cNvSpPr>
            <a:spLocks xmlns:a="http://schemas.openxmlformats.org/drawingml/2006/main" noGrp="1"/>
          </p:cNvSpPr>
          <p:nvPr/>
        </p:nvSpPr>
        <p:spPr>
          <a:xfrm xmlns:a="http://schemas.openxmlformats.org/drawingml/2006/main">
            <a:off x="666750" y="4333875"/>
            <a:ext cx="2381250" cy="78105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37A10D49-68C0-43B0-8EB3-94845E1BA93D}"/>
              </a:ext>
            </a:extLst>
          </p:cNvPr>
          <p:cNvSpPr>
            <a:spLocks xmlns:a="http://schemas.openxmlformats.org/drawingml/2006/main" noGrp="1"/>
          </p:cNvSpPr>
          <p:nvPr/>
        </p:nvSpPr>
        <p:spPr>
          <a:xfrm xmlns:a="http://schemas.openxmlformats.org/drawingml/2006/main">
            <a:off x="762000" y="4438650"/>
            <a:ext cx="2190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000000"/>
                </a:solidFill>
              </a:defRPr>
            </a:pPr>
            <a:r>
              <a:rPr sz="1125" b="1">
                <a:solidFill>
                  <a:srgbClr val="000000"/>
                </a:solidFill>
              </a:rPr>
              <a:t>应用与产物门户</a:t>
            </a:r>
          </a:p>
          <a:p xmlns:a="http://schemas.openxmlformats.org/drawingml/2006/main">
            <a:pPr algn="ctr">
              <a:defRPr sz="1125" b="1">
                <a:solidFill>
                  <a:srgbClr val="000000"/>
                </a:solidFill>
              </a:defRPr>
            </a:pPr>
            <a:r>
              <a:rPr sz="1125" b="1">
                <a:solidFill>
                  <a:srgbClr val="000000"/>
                </a:solidFill>
              </a:rPr>
              <a:t>应用版本 / 部署入口 / 交付记录</a:t>
            </a:r>
          </a:p>
        </p:txBody>
      </p:sp>
      <p:sp>
        <p:nvSpPr>
          <p:cNvPr id="10" name="">
            <a:extLst xmlns:a="http://schemas.openxmlformats.org/drawingml/2006/main">
              <a:ext uri="{FF2B5EF4-FFF2-40B4-BE49-F238E27FC236}">
                <a16:creationId xmlns:a16="http://schemas.microsoft.com/office/drawing/2014/main" id="{2EF871C8-3EA5-4D7B-82C8-28E584874612}"/>
              </a:ext>
            </a:extLst>
          </p:cNvPr>
          <p:cNvSpPr>
            <a:spLocks xmlns:a="http://schemas.openxmlformats.org/drawingml/2006/main" noGrp="1"/>
          </p:cNvSpPr>
          <p:nvPr/>
        </p:nvSpPr>
        <p:spPr>
          <a:xfrm xmlns:a="http://schemas.openxmlformats.org/drawingml/2006/main">
            <a:off x="3571875" y="1952625"/>
            <a:ext cx="3714750" cy="3162300"/>
          </a:xfrm>
          <a:prstGeom xmlns:a="http://schemas.openxmlformats.org/drawingml/2006/main" prst="rect">
            <a:avLst/>
          </a:prstGeom>
          <a:solidFill xmlns:a="http://schemas.openxmlformats.org/drawingml/2006/main">
            <a:srgbClr val="FFF4EF"/>
          </a:solidFill>
          <a:ln xmlns:a="http://schemas.openxmlformats.org/drawingml/2006/main" w="9525">
            <a:solidFill>
              <a:srgbClr val="FF6B35"/>
            </a:solidFill>
            <a:prstDash val="solid"/>
          </a:ln>
        </p:spPr>
      </p:sp>
      <p:sp>
        <p:nvSpPr>
          <p:cNvPr id="11" name="">
            <a:extLst xmlns:a="http://schemas.openxmlformats.org/drawingml/2006/main">
              <a:ext uri="{FF2B5EF4-FFF2-40B4-BE49-F238E27FC236}">
                <a16:creationId xmlns:a16="http://schemas.microsoft.com/office/drawing/2014/main" id="{CD287477-9FD9-4E62-BBD1-4C2697B6C661}"/>
              </a:ext>
            </a:extLst>
          </p:cNvPr>
          <p:cNvSpPr>
            <a:spLocks xmlns:a="http://schemas.openxmlformats.org/drawingml/2006/main" noGrp="1"/>
          </p:cNvSpPr>
          <p:nvPr/>
        </p:nvSpPr>
        <p:spPr>
          <a:xfrm xmlns:a="http://schemas.openxmlformats.org/drawingml/2006/main">
            <a:off x="3857625" y="22098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FF6B35"/>
                </a:solidFill>
              </a:defRPr>
            </a:pPr>
            <a:r>
              <a:rPr sz="1125" b="1">
                <a:solidFill>
                  <a:srgbClr val="FF6B35"/>
                </a:solidFill>
              </a:rPr>
              <a:t>编排内核与 Agent Runtime</a:t>
            </a:r>
          </a:p>
        </p:txBody>
      </p:sp>
      <p:sp>
        <p:nvSpPr>
          <p:cNvPr id="12" name="">
            <a:extLst xmlns:a="http://schemas.openxmlformats.org/drawingml/2006/main">
              <a:ext uri="{FF2B5EF4-FFF2-40B4-BE49-F238E27FC236}">
                <a16:creationId xmlns:a16="http://schemas.microsoft.com/office/drawing/2014/main" id="{663D67CB-ABFF-4F36-8CEA-F952AF3C5AE6}"/>
              </a:ext>
            </a:extLst>
          </p:cNvPr>
          <p:cNvSpPr>
            <a:spLocks xmlns:a="http://schemas.openxmlformats.org/drawingml/2006/main" noGrp="1"/>
          </p:cNvSpPr>
          <p:nvPr/>
        </p:nvSpPr>
        <p:spPr>
          <a:xfrm xmlns:a="http://schemas.openxmlformats.org/drawingml/2006/main">
            <a:off x="3857625" y="27432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D2F390A5-D8CF-4B4D-80FB-7D0E3C4C3D14}"/>
              </a:ext>
            </a:extLst>
          </p:cNvPr>
          <p:cNvSpPr>
            <a:spLocks xmlns:a="http://schemas.openxmlformats.org/drawingml/2006/main" noGrp="1"/>
          </p:cNvSpPr>
          <p:nvPr/>
        </p:nvSpPr>
        <p:spPr>
          <a:xfrm xmlns:a="http://schemas.openxmlformats.org/drawingml/2006/main">
            <a:off x="4029075" y="2667000"/>
            <a:ext cx="2781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00000"/>
                </a:solidFill>
              </a:defRPr>
            </a:pPr>
            <a:r>
              <a:rPr sz="1200" b="0">
                <a:solidFill>
                  <a:srgbClr val="000000"/>
                </a:solidFill>
              </a:rPr>
              <a:t>会话与需求上下文</a:t>
            </a:r>
          </a:p>
        </p:txBody>
      </p:sp>
      <p:sp>
        <p:nvSpPr>
          <p:cNvPr id="14" name="">
            <a:extLst xmlns:a="http://schemas.openxmlformats.org/drawingml/2006/main">
              <a:ext uri="{FF2B5EF4-FFF2-40B4-BE49-F238E27FC236}">
                <a16:creationId xmlns:a16="http://schemas.microsoft.com/office/drawing/2014/main" id="{3E7EBC97-4263-49CA-BF1A-B35457E6852E}"/>
              </a:ext>
            </a:extLst>
          </p:cNvPr>
          <p:cNvSpPr>
            <a:spLocks xmlns:a="http://schemas.openxmlformats.org/drawingml/2006/main" noGrp="1"/>
          </p:cNvSpPr>
          <p:nvPr/>
        </p:nvSpPr>
        <p:spPr>
          <a:xfrm xmlns:a="http://schemas.openxmlformats.org/drawingml/2006/main">
            <a:off x="3857625" y="3152775"/>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F37EA094-9D30-4CD1-B13B-5189EF4C1BDD}"/>
              </a:ext>
            </a:extLst>
          </p:cNvPr>
          <p:cNvSpPr>
            <a:spLocks xmlns:a="http://schemas.openxmlformats.org/drawingml/2006/main" noGrp="1"/>
          </p:cNvSpPr>
          <p:nvPr/>
        </p:nvSpPr>
        <p:spPr>
          <a:xfrm xmlns:a="http://schemas.openxmlformats.org/drawingml/2006/main">
            <a:off x="4029075" y="3076575"/>
            <a:ext cx="2781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00000"/>
                </a:solidFill>
              </a:defRPr>
            </a:pPr>
            <a:r>
              <a:rPr sz="1200" b="0">
                <a:solidFill>
                  <a:srgbClr val="000000"/>
                </a:solidFill>
              </a:rPr>
              <a:t>协作编排计划与 DAG</a:t>
            </a:r>
          </a:p>
        </p:txBody>
      </p:sp>
      <p:sp>
        <p:nvSpPr>
          <p:cNvPr id="16" name="">
            <a:extLst xmlns:a="http://schemas.openxmlformats.org/drawingml/2006/main">
              <a:ext uri="{FF2B5EF4-FFF2-40B4-BE49-F238E27FC236}">
                <a16:creationId xmlns:a16="http://schemas.microsoft.com/office/drawing/2014/main" id="{E40B73D4-ECBA-4202-8251-4E8775B12F7D}"/>
              </a:ext>
            </a:extLst>
          </p:cNvPr>
          <p:cNvSpPr>
            <a:spLocks xmlns:a="http://schemas.openxmlformats.org/drawingml/2006/main" noGrp="1"/>
          </p:cNvSpPr>
          <p:nvPr/>
        </p:nvSpPr>
        <p:spPr>
          <a:xfrm xmlns:a="http://schemas.openxmlformats.org/drawingml/2006/main">
            <a:off x="3857625" y="356235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0D3A67BB-7732-4EA2-94A6-24FEDE51C9F9}"/>
              </a:ext>
            </a:extLst>
          </p:cNvPr>
          <p:cNvSpPr>
            <a:spLocks xmlns:a="http://schemas.openxmlformats.org/drawingml/2006/main" noGrp="1"/>
          </p:cNvSpPr>
          <p:nvPr/>
        </p:nvSpPr>
        <p:spPr>
          <a:xfrm xmlns:a="http://schemas.openxmlformats.org/drawingml/2006/main">
            <a:off x="4029075" y="3486150"/>
            <a:ext cx="2781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00000"/>
                </a:solidFill>
              </a:defRPr>
            </a:pPr>
            <a:r>
              <a:rPr sz="1200" b="0">
                <a:solidFill>
                  <a:srgbClr val="000000"/>
                </a:solidFill>
              </a:rPr>
              <a:t>任务分发、重试和回退</a:t>
            </a:r>
          </a:p>
        </p:txBody>
      </p:sp>
      <p:sp>
        <p:nvSpPr>
          <p:cNvPr id="18" name="">
            <a:extLst xmlns:a="http://schemas.openxmlformats.org/drawingml/2006/main">
              <a:ext uri="{FF2B5EF4-FFF2-40B4-BE49-F238E27FC236}">
                <a16:creationId xmlns:a16="http://schemas.microsoft.com/office/drawing/2014/main" id="{AD35099A-685C-4654-B9CA-A19EDB13C25D}"/>
              </a:ext>
            </a:extLst>
          </p:cNvPr>
          <p:cNvSpPr>
            <a:spLocks xmlns:a="http://schemas.openxmlformats.org/drawingml/2006/main" noGrp="1"/>
          </p:cNvSpPr>
          <p:nvPr/>
        </p:nvSpPr>
        <p:spPr>
          <a:xfrm xmlns:a="http://schemas.openxmlformats.org/drawingml/2006/main">
            <a:off x="3857625" y="3971925"/>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7DF617C7-4072-4468-ADD7-461A3DAFDE27}"/>
              </a:ext>
            </a:extLst>
          </p:cNvPr>
          <p:cNvSpPr>
            <a:spLocks xmlns:a="http://schemas.openxmlformats.org/drawingml/2006/main" noGrp="1"/>
          </p:cNvSpPr>
          <p:nvPr/>
        </p:nvSpPr>
        <p:spPr>
          <a:xfrm xmlns:a="http://schemas.openxmlformats.org/drawingml/2006/main">
            <a:off x="4029075" y="3895725"/>
            <a:ext cx="2781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00000"/>
                </a:solidFill>
              </a:defRPr>
            </a:pPr>
            <a:r>
              <a:rPr sz="1200" b="0">
                <a:solidFill>
                  <a:srgbClr val="000000"/>
                </a:solidFill>
              </a:rPr>
              <a:t>agent 运行、工具授权、产物归属</a:t>
            </a:r>
          </a:p>
        </p:txBody>
      </p:sp>
      <p:sp>
        <p:nvSpPr>
          <p:cNvPr id="20" name="">
            <a:extLst xmlns:a="http://schemas.openxmlformats.org/drawingml/2006/main">
              <a:ext uri="{FF2B5EF4-FFF2-40B4-BE49-F238E27FC236}">
                <a16:creationId xmlns:a16="http://schemas.microsoft.com/office/drawing/2014/main" id="{B0EBAE52-935E-4F83-A8FD-EF5780A72F7E}"/>
              </a:ext>
            </a:extLst>
          </p:cNvPr>
          <p:cNvSpPr>
            <a:spLocks xmlns:a="http://schemas.openxmlformats.org/drawingml/2006/main" noGrp="1"/>
          </p:cNvSpPr>
          <p:nvPr/>
        </p:nvSpPr>
        <p:spPr>
          <a:xfrm xmlns:a="http://schemas.openxmlformats.org/drawingml/2006/main">
            <a:off x="3857625" y="43815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21" name="">
            <a:extLst xmlns:a="http://schemas.openxmlformats.org/drawingml/2006/main">
              <a:ext uri="{FF2B5EF4-FFF2-40B4-BE49-F238E27FC236}">
                <a16:creationId xmlns:a16="http://schemas.microsoft.com/office/drawing/2014/main" id="{8587DFE4-5BC0-47A8-A519-F1B6F3FCECDC}"/>
              </a:ext>
            </a:extLst>
          </p:cNvPr>
          <p:cNvSpPr>
            <a:spLocks xmlns:a="http://schemas.openxmlformats.org/drawingml/2006/main" noGrp="1"/>
          </p:cNvSpPr>
          <p:nvPr/>
        </p:nvSpPr>
        <p:spPr>
          <a:xfrm xmlns:a="http://schemas.openxmlformats.org/drawingml/2006/main">
            <a:off x="4029075" y="4305300"/>
            <a:ext cx="2781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00000"/>
                </a:solidFill>
              </a:defRPr>
            </a:pPr>
            <a:r>
              <a:rPr sz="1200" b="0">
                <a:solidFill>
                  <a:srgbClr val="000000"/>
                </a:solidFill>
              </a:rPr>
              <a:t>事件流、审计和质量评估</a:t>
            </a:r>
          </a:p>
        </p:txBody>
      </p:sp>
      <p:sp>
        <p:nvSpPr>
          <p:cNvPr id="22" name="">
            <a:extLst xmlns:a="http://schemas.openxmlformats.org/drawingml/2006/main">
              <a:ext uri="{FF2B5EF4-FFF2-40B4-BE49-F238E27FC236}">
                <a16:creationId xmlns:a16="http://schemas.microsoft.com/office/drawing/2014/main" id="{0FA27943-D6D7-479A-A3FB-BC1B6E318F70}"/>
              </a:ext>
            </a:extLst>
          </p:cNvPr>
          <p:cNvSpPr>
            <a:spLocks xmlns:a="http://schemas.openxmlformats.org/drawingml/2006/main" noGrp="1"/>
          </p:cNvSpPr>
          <p:nvPr/>
        </p:nvSpPr>
        <p:spPr>
          <a:xfrm xmlns:a="http://schemas.openxmlformats.org/drawingml/2006/main">
            <a:off x="7810500" y="1952625"/>
            <a:ext cx="3429000" cy="146685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033CAEF-EEEC-447C-ABC0-68C423CB44F9}"/>
              </a:ext>
            </a:extLst>
          </p:cNvPr>
          <p:cNvSpPr>
            <a:spLocks xmlns:a="http://schemas.openxmlformats.org/drawingml/2006/main" noGrp="1"/>
          </p:cNvSpPr>
          <p:nvPr/>
        </p:nvSpPr>
        <p:spPr>
          <a:xfrm xmlns:a="http://schemas.openxmlformats.org/drawingml/2006/main">
            <a:off x="8096250" y="2209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FF6B35"/>
                </a:solidFill>
              </a:defRPr>
            </a:pPr>
            <a:r>
              <a:rPr sz="1125" b="1">
                <a:solidFill>
                  <a:srgbClr val="FF6B35"/>
                </a:solidFill>
              </a:rPr>
              <a:t>模型与工具接入</a:t>
            </a:r>
          </a:p>
        </p:txBody>
      </p:sp>
      <p:sp>
        <p:nvSpPr>
          <p:cNvPr id="24" name="">
            <a:extLst xmlns:a="http://schemas.openxmlformats.org/drawingml/2006/main">
              <a:ext uri="{FF2B5EF4-FFF2-40B4-BE49-F238E27FC236}">
                <a16:creationId xmlns:a16="http://schemas.microsoft.com/office/drawing/2014/main" id="{AF05333F-5363-4851-9F48-462BBA129E41}"/>
              </a:ext>
            </a:extLst>
          </p:cNvPr>
          <p:cNvSpPr>
            <a:spLocks xmlns:a="http://schemas.openxmlformats.org/drawingml/2006/main" noGrp="1"/>
          </p:cNvSpPr>
          <p:nvPr/>
        </p:nvSpPr>
        <p:spPr>
          <a:xfrm xmlns:a="http://schemas.openxmlformats.org/drawingml/2006/main">
            <a:off x="8096250" y="2667000"/>
            <a:ext cx="276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222222"/>
                </a:solidFill>
              </a:defRPr>
            </a:pPr>
            <a:r>
              <a:rPr sz="1200" b="0">
                <a:solidFill>
                  <a:srgbClr val="222222"/>
                </a:solidFill>
              </a:rPr>
              <a:t>AI Gateway / 多 LLM 路由 / Claude、opencode、Hermes 等通用智能体适配 / 工具沙箱</a:t>
            </a:r>
          </a:p>
        </p:txBody>
      </p:sp>
      <p:sp>
        <p:nvSpPr>
          <p:cNvPr id="25" name="">
            <a:extLst xmlns:a="http://schemas.openxmlformats.org/drawingml/2006/main">
              <a:ext uri="{FF2B5EF4-FFF2-40B4-BE49-F238E27FC236}">
                <a16:creationId xmlns:a16="http://schemas.microsoft.com/office/drawing/2014/main" id="{45C08594-4CC6-4670-8E86-3EAB04A0D4A4}"/>
              </a:ext>
            </a:extLst>
          </p:cNvPr>
          <p:cNvSpPr>
            <a:spLocks xmlns:a="http://schemas.openxmlformats.org/drawingml/2006/main" noGrp="1"/>
          </p:cNvSpPr>
          <p:nvPr/>
        </p:nvSpPr>
        <p:spPr>
          <a:xfrm xmlns:a="http://schemas.openxmlformats.org/drawingml/2006/main">
            <a:off x="7810500" y="3648075"/>
            <a:ext cx="3429000" cy="146685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39D3201E-310A-4356-974B-9C3F6CFACB2C}"/>
              </a:ext>
            </a:extLst>
          </p:cNvPr>
          <p:cNvSpPr>
            <a:spLocks xmlns:a="http://schemas.openxmlformats.org/drawingml/2006/main" noGrp="1"/>
          </p:cNvSpPr>
          <p:nvPr/>
        </p:nvSpPr>
        <p:spPr>
          <a:xfrm xmlns:a="http://schemas.openxmlformats.org/drawingml/2006/main">
            <a:off x="8096250" y="3905250"/>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FF6B35"/>
                </a:solidFill>
              </a:defRPr>
            </a:pPr>
            <a:r>
              <a:rPr sz="1125" b="1">
                <a:solidFill>
                  <a:srgbClr val="FF6B35"/>
                </a:solidFill>
              </a:rPr>
              <a:t>能力资产与工程连接器</a:t>
            </a:r>
          </a:p>
        </p:txBody>
      </p:sp>
      <p:sp>
        <p:nvSpPr>
          <p:cNvPr id="27" name="">
            <a:extLst xmlns:a="http://schemas.openxmlformats.org/drawingml/2006/main">
              <a:ext uri="{FF2B5EF4-FFF2-40B4-BE49-F238E27FC236}">
                <a16:creationId xmlns:a16="http://schemas.microsoft.com/office/drawing/2014/main" id="{8F28F84C-1ED7-437F-A925-B070F968EAB0}"/>
              </a:ext>
            </a:extLst>
          </p:cNvPr>
          <p:cNvSpPr>
            <a:spLocks xmlns:a="http://schemas.openxmlformats.org/drawingml/2006/main" noGrp="1"/>
          </p:cNvSpPr>
          <p:nvPr/>
        </p:nvSpPr>
        <p:spPr>
          <a:xfrm xmlns:a="http://schemas.openxmlformats.org/drawingml/2006/main">
            <a:off x="8096250" y="4362450"/>
            <a:ext cx="276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222222"/>
                </a:solidFill>
              </a:defRPr>
            </a:pPr>
            <a:r>
              <a:rPr sz="1200" b="0">
                <a:solidFill>
                  <a:srgbClr val="222222"/>
                </a:solidFill>
              </a:rPr>
              <a:t>领域能力包、知识库、本体契约、DevOps、低代码、微服务、网关、观测连接器</a:t>
            </a:r>
          </a:p>
        </p:txBody>
      </p:sp>
      <p:sp>
        <p:nvSpPr>
          <p:cNvPr id="28" name="">
            <a:extLst xmlns:a="http://schemas.openxmlformats.org/drawingml/2006/main">
              <a:ext uri="{FF2B5EF4-FFF2-40B4-BE49-F238E27FC236}">
                <a16:creationId xmlns:a16="http://schemas.microsoft.com/office/drawing/2014/main" id="{5D60333E-CD3C-4607-BBB7-984A1BE7AF98}"/>
              </a:ext>
            </a:extLst>
          </p:cNvPr>
          <p:cNvSpPr>
            <a:spLocks xmlns:a="http://schemas.openxmlformats.org/drawingml/2006/main" noGrp="1"/>
          </p:cNvSpPr>
          <p:nvPr/>
        </p:nvSpPr>
        <p:spPr>
          <a:xfrm xmlns:a="http://schemas.openxmlformats.org/drawingml/2006/main">
            <a:off x="666750" y="5572125"/>
            <a:ext cx="9810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00000"/>
                </a:solidFill>
              </a:defRPr>
            </a:pPr>
            <a:r>
              <a:rPr sz="1575" b="1">
                <a:solidFill>
                  <a:srgbClr val="000000"/>
                </a:solidFill>
              </a:rPr>
              <a:t>核心是把 agent、skills、任务、产物、云产品连接器纳入统一编排与治理。</a:t>
            </a:r>
          </a:p>
        </p:txBody>
      </p:sp>
      <p:sp>
        <p:nvSpPr>
          <p:cNvPr id="29" name="">
            <a:extLst xmlns:a="http://schemas.openxmlformats.org/drawingml/2006/main">
              <a:ext uri="{FF2B5EF4-FFF2-40B4-BE49-F238E27FC236}">
                <a16:creationId xmlns:a16="http://schemas.microsoft.com/office/drawing/2014/main" id="{A3B082C8-FB11-48FA-9A0A-7F11D1514EFF}"/>
              </a:ext>
            </a:extLst>
          </p:cNvPr>
          <p:cNvSpPr>
            <a:spLocks xmlns:a="http://schemas.openxmlformats.org/drawingml/2006/main" noGrp="1"/>
          </p:cNvSpPr>
          <p:nvPr/>
        </p:nvSpPr>
        <p:spPr>
          <a:xfrm xmlns:a="http://schemas.openxmlformats.org/drawingml/2006/main">
            <a:off x="514350" y="63817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55555"/>
                </a:solidFill>
              </a:defRPr>
            </a:pPr>
            <a:r>
              <a:rPr sz="1050" b="0">
                <a:solidFill>
                  <a:srgbClr val="555555"/>
                </a:solidFill>
              </a:rPr>
              <a:t>西安 630 项目软件工厂复盘</a:t>
            </a:r>
          </a:p>
        </p:txBody>
      </p:sp>
      <p:sp>
        <p:nvSpPr>
          <p:cNvPr id="30" name="">
            <a:extLst xmlns:a="http://schemas.openxmlformats.org/drawingml/2006/main">
              <a:ext uri="{FF2B5EF4-FFF2-40B4-BE49-F238E27FC236}">
                <a16:creationId xmlns:a16="http://schemas.microsoft.com/office/drawing/2014/main" id="{D96D064E-5966-4E68-878B-1BFA3F31D523}"/>
              </a:ext>
            </a:extLst>
          </p:cNvPr>
          <p:cNvSpPr>
            <a:spLocks xmlns:a="http://schemas.openxmlformats.org/drawingml/2006/main" noGrp="1"/>
          </p:cNvSpPr>
          <p:nvPr/>
        </p:nvSpPr>
        <p:spPr>
          <a:xfrm xmlns:a="http://schemas.openxmlformats.org/drawingml/2006/main">
            <a:off x="11287125" y="63817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555555"/>
                </a:solidFill>
              </a:defRPr>
            </a:pPr>
            <a:r>
              <a:rPr sz="1050" b="1">
                <a:solidFill>
                  <a:srgbClr val="555555"/>
                </a:solidFill>
              </a:rPr>
              <a:t>08</a:t>
            </a:r>
          </a:p>
        </p:txBody>
      </p:sp>
    </p:spTree>
    <p:extLst>
      <p:ext uri="{BB962C8B-B14F-4D97-AF65-F5344CB8AC3E}">
        <p14:creationId xmlns:p14="http://schemas.microsoft.com/office/powerpoint/2010/main" val="1412017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E32AA58-9538-4C9E-82BD-FF3B35406A60}"/>
              </a:ext>
            </a:extLst>
          </p:cNvPr>
          <p:cNvSpPr>
            <a:spLocks xmlns:a="http://schemas.openxmlformats.org/drawingml/2006/main" noGrp="1"/>
          </p:cNvSpPr>
          <p:nvPr/>
        </p:nvSpPr>
        <p:spPr>
          <a:xfrm xmlns:a="http://schemas.openxmlformats.org/drawingml/2006/main">
            <a:off x="514350" y="342900"/>
            <a:ext cx="10191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0000"/>
                </a:solidFill>
              </a:defRPr>
            </a:pPr>
            <a:r>
              <a:rPr sz="2700" b="1">
                <a:solidFill>
                  <a:srgbClr val="000000"/>
                </a:solidFill>
              </a:rPr>
              <a:t>未来部署架构按平台域、执行域、集成域和应用运行域拆分</a:t>
            </a:r>
          </a:p>
        </p:txBody>
      </p:sp>
      <p:sp>
        <p:nvSpPr>
          <p:cNvPr id="2" name="">
            <a:extLst xmlns:a="http://schemas.openxmlformats.org/drawingml/2006/main">
              <a:ext uri="{FF2B5EF4-FFF2-40B4-BE49-F238E27FC236}">
                <a16:creationId xmlns:a16="http://schemas.microsoft.com/office/drawing/2014/main" id="{6F352823-D954-4A88-9BBE-3524D6FF0973}"/>
              </a:ext>
            </a:extLst>
          </p:cNvPr>
          <p:cNvSpPr>
            <a:spLocks xmlns:a="http://schemas.openxmlformats.org/drawingml/2006/main" noGrp="1"/>
          </p:cNvSpPr>
          <p:nvPr/>
        </p:nvSpPr>
        <p:spPr>
          <a:xfrm xmlns:a="http://schemas.openxmlformats.org/drawingml/2006/main">
            <a:off x="514350" y="12001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55555"/>
                </a:solidFill>
              </a:defRPr>
            </a:pPr>
            <a:r>
              <a:rPr sz="1275" b="0">
                <a:solidFill>
                  <a:srgbClr val="555555"/>
                </a:solidFill>
              </a:rPr>
              <a:t>可从单机起步，目标形态支持多租户、弹性执行、内外网边界和统一观测治理。</a:t>
            </a:r>
          </a:p>
        </p:txBody>
      </p:sp>
      <p:sp>
        <p:nvSpPr>
          <p:cNvPr id="3" name="">
            <a:extLst xmlns:a="http://schemas.openxmlformats.org/drawingml/2006/main">
              <a:ext uri="{FF2B5EF4-FFF2-40B4-BE49-F238E27FC236}">
                <a16:creationId xmlns:a16="http://schemas.microsoft.com/office/drawing/2014/main" id="{B4B4AD58-E7E9-403F-8984-DBF95C40EE24}"/>
              </a:ext>
            </a:extLst>
          </p:cNvPr>
          <p:cNvSpPr>
            <a:spLocks xmlns:a="http://schemas.openxmlformats.org/drawingml/2006/main" noGrp="1"/>
          </p:cNvSpPr>
          <p:nvPr/>
        </p:nvSpPr>
        <p:spPr>
          <a:xfrm xmlns:a="http://schemas.openxmlformats.org/drawingml/2006/main">
            <a:off x="514350" y="1581150"/>
            <a:ext cx="111633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A607551B-F112-4A07-BB4D-F020F9289E8C}"/>
              </a:ext>
            </a:extLst>
          </p:cNvPr>
          <p:cNvSpPr>
            <a:spLocks xmlns:a="http://schemas.openxmlformats.org/drawingml/2006/main" noGrp="1"/>
          </p:cNvSpPr>
          <p:nvPr/>
        </p:nvSpPr>
        <p:spPr>
          <a:xfrm xmlns:a="http://schemas.openxmlformats.org/drawingml/2006/main">
            <a:off x="666750" y="1952625"/>
            <a:ext cx="1809750" cy="628650"/>
          </a:xfrm>
          <a:prstGeom xmlns:a="http://schemas.openxmlformats.org/drawingml/2006/main" prst="rect">
            <a:avLst/>
          </a:prstGeom>
          <a:solidFill xmlns:a="http://schemas.openxmlformats.org/drawingml/2006/main">
            <a:srgbClr val="FFF4EF"/>
          </a:solidFill>
          <a:ln xmlns:a="http://schemas.openxmlformats.org/drawingml/2006/main" w="9525">
            <a:solidFill>
              <a:srgbClr val="FF6B35"/>
            </a:solidFill>
            <a:prstDash val="solid"/>
          </a:ln>
        </p:spPr>
      </p:sp>
      <p:sp>
        <p:nvSpPr>
          <p:cNvPr id="5" name="">
            <a:extLst xmlns:a="http://schemas.openxmlformats.org/drawingml/2006/main">
              <a:ext uri="{FF2B5EF4-FFF2-40B4-BE49-F238E27FC236}">
                <a16:creationId xmlns:a16="http://schemas.microsoft.com/office/drawing/2014/main" id="{073D785D-940B-45E2-B87C-008F0C202E50}"/>
              </a:ext>
            </a:extLst>
          </p:cNvPr>
          <p:cNvSpPr>
            <a:spLocks xmlns:a="http://schemas.openxmlformats.org/drawingml/2006/main" noGrp="1"/>
          </p:cNvSpPr>
          <p:nvPr/>
        </p:nvSpPr>
        <p:spPr>
          <a:xfrm xmlns:a="http://schemas.openxmlformats.org/drawingml/2006/main">
            <a:off x="762000" y="2057400"/>
            <a:ext cx="1619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000000"/>
                </a:solidFill>
              </a:defRPr>
            </a:pPr>
            <a:r>
              <a:rPr sz="1125" b="1">
                <a:solidFill>
                  <a:srgbClr val="000000"/>
                </a:solidFill>
              </a:rPr>
              <a:t>用户 / 交付人员 / 管理员</a:t>
            </a:r>
          </a:p>
        </p:txBody>
      </p:sp>
      <p:sp>
        <p:nvSpPr>
          <p:cNvPr id="6" name="">
            <a:extLst xmlns:a="http://schemas.openxmlformats.org/drawingml/2006/main">
              <a:ext uri="{FF2B5EF4-FFF2-40B4-BE49-F238E27FC236}">
                <a16:creationId xmlns:a16="http://schemas.microsoft.com/office/drawing/2014/main" id="{36A1DC9B-8FE9-4DF0-A567-4A8874BCA138}"/>
              </a:ext>
            </a:extLst>
          </p:cNvPr>
          <p:cNvSpPr>
            <a:spLocks xmlns:a="http://schemas.openxmlformats.org/drawingml/2006/main" noGrp="1"/>
          </p:cNvSpPr>
          <p:nvPr/>
        </p:nvSpPr>
        <p:spPr>
          <a:xfrm xmlns:a="http://schemas.openxmlformats.org/drawingml/2006/main">
            <a:off x="2647950" y="209550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0">
                <a:solidFill>
                  <a:srgbClr val="555555"/>
                </a:solidFill>
              </a:defRPr>
            </a:pPr>
            <a:r>
              <a:rPr sz="1800" b="0">
                <a:solidFill>
                  <a:srgbClr val="555555"/>
                </a:solidFill>
              </a:rPr>
              <a:t>→</a:t>
            </a:r>
          </a:p>
        </p:txBody>
      </p:sp>
      <p:sp>
        <p:nvSpPr>
          <p:cNvPr id="7" name="">
            <a:extLst xmlns:a="http://schemas.openxmlformats.org/drawingml/2006/main">
              <a:ext uri="{FF2B5EF4-FFF2-40B4-BE49-F238E27FC236}">
                <a16:creationId xmlns:a16="http://schemas.microsoft.com/office/drawing/2014/main" id="{A138EE3C-B015-4795-8EAD-8C6491E37AB9}"/>
              </a:ext>
            </a:extLst>
          </p:cNvPr>
          <p:cNvSpPr>
            <a:spLocks xmlns:a="http://schemas.openxmlformats.org/drawingml/2006/main" noGrp="1"/>
          </p:cNvSpPr>
          <p:nvPr/>
        </p:nvSpPr>
        <p:spPr>
          <a:xfrm xmlns:a="http://schemas.openxmlformats.org/drawingml/2006/main">
            <a:off x="3048000" y="1885950"/>
            <a:ext cx="2190750" cy="76200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8" name="">
            <a:extLst xmlns:a="http://schemas.openxmlformats.org/drawingml/2006/main">
              <a:ext uri="{FF2B5EF4-FFF2-40B4-BE49-F238E27FC236}">
                <a16:creationId xmlns:a16="http://schemas.microsoft.com/office/drawing/2014/main" id="{9CB689C0-3E5C-44BC-8CD5-0A0A1FE01339}"/>
              </a:ext>
            </a:extLst>
          </p:cNvPr>
          <p:cNvSpPr>
            <a:spLocks xmlns:a="http://schemas.openxmlformats.org/drawingml/2006/main" noGrp="1"/>
          </p:cNvSpPr>
          <p:nvPr/>
        </p:nvSpPr>
        <p:spPr>
          <a:xfrm xmlns:a="http://schemas.openxmlformats.org/drawingml/2006/main">
            <a:off x="3143250" y="1990725"/>
            <a:ext cx="2000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000000"/>
                </a:solidFill>
              </a:defRPr>
            </a:pPr>
            <a:r>
              <a:rPr sz="1125" b="1">
                <a:solidFill>
                  <a:srgbClr val="000000"/>
                </a:solidFill>
              </a:rPr>
              <a:t>统一入口</a:t>
            </a:r>
          </a:p>
          <a:p xmlns:a="http://schemas.openxmlformats.org/drawingml/2006/main">
            <a:pPr algn="ctr">
              <a:defRPr sz="1125" b="1">
                <a:solidFill>
                  <a:srgbClr val="000000"/>
                </a:solidFill>
              </a:defRPr>
            </a:pPr>
            <a:r>
              <a:rPr sz="1125" b="1">
                <a:solidFill>
                  <a:srgbClr val="000000"/>
                </a:solidFill>
              </a:rPr>
              <a:t>Ingress / WAF / API Gateway</a:t>
            </a:r>
          </a:p>
        </p:txBody>
      </p:sp>
      <p:sp>
        <p:nvSpPr>
          <p:cNvPr id="9" name="">
            <a:extLst xmlns:a="http://schemas.openxmlformats.org/drawingml/2006/main">
              <a:ext uri="{FF2B5EF4-FFF2-40B4-BE49-F238E27FC236}">
                <a16:creationId xmlns:a16="http://schemas.microsoft.com/office/drawing/2014/main" id="{EDB16D1B-501C-4E24-9C86-04759BCD614F}"/>
              </a:ext>
            </a:extLst>
          </p:cNvPr>
          <p:cNvSpPr>
            <a:spLocks xmlns:a="http://schemas.openxmlformats.org/drawingml/2006/main" noGrp="1"/>
          </p:cNvSpPr>
          <p:nvPr/>
        </p:nvSpPr>
        <p:spPr>
          <a:xfrm xmlns:a="http://schemas.openxmlformats.org/drawingml/2006/main">
            <a:off x="5429250" y="209550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0">
                <a:solidFill>
                  <a:srgbClr val="555555"/>
                </a:solidFill>
              </a:defRPr>
            </a:pPr>
            <a:r>
              <a:rPr sz="1800" b="0">
                <a:solidFill>
                  <a:srgbClr val="555555"/>
                </a:solidFill>
              </a:rPr>
              <a:t>→</a:t>
            </a:r>
          </a:p>
        </p:txBody>
      </p:sp>
      <p:sp>
        <p:nvSpPr>
          <p:cNvPr id="10" name="">
            <a:extLst xmlns:a="http://schemas.openxmlformats.org/drawingml/2006/main">
              <a:ext uri="{FF2B5EF4-FFF2-40B4-BE49-F238E27FC236}">
                <a16:creationId xmlns:a16="http://schemas.microsoft.com/office/drawing/2014/main" id="{B5FF23F4-FFC8-44CB-8385-A0E5DABF515F}"/>
              </a:ext>
            </a:extLst>
          </p:cNvPr>
          <p:cNvSpPr>
            <a:spLocks xmlns:a="http://schemas.openxmlformats.org/drawingml/2006/main" noGrp="1"/>
          </p:cNvSpPr>
          <p:nvPr/>
        </p:nvSpPr>
        <p:spPr>
          <a:xfrm xmlns:a="http://schemas.openxmlformats.org/drawingml/2006/main">
            <a:off x="5905500" y="1885950"/>
            <a:ext cx="2190750" cy="762000"/>
          </a:xfrm>
          <a:prstGeom xmlns:a="http://schemas.openxmlformats.org/drawingml/2006/main" prst="rect">
            <a:avLst/>
          </a:prstGeom>
          <a:solidFill xmlns:a="http://schemas.openxmlformats.org/drawingml/2006/main">
            <a:srgbClr val="F6F6F6"/>
          </a:solidFill>
          <a:ln xmlns:a="http://schemas.openxmlformats.org/drawingml/2006/main" w="9525">
            <a:solidFill>
              <a:srgbClr val="B8BCC4"/>
            </a:solidFill>
            <a:prstDash val="solid"/>
          </a:ln>
        </p:spPr>
      </p:sp>
      <p:sp>
        <p:nvSpPr>
          <p:cNvPr id="11" name="">
            <a:extLst xmlns:a="http://schemas.openxmlformats.org/drawingml/2006/main">
              <a:ext uri="{FF2B5EF4-FFF2-40B4-BE49-F238E27FC236}">
                <a16:creationId xmlns:a16="http://schemas.microsoft.com/office/drawing/2014/main" id="{1B04A17B-4D12-42C7-B2C3-5690B2A18950}"/>
              </a:ext>
            </a:extLst>
          </p:cNvPr>
          <p:cNvSpPr>
            <a:spLocks xmlns:a="http://schemas.openxmlformats.org/drawingml/2006/main" noGrp="1"/>
          </p:cNvSpPr>
          <p:nvPr/>
        </p:nvSpPr>
        <p:spPr>
          <a:xfrm xmlns:a="http://schemas.openxmlformats.org/drawingml/2006/main">
            <a:off x="6000750" y="1990725"/>
            <a:ext cx="2000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000000"/>
                </a:solidFill>
              </a:defRPr>
            </a:pPr>
            <a:r>
              <a:rPr sz="1125" b="1">
                <a:solidFill>
                  <a:srgbClr val="000000"/>
                </a:solidFill>
              </a:rPr>
              <a:t>软件工厂工作台</a:t>
            </a:r>
          </a:p>
          <a:p xmlns:a="http://schemas.openxmlformats.org/drawingml/2006/main">
            <a:pPr algn="ctr">
              <a:defRPr sz="1125" b="1">
                <a:solidFill>
                  <a:srgbClr val="000000"/>
                </a:solidFill>
              </a:defRPr>
            </a:pPr>
            <a:r>
              <a:rPr sz="1125" b="1">
                <a:solidFill>
                  <a:srgbClr val="000000"/>
                </a:solidFill>
              </a:rPr>
              <a:t>Web / SSE / 文件预览</a:t>
            </a:r>
          </a:p>
        </p:txBody>
      </p:sp>
      <p:sp>
        <p:nvSpPr>
          <p:cNvPr id="12" name="">
            <a:extLst xmlns:a="http://schemas.openxmlformats.org/drawingml/2006/main">
              <a:ext uri="{FF2B5EF4-FFF2-40B4-BE49-F238E27FC236}">
                <a16:creationId xmlns:a16="http://schemas.microsoft.com/office/drawing/2014/main" id="{250D2028-BCED-4FB4-893E-E5970972D418}"/>
              </a:ext>
            </a:extLst>
          </p:cNvPr>
          <p:cNvSpPr>
            <a:spLocks xmlns:a="http://schemas.openxmlformats.org/drawingml/2006/main" noGrp="1"/>
          </p:cNvSpPr>
          <p:nvPr/>
        </p:nvSpPr>
        <p:spPr>
          <a:xfrm xmlns:a="http://schemas.openxmlformats.org/drawingml/2006/main">
            <a:off x="666750" y="3190875"/>
            <a:ext cx="3238500" cy="1571625"/>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935C6F4-AC1C-4F67-952C-8351B0D3834E}"/>
              </a:ext>
            </a:extLst>
          </p:cNvPr>
          <p:cNvSpPr>
            <a:spLocks xmlns:a="http://schemas.openxmlformats.org/drawingml/2006/main" noGrp="1"/>
          </p:cNvSpPr>
          <p:nvPr/>
        </p:nvSpPr>
        <p:spPr>
          <a:xfrm xmlns:a="http://schemas.openxmlformats.org/drawingml/2006/main">
            <a:off x="952500" y="34480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FF6B35"/>
                </a:solidFill>
              </a:defRPr>
            </a:pPr>
            <a:r>
              <a:rPr sz="1125" b="1">
                <a:solidFill>
                  <a:srgbClr val="FF6B35"/>
                </a:solidFill>
              </a:rPr>
              <a:t>平台服务域</a:t>
            </a:r>
          </a:p>
        </p:txBody>
      </p:sp>
      <p:sp>
        <p:nvSpPr>
          <p:cNvPr id="14" name="">
            <a:extLst xmlns:a="http://schemas.openxmlformats.org/drawingml/2006/main">
              <a:ext uri="{FF2B5EF4-FFF2-40B4-BE49-F238E27FC236}">
                <a16:creationId xmlns:a16="http://schemas.microsoft.com/office/drawing/2014/main" id="{B512A593-476B-448D-BC5B-4EBD7FAABC5D}"/>
              </a:ext>
            </a:extLst>
          </p:cNvPr>
          <p:cNvSpPr>
            <a:spLocks xmlns:a="http://schemas.openxmlformats.org/drawingml/2006/main" noGrp="1"/>
          </p:cNvSpPr>
          <p:nvPr/>
        </p:nvSpPr>
        <p:spPr>
          <a:xfrm xmlns:a="http://schemas.openxmlformats.org/drawingml/2006/main">
            <a:off x="952500" y="3905250"/>
            <a:ext cx="247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222222"/>
                </a:solidFill>
              </a:defRPr>
            </a:pPr>
            <a:r>
              <a:rPr sz="1200" b="0">
                <a:solidFill>
                  <a:srgbClr val="222222"/>
                </a:solidFill>
              </a:rPr>
              <a:t>编排服务 / agent runtime / 市场服务 / 产物服务 / 权限与审计</a:t>
            </a:r>
          </a:p>
        </p:txBody>
      </p:sp>
      <p:sp>
        <p:nvSpPr>
          <p:cNvPr id="15" name="">
            <a:extLst xmlns:a="http://schemas.openxmlformats.org/drawingml/2006/main">
              <a:ext uri="{FF2B5EF4-FFF2-40B4-BE49-F238E27FC236}">
                <a16:creationId xmlns:a16="http://schemas.microsoft.com/office/drawing/2014/main" id="{CB7E3901-2B14-4FD7-A952-446E684B975C}"/>
              </a:ext>
            </a:extLst>
          </p:cNvPr>
          <p:cNvSpPr>
            <a:spLocks xmlns:a="http://schemas.openxmlformats.org/drawingml/2006/main" noGrp="1"/>
          </p:cNvSpPr>
          <p:nvPr/>
        </p:nvSpPr>
        <p:spPr>
          <a:xfrm xmlns:a="http://schemas.openxmlformats.org/drawingml/2006/main">
            <a:off x="4476750" y="3190875"/>
            <a:ext cx="3143250" cy="1571625"/>
          </a:xfrm>
          <a:prstGeom xmlns:a="http://schemas.openxmlformats.org/drawingml/2006/main" prst="rect">
            <a:avLst/>
          </a:prstGeom>
          <a:solidFill xmlns:a="http://schemas.openxmlformats.org/drawingml/2006/main">
            <a:srgbClr val="FFF4EF"/>
          </a:solidFill>
          <a:ln xmlns:a="http://schemas.openxmlformats.org/drawingml/2006/main" w="9525">
            <a:solidFill>
              <a:srgbClr val="FF6B35"/>
            </a:solidFill>
            <a:prstDash val="solid"/>
          </a:ln>
        </p:spPr>
      </p:sp>
      <p:sp>
        <p:nvSpPr>
          <p:cNvPr id="16" name="">
            <a:extLst xmlns:a="http://schemas.openxmlformats.org/drawingml/2006/main">
              <a:ext uri="{FF2B5EF4-FFF2-40B4-BE49-F238E27FC236}">
                <a16:creationId xmlns:a16="http://schemas.microsoft.com/office/drawing/2014/main" id="{143706D8-9E64-4A80-A461-A68A72C93027}"/>
              </a:ext>
            </a:extLst>
          </p:cNvPr>
          <p:cNvSpPr>
            <a:spLocks xmlns:a="http://schemas.openxmlformats.org/drawingml/2006/main" noGrp="1"/>
          </p:cNvSpPr>
          <p:nvPr/>
        </p:nvSpPr>
        <p:spPr>
          <a:xfrm xmlns:a="http://schemas.openxmlformats.org/drawingml/2006/main">
            <a:off x="4762500" y="34480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FF6B35"/>
                </a:solidFill>
              </a:defRPr>
            </a:pPr>
            <a:r>
              <a:rPr sz="1125" b="1">
                <a:solidFill>
                  <a:srgbClr val="FF6B35"/>
                </a:solidFill>
              </a:rPr>
              <a:t>执行节点池</a:t>
            </a:r>
          </a:p>
        </p:txBody>
      </p:sp>
      <p:sp>
        <p:nvSpPr>
          <p:cNvPr id="17" name="">
            <a:extLst xmlns:a="http://schemas.openxmlformats.org/drawingml/2006/main">
              <a:ext uri="{FF2B5EF4-FFF2-40B4-BE49-F238E27FC236}">
                <a16:creationId xmlns:a16="http://schemas.microsoft.com/office/drawing/2014/main" id="{F6E7E5EF-C37B-495B-8B39-1464D2DF4873}"/>
              </a:ext>
            </a:extLst>
          </p:cNvPr>
          <p:cNvSpPr>
            <a:spLocks xmlns:a="http://schemas.openxmlformats.org/drawingml/2006/main" noGrp="1"/>
          </p:cNvSpPr>
          <p:nvPr/>
        </p:nvSpPr>
        <p:spPr>
          <a:xfrm xmlns:a="http://schemas.openxmlformats.org/drawingml/2006/main">
            <a:off x="4762500" y="390525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222222"/>
                </a:solidFill>
              </a:defRPr>
            </a:pPr>
            <a:r>
              <a:rPr sz="1200" b="0">
                <a:solidFill>
                  <a:srgbClr val="222222"/>
                </a:solidFill>
              </a:rPr>
              <a:t>agent worker / 代码生成 worker / 测试构建 worker / 沙箱与容器运行时</a:t>
            </a:r>
          </a:p>
        </p:txBody>
      </p:sp>
      <p:sp>
        <p:nvSpPr>
          <p:cNvPr id="18" name="">
            <a:extLst xmlns:a="http://schemas.openxmlformats.org/drawingml/2006/main">
              <a:ext uri="{FF2B5EF4-FFF2-40B4-BE49-F238E27FC236}">
                <a16:creationId xmlns:a16="http://schemas.microsoft.com/office/drawing/2014/main" id="{AA392792-36D0-446C-A5AC-B90CD0FAD02F}"/>
              </a:ext>
            </a:extLst>
          </p:cNvPr>
          <p:cNvSpPr>
            <a:spLocks xmlns:a="http://schemas.openxmlformats.org/drawingml/2006/main" noGrp="1"/>
          </p:cNvSpPr>
          <p:nvPr/>
        </p:nvSpPr>
        <p:spPr>
          <a:xfrm xmlns:a="http://schemas.openxmlformats.org/drawingml/2006/main">
            <a:off x="8191500" y="3190875"/>
            <a:ext cx="3143250" cy="1571625"/>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73CBA46-34A1-4FE7-AE54-91C4B0661632}"/>
              </a:ext>
            </a:extLst>
          </p:cNvPr>
          <p:cNvSpPr>
            <a:spLocks xmlns:a="http://schemas.openxmlformats.org/drawingml/2006/main" noGrp="1"/>
          </p:cNvSpPr>
          <p:nvPr/>
        </p:nvSpPr>
        <p:spPr>
          <a:xfrm xmlns:a="http://schemas.openxmlformats.org/drawingml/2006/main">
            <a:off x="8477250" y="34480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FF6B35"/>
                </a:solidFill>
              </a:defRPr>
            </a:pPr>
            <a:r>
              <a:rPr sz="1125" b="1">
                <a:solidFill>
                  <a:srgbClr val="FF6B35"/>
                </a:solidFill>
              </a:rPr>
              <a:t>集成与数据边界</a:t>
            </a:r>
          </a:p>
        </p:txBody>
      </p:sp>
      <p:sp>
        <p:nvSpPr>
          <p:cNvPr id="20" name="">
            <a:extLst xmlns:a="http://schemas.openxmlformats.org/drawingml/2006/main">
              <a:ext uri="{FF2B5EF4-FFF2-40B4-BE49-F238E27FC236}">
                <a16:creationId xmlns:a16="http://schemas.microsoft.com/office/drawing/2014/main" id="{5167739D-F473-4E98-B17A-C491BA0F5685}"/>
              </a:ext>
            </a:extLst>
          </p:cNvPr>
          <p:cNvSpPr>
            <a:spLocks xmlns:a="http://schemas.openxmlformats.org/drawingml/2006/main" noGrp="1"/>
          </p:cNvSpPr>
          <p:nvPr/>
        </p:nvSpPr>
        <p:spPr>
          <a:xfrm xmlns:a="http://schemas.openxmlformats.org/drawingml/2006/main">
            <a:off x="8477250" y="3905250"/>
            <a:ext cx="238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222222"/>
                </a:solidFill>
              </a:defRPr>
            </a:pPr>
            <a:r>
              <a:rPr sz="1200" b="0">
                <a:solidFill>
                  <a:srgbClr val="222222"/>
                </a:solidFill>
              </a:rPr>
              <a:t>DevOps / 低代码 / 微服务 / 网关 / 观测 / 本体与客户系统连接器</a:t>
            </a:r>
          </a:p>
        </p:txBody>
      </p:sp>
      <p:sp>
        <p:nvSpPr>
          <p:cNvPr id="21" name="">
            <a:extLst xmlns:a="http://schemas.openxmlformats.org/drawingml/2006/main">
              <a:ext uri="{FF2B5EF4-FFF2-40B4-BE49-F238E27FC236}">
                <a16:creationId xmlns:a16="http://schemas.microsoft.com/office/drawing/2014/main" id="{66C3FFD9-BD50-46C0-836E-BF653F55DB8E}"/>
              </a:ext>
            </a:extLst>
          </p:cNvPr>
          <p:cNvSpPr>
            <a:spLocks xmlns:a="http://schemas.openxmlformats.org/drawingml/2006/main" noGrp="1"/>
          </p:cNvSpPr>
          <p:nvPr/>
        </p:nvSpPr>
        <p:spPr>
          <a:xfrm xmlns:a="http://schemas.openxmlformats.org/drawingml/2006/main">
            <a:off x="666750" y="5048250"/>
            <a:ext cx="47625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2" name="">
            <a:extLst xmlns:a="http://schemas.openxmlformats.org/drawingml/2006/main">
              <a:ext uri="{FF2B5EF4-FFF2-40B4-BE49-F238E27FC236}">
                <a16:creationId xmlns:a16="http://schemas.microsoft.com/office/drawing/2014/main" id="{EC3B63D2-1AD2-457A-8780-372BB5F8C180}"/>
              </a:ext>
            </a:extLst>
          </p:cNvPr>
          <p:cNvSpPr>
            <a:spLocks xmlns:a="http://schemas.openxmlformats.org/drawingml/2006/main" noGrp="1"/>
          </p:cNvSpPr>
          <p:nvPr/>
        </p:nvSpPr>
        <p:spPr>
          <a:xfrm xmlns:a="http://schemas.openxmlformats.org/drawingml/2006/main">
            <a:off x="762000" y="5153025"/>
            <a:ext cx="457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000000"/>
                </a:solidFill>
              </a:defRPr>
            </a:pPr>
            <a:r>
              <a:rPr sz="1125" b="1">
                <a:solidFill>
                  <a:srgbClr val="000000"/>
                </a:solidFill>
              </a:rPr>
              <a:t>共享存储与知识资产</a:t>
            </a:r>
          </a:p>
          <a:p xmlns:a="http://schemas.openxmlformats.org/drawingml/2006/main">
            <a:pPr algn="ctr">
              <a:defRPr sz="1125" b="1">
                <a:solidFill>
                  <a:srgbClr val="000000"/>
                </a:solidFill>
              </a:defRPr>
            </a:pPr>
            <a:r>
              <a:rPr sz="1125" b="1">
                <a:solidFill>
                  <a:srgbClr val="000000"/>
                </a:solidFill>
              </a:rPr>
              <a:t>会话、任务、产物、知识库、领域能力包、审计事件</a:t>
            </a:r>
          </a:p>
        </p:txBody>
      </p:sp>
      <p:sp>
        <p:nvSpPr>
          <p:cNvPr id="23" name="">
            <a:extLst xmlns:a="http://schemas.openxmlformats.org/drawingml/2006/main">
              <a:ext uri="{FF2B5EF4-FFF2-40B4-BE49-F238E27FC236}">
                <a16:creationId xmlns:a16="http://schemas.microsoft.com/office/drawing/2014/main" id="{33029DCB-B94C-44F6-9DE6-CAE00DE63C18}"/>
              </a:ext>
            </a:extLst>
          </p:cNvPr>
          <p:cNvSpPr>
            <a:spLocks xmlns:a="http://schemas.openxmlformats.org/drawingml/2006/main" noGrp="1"/>
          </p:cNvSpPr>
          <p:nvPr/>
        </p:nvSpPr>
        <p:spPr>
          <a:xfrm xmlns:a="http://schemas.openxmlformats.org/drawingml/2006/main">
            <a:off x="6572250" y="5048250"/>
            <a:ext cx="4762500" cy="5524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24" name="">
            <a:extLst xmlns:a="http://schemas.openxmlformats.org/drawingml/2006/main">
              <a:ext uri="{FF2B5EF4-FFF2-40B4-BE49-F238E27FC236}">
                <a16:creationId xmlns:a16="http://schemas.microsoft.com/office/drawing/2014/main" id="{582E8181-4154-475A-B29A-0AABE427A1FA}"/>
              </a:ext>
            </a:extLst>
          </p:cNvPr>
          <p:cNvSpPr>
            <a:spLocks xmlns:a="http://schemas.openxmlformats.org/drawingml/2006/main" noGrp="1"/>
          </p:cNvSpPr>
          <p:nvPr/>
        </p:nvSpPr>
        <p:spPr>
          <a:xfrm xmlns:a="http://schemas.openxmlformats.org/drawingml/2006/main">
            <a:off x="6667500" y="5153025"/>
            <a:ext cx="457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000000"/>
                </a:solidFill>
              </a:defRPr>
            </a:pPr>
            <a:r>
              <a:rPr sz="1125" b="1">
                <a:solidFill>
                  <a:srgbClr val="000000"/>
                </a:solidFill>
              </a:rPr>
              <a:t>生成应用运行域</a:t>
            </a:r>
          </a:p>
          <a:p xmlns:a="http://schemas.openxmlformats.org/drawingml/2006/main">
            <a:pPr algn="ctr">
              <a:defRPr sz="1125" b="1">
                <a:solidFill>
                  <a:srgbClr val="000000"/>
                </a:solidFill>
              </a:defRPr>
            </a:pPr>
            <a:r>
              <a:rPr sz="1125" b="1">
                <a:solidFill>
                  <a:srgbClr val="000000"/>
                </a:solidFill>
              </a:rPr>
              <a:t>Kubernetes / 容器 / 应用网关 / 数据代理</a:t>
            </a:r>
          </a:p>
        </p:txBody>
      </p:sp>
      <p:sp>
        <p:nvSpPr>
          <p:cNvPr id="25" name="">
            <a:extLst xmlns:a="http://schemas.openxmlformats.org/drawingml/2006/main">
              <a:ext uri="{FF2B5EF4-FFF2-40B4-BE49-F238E27FC236}">
                <a16:creationId xmlns:a16="http://schemas.microsoft.com/office/drawing/2014/main" id="{A580AD9A-B56E-4A08-A05B-251E755D0FEA}"/>
              </a:ext>
            </a:extLst>
          </p:cNvPr>
          <p:cNvSpPr>
            <a:spLocks xmlns:a="http://schemas.openxmlformats.org/drawingml/2006/main" noGrp="1"/>
          </p:cNvSpPr>
          <p:nvPr/>
        </p:nvSpPr>
        <p:spPr>
          <a:xfrm xmlns:a="http://schemas.openxmlformats.org/drawingml/2006/main">
            <a:off x="666750" y="5810250"/>
            <a:ext cx="981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00000"/>
                </a:solidFill>
              </a:defRPr>
            </a:pPr>
            <a:r>
              <a:rPr sz="1500" b="1">
                <a:solidFill>
                  <a:srgbClr val="000000"/>
                </a:solidFill>
              </a:rPr>
              <a:t>部署目标是让 agent 执行可弹性扩展，云产品连接可治理，生成应用与平台服务解耦运行。</a:t>
            </a:r>
          </a:p>
        </p:txBody>
      </p:sp>
      <p:sp>
        <p:nvSpPr>
          <p:cNvPr id="26" name="">
            <a:extLst xmlns:a="http://schemas.openxmlformats.org/drawingml/2006/main">
              <a:ext uri="{FF2B5EF4-FFF2-40B4-BE49-F238E27FC236}">
                <a16:creationId xmlns:a16="http://schemas.microsoft.com/office/drawing/2014/main" id="{E6634B20-8C7E-4879-8DD0-1A2C40CF4E57}"/>
              </a:ext>
            </a:extLst>
          </p:cNvPr>
          <p:cNvSpPr>
            <a:spLocks xmlns:a="http://schemas.openxmlformats.org/drawingml/2006/main" noGrp="1"/>
          </p:cNvSpPr>
          <p:nvPr/>
        </p:nvSpPr>
        <p:spPr>
          <a:xfrm xmlns:a="http://schemas.openxmlformats.org/drawingml/2006/main">
            <a:off x="514350" y="63817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55555"/>
                </a:solidFill>
              </a:defRPr>
            </a:pPr>
            <a:r>
              <a:rPr sz="1050" b="0">
                <a:solidFill>
                  <a:srgbClr val="555555"/>
                </a:solidFill>
              </a:rPr>
              <a:t>西安 630 项目软件工厂复盘</a:t>
            </a:r>
          </a:p>
        </p:txBody>
      </p:sp>
      <p:sp>
        <p:nvSpPr>
          <p:cNvPr id="27" name="">
            <a:extLst xmlns:a="http://schemas.openxmlformats.org/drawingml/2006/main">
              <a:ext uri="{FF2B5EF4-FFF2-40B4-BE49-F238E27FC236}">
                <a16:creationId xmlns:a16="http://schemas.microsoft.com/office/drawing/2014/main" id="{5FCF8720-2FE6-43E4-B8CA-D24EE23D5A53}"/>
              </a:ext>
            </a:extLst>
          </p:cNvPr>
          <p:cNvSpPr>
            <a:spLocks xmlns:a="http://schemas.openxmlformats.org/drawingml/2006/main" noGrp="1"/>
          </p:cNvSpPr>
          <p:nvPr/>
        </p:nvSpPr>
        <p:spPr>
          <a:xfrm xmlns:a="http://schemas.openxmlformats.org/drawingml/2006/main">
            <a:off x="11287125" y="63817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555555"/>
                </a:solidFill>
              </a:defRPr>
            </a:pPr>
            <a:r>
              <a:rPr sz="1050" b="1">
                <a:solidFill>
                  <a:srgbClr val="555555"/>
                </a:solidFill>
              </a:rPr>
              <a:t>09</a:t>
            </a:r>
          </a:p>
        </p:txBody>
      </p:sp>
    </p:spTree>
    <p:extLst>
      <p:ext uri="{BB962C8B-B14F-4D97-AF65-F5344CB8AC3E}">
        <p14:creationId xmlns:p14="http://schemas.microsoft.com/office/powerpoint/2010/main" val="200336559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6C4A6D1-8D40-44EB-BC45-22F2C7130643}"/>
              </a:ext>
            </a:extLst>
          </p:cNvPr>
          <p:cNvSpPr>
            <a:spLocks xmlns:a="http://schemas.openxmlformats.org/drawingml/2006/main" noGrp="1"/>
          </p:cNvSpPr>
          <p:nvPr/>
        </p:nvSpPr>
        <p:spPr>
          <a:xfrm xmlns:a="http://schemas.openxmlformats.org/drawingml/2006/main">
            <a:off x="514350" y="342900"/>
            <a:ext cx="10191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0000"/>
                </a:solidFill>
              </a:defRPr>
            </a:pPr>
            <a:r>
              <a:rPr sz="2700" b="1">
                <a:solidFill>
                  <a:srgbClr val="000000"/>
                </a:solidFill>
              </a:rPr>
              <a:t>默认主链路、动态 agent 和能力市场共同构成扩展机制</a:t>
            </a:r>
          </a:p>
        </p:txBody>
      </p:sp>
      <p:sp>
        <p:nvSpPr>
          <p:cNvPr id="2" name="">
            <a:extLst xmlns:a="http://schemas.openxmlformats.org/drawingml/2006/main">
              <a:ext uri="{FF2B5EF4-FFF2-40B4-BE49-F238E27FC236}">
                <a16:creationId xmlns:a16="http://schemas.microsoft.com/office/drawing/2014/main" id="{495AD820-7426-4031-A247-2608D57209BC}"/>
              </a:ext>
            </a:extLst>
          </p:cNvPr>
          <p:cNvSpPr>
            <a:spLocks xmlns:a="http://schemas.openxmlformats.org/drawingml/2006/main" noGrp="1"/>
          </p:cNvSpPr>
          <p:nvPr/>
        </p:nvSpPr>
        <p:spPr>
          <a:xfrm xmlns:a="http://schemas.openxmlformats.org/drawingml/2006/main">
            <a:off x="514350" y="12001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55555"/>
                </a:solidFill>
              </a:defRPr>
            </a:pPr>
            <a:r>
              <a:rPr sz="1275" b="0">
                <a:solidFill>
                  <a:srgbClr val="555555"/>
                </a:solidFill>
              </a:rPr>
              <a:t>市场负责发现和分发，库负责本地可用和治理。</a:t>
            </a:r>
          </a:p>
        </p:txBody>
      </p:sp>
      <p:sp>
        <p:nvSpPr>
          <p:cNvPr id="3" name="">
            <a:extLst xmlns:a="http://schemas.openxmlformats.org/drawingml/2006/main">
              <a:ext uri="{FF2B5EF4-FFF2-40B4-BE49-F238E27FC236}">
                <a16:creationId xmlns:a16="http://schemas.microsoft.com/office/drawing/2014/main" id="{B8E1FF5C-D1B2-497F-B937-1907449698A0}"/>
              </a:ext>
            </a:extLst>
          </p:cNvPr>
          <p:cNvSpPr>
            <a:spLocks xmlns:a="http://schemas.openxmlformats.org/drawingml/2006/main" noGrp="1"/>
          </p:cNvSpPr>
          <p:nvPr/>
        </p:nvSpPr>
        <p:spPr>
          <a:xfrm xmlns:a="http://schemas.openxmlformats.org/drawingml/2006/main">
            <a:off x="514350" y="1581150"/>
            <a:ext cx="111633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60F187F7-7638-4EA5-BD92-EACC80E56DC7}"/>
              </a:ext>
            </a:extLst>
          </p:cNvPr>
          <p:cNvSpPr>
            <a:spLocks xmlns:a="http://schemas.openxmlformats.org/drawingml/2006/main" noGrp="1"/>
          </p:cNvSpPr>
          <p:nvPr/>
        </p:nvSpPr>
        <p:spPr>
          <a:xfrm xmlns:a="http://schemas.openxmlformats.org/drawingml/2006/main">
            <a:off x="666750" y="1809750"/>
            <a:ext cx="3295650" cy="3571875"/>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F97D0A9-0E54-4A39-8320-F30EC1FE229A}"/>
              </a:ext>
            </a:extLst>
          </p:cNvPr>
          <p:cNvSpPr>
            <a:spLocks xmlns:a="http://schemas.openxmlformats.org/drawingml/2006/main" noGrp="1"/>
          </p:cNvSpPr>
          <p:nvPr/>
        </p:nvSpPr>
        <p:spPr>
          <a:xfrm xmlns:a="http://schemas.openxmlformats.org/drawingml/2006/main">
            <a:off x="895350" y="2095500"/>
            <a:ext cx="2838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00000"/>
                </a:solidFill>
              </a:defRPr>
            </a:pPr>
            <a:r>
              <a:rPr sz="1725" b="1">
                <a:solidFill>
                  <a:srgbClr val="000000"/>
                </a:solidFill>
              </a:rPr>
              <a:t>默认生产主链路</a:t>
            </a:r>
          </a:p>
        </p:txBody>
      </p:sp>
      <p:sp>
        <p:nvSpPr>
          <p:cNvPr id="6" name="">
            <a:extLst xmlns:a="http://schemas.openxmlformats.org/drawingml/2006/main">
              <a:ext uri="{FF2B5EF4-FFF2-40B4-BE49-F238E27FC236}">
                <a16:creationId xmlns:a16="http://schemas.microsoft.com/office/drawing/2014/main" id="{BEB4B675-9F43-4E36-98EE-1350C5FE4514}"/>
              </a:ext>
            </a:extLst>
          </p:cNvPr>
          <p:cNvSpPr>
            <a:spLocks xmlns:a="http://schemas.openxmlformats.org/drawingml/2006/main" noGrp="1"/>
          </p:cNvSpPr>
          <p:nvPr/>
        </p:nvSpPr>
        <p:spPr>
          <a:xfrm xmlns:a="http://schemas.openxmlformats.org/drawingml/2006/main">
            <a:off x="895350" y="27432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CF0F22E8-04B8-47B4-BBDF-994F389CDC63}"/>
              </a:ext>
            </a:extLst>
          </p:cNvPr>
          <p:cNvSpPr>
            <a:spLocks xmlns:a="http://schemas.openxmlformats.org/drawingml/2006/main" noGrp="1"/>
          </p:cNvSpPr>
          <p:nvPr/>
        </p:nvSpPr>
        <p:spPr>
          <a:xfrm xmlns:a="http://schemas.openxmlformats.org/drawingml/2006/main">
            <a:off x="1066800" y="26670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00000"/>
                </a:solidFill>
              </a:defRPr>
            </a:pPr>
            <a:r>
              <a:rPr sz="1200" b="0">
                <a:solidFill>
                  <a:srgbClr val="000000"/>
                </a:solidFill>
              </a:rPr>
              <a:t>需求分析</a:t>
            </a:r>
          </a:p>
        </p:txBody>
      </p:sp>
      <p:sp>
        <p:nvSpPr>
          <p:cNvPr id="8" name="">
            <a:extLst xmlns:a="http://schemas.openxmlformats.org/drawingml/2006/main">
              <a:ext uri="{FF2B5EF4-FFF2-40B4-BE49-F238E27FC236}">
                <a16:creationId xmlns:a16="http://schemas.microsoft.com/office/drawing/2014/main" id="{B300E019-951B-48F3-AD71-D5E4DD27269C}"/>
              </a:ext>
            </a:extLst>
          </p:cNvPr>
          <p:cNvSpPr>
            <a:spLocks xmlns:a="http://schemas.openxmlformats.org/drawingml/2006/main" noGrp="1"/>
          </p:cNvSpPr>
          <p:nvPr/>
        </p:nvSpPr>
        <p:spPr>
          <a:xfrm xmlns:a="http://schemas.openxmlformats.org/drawingml/2006/main">
            <a:off x="895350" y="30480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3C8629AD-6436-42C3-AA41-2AA047F93F34}"/>
              </a:ext>
            </a:extLst>
          </p:cNvPr>
          <p:cNvSpPr>
            <a:spLocks xmlns:a="http://schemas.openxmlformats.org/drawingml/2006/main" noGrp="1"/>
          </p:cNvSpPr>
          <p:nvPr/>
        </p:nvSpPr>
        <p:spPr>
          <a:xfrm xmlns:a="http://schemas.openxmlformats.org/drawingml/2006/main">
            <a:off x="1066800" y="29718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00000"/>
                </a:solidFill>
              </a:defRPr>
            </a:pPr>
            <a:r>
              <a:rPr sz="1200" b="0">
                <a:solidFill>
                  <a:srgbClr val="000000"/>
                </a:solidFill>
              </a:rPr>
              <a:t>测试设计</a:t>
            </a:r>
          </a:p>
        </p:txBody>
      </p:sp>
      <p:sp>
        <p:nvSpPr>
          <p:cNvPr id="10" name="">
            <a:extLst xmlns:a="http://schemas.openxmlformats.org/drawingml/2006/main">
              <a:ext uri="{FF2B5EF4-FFF2-40B4-BE49-F238E27FC236}">
                <a16:creationId xmlns:a16="http://schemas.microsoft.com/office/drawing/2014/main" id="{201C127B-322D-4F20-9D77-5CDB7AD4145B}"/>
              </a:ext>
            </a:extLst>
          </p:cNvPr>
          <p:cNvSpPr>
            <a:spLocks xmlns:a="http://schemas.openxmlformats.org/drawingml/2006/main" noGrp="1"/>
          </p:cNvSpPr>
          <p:nvPr/>
        </p:nvSpPr>
        <p:spPr>
          <a:xfrm xmlns:a="http://schemas.openxmlformats.org/drawingml/2006/main">
            <a:off x="895350" y="33528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E769E15E-EE35-4874-BF16-66AD7776C6D1}"/>
              </a:ext>
            </a:extLst>
          </p:cNvPr>
          <p:cNvSpPr>
            <a:spLocks xmlns:a="http://schemas.openxmlformats.org/drawingml/2006/main" noGrp="1"/>
          </p:cNvSpPr>
          <p:nvPr/>
        </p:nvSpPr>
        <p:spPr>
          <a:xfrm xmlns:a="http://schemas.openxmlformats.org/drawingml/2006/main">
            <a:off x="1066800" y="32766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00000"/>
                </a:solidFill>
              </a:defRPr>
            </a:pPr>
            <a:r>
              <a:rPr sz="1200" b="0">
                <a:solidFill>
                  <a:srgbClr val="000000"/>
                </a:solidFill>
              </a:rPr>
              <a:t>方案设计</a:t>
            </a:r>
          </a:p>
        </p:txBody>
      </p:sp>
      <p:sp>
        <p:nvSpPr>
          <p:cNvPr id="12" name="">
            <a:extLst xmlns:a="http://schemas.openxmlformats.org/drawingml/2006/main">
              <a:ext uri="{FF2B5EF4-FFF2-40B4-BE49-F238E27FC236}">
                <a16:creationId xmlns:a16="http://schemas.microsoft.com/office/drawing/2014/main" id="{C6259CBA-DAA2-4C79-A881-0589A0FA3BDA}"/>
              </a:ext>
            </a:extLst>
          </p:cNvPr>
          <p:cNvSpPr>
            <a:spLocks xmlns:a="http://schemas.openxmlformats.org/drawingml/2006/main" noGrp="1"/>
          </p:cNvSpPr>
          <p:nvPr/>
        </p:nvSpPr>
        <p:spPr>
          <a:xfrm xmlns:a="http://schemas.openxmlformats.org/drawingml/2006/main">
            <a:off x="895350" y="36576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5ED2127D-91C0-4C05-82FD-9E4B12054312}"/>
              </a:ext>
            </a:extLst>
          </p:cNvPr>
          <p:cNvSpPr>
            <a:spLocks xmlns:a="http://schemas.openxmlformats.org/drawingml/2006/main" noGrp="1"/>
          </p:cNvSpPr>
          <p:nvPr/>
        </p:nvSpPr>
        <p:spPr>
          <a:xfrm xmlns:a="http://schemas.openxmlformats.org/drawingml/2006/main">
            <a:off x="1066800" y="35814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00000"/>
                </a:solidFill>
              </a:defRPr>
            </a:pPr>
            <a:r>
              <a:rPr sz="1200" b="0">
                <a:solidFill>
                  <a:srgbClr val="000000"/>
                </a:solidFill>
              </a:rPr>
              <a:t>代码生成</a:t>
            </a:r>
          </a:p>
        </p:txBody>
      </p:sp>
      <p:sp>
        <p:nvSpPr>
          <p:cNvPr id="14" name="">
            <a:extLst xmlns:a="http://schemas.openxmlformats.org/drawingml/2006/main">
              <a:ext uri="{FF2B5EF4-FFF2-40B4-BE49-F238E27FC236}">
                <a16:creationId xmlns:a16="http://schemas.microsoft.com/office/drawing/2014/main" id="{601C80BE-E3F3-4053-82D2-C0B2A6070401}"/>
              </a:ext>
            </a:extLst>
          </p:cNvPr>
          <p:cNvSpPr>
            <a:spLocks xmlns:a="http://schemas.openxmlformats.org/drawingml/2006/main" noGrp="1"/>
          </p:cNvSpPr>
          <p:nvPr/>
        </p:nvSpPr>
        <p:spPr>
          <a:xfrm xmlns:a="http://schemas.openxmlformats.org/drawingml/2006/main">
            <a:off x="895350" y="39624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F55CF7E0-C256-4FAA-B7B9-7F574883C9D9}"/>
              </a:ext>
            </a:extLst>
          </p:cNvPr>
          <p:cNvSpPr>
            <a:spLocks xmlns:a="http://schemas.openxmlformats.org/drawingml/2006/main" noGrp="1"/>
          </p:cNvSpPr>
          <p:nvPr/>
        </p:nvSpPr>
        <p:spPr>
          <a:xfrm xmlns:a="http://schemas.openxmlformats.org/drawingml/2006/main">
            <a:off x="1066800" y="38862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00000"/>
                </a:solidFill>
              </a:defRPr>
            </a:pPr>
            <a:r>
              <a:rPr sz="1200" b="0">
                <a:solidFill>
                  <a:srgbClr val="000000"/>
                </a:solidFill>
              </a:rPr>
              <a:t>测试生成</a:t>
            </a:r>
          </a:p>
        </p:txBody>
      </p:sp>
      <p:sp>
        <p:nvSpPr>
          <p:cNvPr id="16" name="">
            <a:extLst xmlns:a="http://schemas.openxmlformats.org/drawingml/2006/main">
              <a:ext uri="{FF2B5EF4-FFF2-40B4-BE49-F238E27FC236}">
                <a16:creationId xmlns:a16="http://schemas.microsoft.com/office/drawing/2014/main" id="{081D778C-3A7F-4CD5-8F96-3889104E7A6B}"/>
              </a:ext>
            </a:extLst>
          </p:cNvPr>
          <p:cNvSpPr>
            <a:spLocks xmlns:a="http://schemas.openxmlformats.org/drawingml/2006/main" noGrp="1"/>
          </p:cNvSpPr>
          <p:nvPr/>
        </p:nvSpPr>
        <p:spPr>
          <a:xfrm xmlns:a="http://schemas.openxmlformats.org/drawingml/2006/main">
            <a:off x="895350" y="42672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C634FBE0-BAE1-441E-A01B-03FC9413B355}"/>
              </a:ext>
            </a:extLst>
          </p:cNvPr>
          <p:cNvSpPr>
            <a:spLocks xmlns:a="http://schemas.openxmlformats.org/drawingml/2006/main" noGrp="1"/>
          </p:cNvSpPr>
          <p:nvPr/>
        </p:nvSpPr>
        <p:spPr>
          <a:xfrm xmlns:a="http://schemas.openxmlformats.org/drawingml/2006/main">
            <a:off x="1066800" y="41910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00000"/>
                </a:solidFill>
              </a:defRPr>
            </a:pPr>
            <a:r>
              <a:rPr sz="1200" b="0">
                <a:solidFill>
                  <a:srgbClr val="000000"/>
                </a:solidFill>
              </a:rPr>
              <a:t>测试验证</a:t>
            </a:r>
          </a:p>
        </p:txBody>
      </p:sp>
      <p:sp>
        <p:nvSpPr>
          <p:cNvPr id="18" name="">
            <a:extLst xmlns:a="http://schemas.openxmlformats.org/drawingml/2006/main">
              <a:ext uri="{FF2B5EF4-FFF2-40B4-BE49-F238E27FC236}">
                <a16:creationId xmlns:a16="http://schemas.microsoft.com/office/drawing/2014/main" id="{0E458B67-1291-4E68-92CF-9ACEAB410C19}"/>
              </a:ext>
            </a:extLst>
          </p:cNvPr>
          <p:cNvSpPr>
            <a:spLocks xmlns:a="http://schemas.openxmlformats.org/drawingml/2006/main" noGrp="1"/>
          </p:cNvSpPr>
          <p:nvPr/>
        </p:nvSpPr>
        <p:spPr>
          <a:xfrm xmlns:a="http://schemas.openxmlformats.org/drawingml/2006/main">
            <a:off x="895350" y="45720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50A44B94-F6EB-4847-ACF2-EE75CB493D39}"/>
              </a:ext>
            </a:extLst>
          </p:cNvPr>
          <p:cNvSpPr>
            <a:spLocks xmlns:a="http://schemas.openxmlformats.org/drawingml/2006/main" noGrp="1"/>
          </p:cNvSpPr>
          <p:nvPr/>
        </p:nvSpPr>
        <p:spPr>
          <a:xfrm xmlns:a="http://schemas.openxmlformats.org/drawingml/2006/main">
            <a:off x="1066800" y="44958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00000"/>
                </a:solidFill>
              </a:defRPr>
            </a:pPr>
            <a:r>
              <a:rPr sz="1200" b="0">
                <a:solidFill>
                  <a:srgbClr val="000000"/>
                </a:solidFill>
              </a:rPr>
              <a:t>代码审查</a:t>
            </a:r>
          </a:p>
        </p:txBody>
      </p:sp>
      <p:sp>
        <p:nvSpPr>
          <p:cNvPr id="20" name="">
            <a:extLst xmlns:a="http://schemas.openxmlformats.org/drawingml/2006/main">
              <a:ext uri="{FF2B5EF4-FFF2-40B4-BE49-F238E27FC236}">
                <a16:creationId xmlns:a16="http://schemas.microsoft.com/office/drawing/2014/main" id="{D9FCCF16-1F8B-445B-8CEC-C79F57D38C0D}"/>
              </a:ext>
            </a:extLst>
          </p:cNvPr>
          <p:cNvSpPr>
            <a:spLocks xmlns:a="http://schemas.openxmlformats.org/drawingml/2006/main" noGrp="1"/>
          </p:cNvSpPr>
          <p:nvPr/>
        </p:nvSpPr>
        <p:spPr>
          <a:xfrm xmlns:a="http://schemas.openxmlformats.org/drawingml/2006/main">
            <a:off x="895350" y="48768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21" name="">
            <a:extLst xmlns:a="http://schemas.openxmlformats.org/drawingml/2006/main">
              <a:ext uri="{FF2B5EF4-FFF2-40B4-BE49-F238E27FC236}">
                <a16:creationId xmlns:a16="http://schemas.microsoft.com/office/drawing/2014/main" id="{FB65FF21-5EB2-4E6E-A9A4-8F461D66D354}"/>
              </a:ext>
            </a:extLst>
          </p:cNvPr>
          <p:cNvSpPr>
            <a:spLocks xmlns:a="http://schemas.openxmlformats.org/drawingml/2006/main" noGrp="1"/>
          </p:cNvSpPr>
          <p:nvPr/>
        </p:nvSpPr>
        <p:spPr>
          <a:xfrm xmlns:a="http://schemas.openxmlformats.org/drawingml/2006/main">
            <a:off x="1066800" y="48006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00000"/>
                </a:solidFill>
              </a:defRPr>
            </a:pPr>
            <a:r>
              <a:rPr sz="1200" b="0">
                <a:solidFill>
                  <a:srgbClr val="000000"/>
                </a:solidFill>
              </a:rPr>
              <a:t>部署交付</a:t>
            </a:r>
          </a:p>
        </p:txBody>
      </p:sp>
      <p:sp>
        <p:nvSpPr>
          <p:cNvPr id="22" name="">
            <a:extLst xmlns:a="http://schemas.openxmlformats.org/drawingml/2006/main">
              <a:ext uri="{FF2B5EF4-FFF2-40B4-BE49-F238E27FC236}">
                <a16:creationId xmlns:a16="http://schemas.microsoft.com/office/drawing/2014/main" id="{53FA1D9A-6961-40DB-9A03-67E2EA0EF70C}"/>
              </a:ext>
            </a:extLst>
          </p:cNvPr>
          <p:cNvSpPr>
            <a:spLocks xmlns:a="http://schemas.openxmlformats.org/drawingml/2006/main" noGrp="1"/>
          </p:cNvSpPr>
          <p:nvPr/>
        </p:nvSpPr>
        <p:spPr>
          <a:xfrm xmlns:a="http://schemas.openxmlformats.org/drawingml/2006/main">
            <a:off x="895350" y="51816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3A9837AC-1316-459F-9346-0B95AD5EFD55}"/>
              </a:ext>
            </a:extLst>
          </p:cNvPr>
          <p:cNvSpPr>
            <a:spLocks xmlns:a="http://schemas.openxmlformats.org/drawingml/2006/main" noGrp="1"/>
          </p:cNvSpPr>
          <p:nvPr/>
        </p:nvSpPr>
        <p:spPr>
          <a:xfrm xmlns:a="http://schemas.openxmlformats.org/drawingml/2006/main">
            <a:off x="1066800" y="51054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00000"/>
                </a:solidFill>
              </a:defRPr>
            </a:pPr>
            <a:r>
              <a:rPr sz="1200" b="0">
                <a:solidFill>
                  <a:srgbClr val="000000"/>
                </a:solidFill>
              </a:rPr>
              <a:t>观测回写</a:t>
            </a:r>
          </a:p>
        </p:txBody>
      </p:sp>
      <p:sp>
        <p:nvSpPr>
          <p:cNvPr id="24" name="">
            <a:extLst xmlns:a="http://schemas.openxmlformats.org/drawingml/2006/main">
              <a:ext uri="{FF2B5EF4-FFF2-40B4-BE49-F238E27FC236}">
                <a16:creationId xmlns:a16="http://schemas.microsoft.com/office/drawing/2014/main" id="{4783044A-501F-4F2F-81E5-495D4EC47FC4}"/>
              </a:ext>
            </a:extLst>
          </p:cNvPr>
          <p:cNvSpPr>
            <a:spLocks xmlns:a="http://schemas.openxmlformats.org/drawingml/2006/main" noGrp="1"/>
          </p:cNvSpPr>
          <p:nvPr/>
        </p:nvSpPr>
        <p:spPr>
          <a:xfrm xmlns:a="http://schemas.openxmlformats.org/drawingml/2006/main">
            <a:off x="4438650" y="1809750"/>
            <a:ext cx="3295650" cy="3571875"/>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FF9B1F3C-F0A9-44BB-B120-25509712CA50}"/>
              </a:ext>
            </a:extLst>
          </p:cNvPr>
          <p:cNvSpPr>
            <a:spLocks xmlns:a="http://schemas.openxmlformats.org/drawingml/2006/main" noGrp="1"/>
          </p:cNvSpPr>
          <p:nvPr/>
        </p:nvSpPr>
        <p:spPr>
          <a:xfrm xmlns:a="http://schemas.openxmlformats.org/drawingml/2006/main">
            <a:off x="4667250" y="2095500"/>
            <a:ext cx="2838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00000"/>
                </a:solidFill>
              </a:defRPr>
            </a:pPr>
            <a:r>
              <a:rPr sz="1725" b="1">
                <a:solidFill>
                  <a:srgbClr val="000000"/>
                </a:solidFill>
              </a:rPr>
              <a:t>动态扩展专业 agent</a:t>
            </a:r>
          </a:p>
        </p:txBody>
      </p:sp>
      <p:sp>
        <p:nvSpPr>
          <p:cNvPr id="26" name="">
            <a:extLst xmlns:a="http://schemas.openxmlformats.org/drawingml/2006/main">
              <a:ext uri="{FF2B5EF4-FFF2-40B4-BE49-F238E27FC236}">
                <a16:creationId xmlns:a16="http://schemas.microsoft.com/office/drawing/2014/main" id="{7FCC8218-DECC-4C08-AF12-618AAFFF6CF1}"/>
              </a:ext>
            </a:extLst>
          </p:cNvPr>
          <p:cNvSpPr>
            <a:spLocks xmlns:a="http://schemas.openxmlformats.org/drawingml/2006/main" noGrp="1"/>
          </p:cNvSpPr>
          <p:nvPr/>
        </p:nvSpPr>
        <p:spPr>
          <a:xfrm xmlns:a="http://schemas.openxmlformats.org/drawingml/2006/main">
            <a:off x="4667250" y="27432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D3479E53-40E4-4B5C-9625-B338DB69EA74}"/>
              </a:ext>
            </a:extLst>
          </p:cNvPr>
          <p:cNvSpPr>
            <a:spLocks xmlns:a="http://schemas.openxmlformats.org/drawingml/2006/main" noGrp="1"/>
          </p:cNvSpPr>
          <p:nvPr/>
        </p:nvSpPr>
        <p:spPr>
          <a:xfrm xmlns:a="http://schemas.openxmlformats.org/drawingml/2006/main">
            <a:off x="4838700" y="26670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00000"/>
                </a:solidFill>
              </a:defRPr>
            </a:pPr>
            <a:r>
              <a:rPr sz="1200" b="0">
                <a:solidFill>
                  <a:srgbClr val="000000"/>
                </a:solidFill>
              </a:rPr>
              <a:t>领域知识 agent</a:t>
            </a:r>
          </a:p>
        </p:txBody>
      </p:sp>
      <p:sp>
        <p:nvSpPr>
          <p:cNvPr id="28" name="">
            <a:extLst xmlns:a="http://schemas.openxmlformats.org/drawingml/2006/main">
              <a:ext uri="{FF2B5EF4-FFF2-40B4-BE49-F238E27FC236}">
                <a16:creationId xmlns:a16="http://schemas.microsoft.com/office/drawing/2014/main" id="{DDD4268A-7987-4989-89DC-91F976ACBCEE}"/>
              </a:ext>
            </a:extLst>
          </p:cNvPr>
          <p:cNvSpPr>
            <a:spLocks xmlns:a="http://schemas.openxmlformats.org/drawingml/2006/main" noGrp="1"/>
          </p:cNvSpPr>
          <p:nvPr/>
        </p:nvSpPr>
        <p:spPr>
          <a:xfrm xmlns:a="http://schemas.openxmlformats.org/drawingml/2006/main">
            <a:off x="4667250" y="30480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0EA9ED5E-46A5-4008-B6BB-1134FFE5F439}"/>
              </a:ext>
            </a:extLst>
          </p:cNvPr>
          <p:cNvSpPr>
            <a:spLocks xmlns:a="http://schemas.openxmlformats.org/drawingml/2006/main" noGrp="1"/>
          </p:cNvSpPr>
          <p:nvPr/>
        </p:nvSpPr>
        <p:spPr>
          <a:xfrm xmlns:a="http://schemas.openxmlformats.org/drawingml/2006/main">
            <a:off x="4838700" y="29718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00000"/>
                </a:solidFill>
              </a:defRPr>
            </a:pPr>
            <a:r>
              <a:rPr sz="1200" b="0">
                <a:solidFill>
                  <a:srgbClr val="000000"/>
                </a:solidFill>
              </a:rPr>
              <a:t>系统集成 agent</a:t>
            </a:r>
          </a:p>
        </p:txBody>
      </p:sp>
      <p:sp>
        <p:nvSpPr>
          <p:cNvPr id="30" name="">
            <a:extLst xmlns:a="http://schemas.openxmlformats.org/drawingml/2006/main">
              <a:ext uri="{FF2B5EF4-FFF2-40B4-BE49-F238E27FC236}">
                <a16:creationId xmlns:a16="http://schemas.microsoft.com/office/drawing/2014/main" id="{4E198355-2832-493B-8D29-3A83A6599CE3}"/>
              </a:ext>
            </a:extLst>
          </p:cNvPr>
          <p:cNvSpPr>
            <a:spLocks xmlns:a="http://schemas.openxmlformats.org/drawingml/2006/main" noGrp="1"/>
          </p:cNvSpPr>
          <p:nvPr/>
        </p:nvSpPr>
        <p:spPr>
          <a:xfrm xmlns:a="http://schemas.openxmlformats.org/drawingml/2006/main">
            <a:off x="4667250" y="33528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31" name="">
            <a:extLst xmlns:a="http://schemas.openxmlformats.org/drawingml/2006/main">
              <a:ext uri="{FF2B5EF4-FFF2-40B4-BE49-F238E27FC236}">
                <a16:creationId xmlns:a16="http://schemas.microsoft.com/office/drawing/2014/main" id="{8A884215-3514-4C82-AE93-41D9A59A56FF}"/>
              </a:ext>
            </a:extLst>
          </p:cNvPr>
          <p:cNvSpPr>
            <a:spLocks xmlns:a="http://schemas.openxmlformats.org/drawingml/2006/main" noGrp="1"/>
          </p:cNvSpPr>
          <p:nvPr/>
        </p:nvSpPr>
        <p:spPr>
          <a:xfrm xmlns:a="http://schemas.openxmlformats.org/drawingml/2006/main">
            <a:off x="4838700" y="32766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00000"/>
                </a:solidFill>
              </a:defRPr>
            </a:pPr>
            <a:r>
              <a:rPr sz="1200" b="0">
                <a:solidFill>
                  <a:srgbClr val="000000"/>
                </a:solidFill>
              </a:rPr>
              <a:t>数据接入 agent</a:t>
            </a:r>
          </a:p>
        </p:txBody>
      </p:sp>
      <p:sp>
        <p:nvSpPr>
          <p:cNvPr id="32" name="">
            <a:extLst xmlns:a="http://schemas.openxmlformats.org/drawingml/2006/main">
              <a:ext uri="{FF2B5EF4-FFF2-40B4-BE49-F238E27FC236}">
                <a16:creationId xmlns:a16="http://schemas.microsoft.com/office/drawing/2014/main" id="{29259042-E2B2-4BA5-8822-FB81EA0F2730}"/>
              </a:ext>
            </a:extLst>
          </p:cNvPr>
          <p:cNvSpPr>
            <a:spLocks xmlns:a="http://schemas.openxmlformats.org/drawingml/2006/main" noGrp="1"/>
          </p:cNvSpPr>
          <p:nvPr/>
        </p:nvSpPr>
        <p:spPr>
          <a:xfrm xmlns:a="http://schemas.openxmlformats.org/drawingml/2006/main">
            <a:off x="4667250" y="36576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33" name="">
            <a:extLst xmlns:a="http://schemas.openxmlformats.org/drawingml/2006/main">
              <a:ext uri="{FF2B5EF4-FFF2-40B4-BE49-F238E27FC236}">
                <a16:creationId xmlns:a16="http://schemas.microsoft.com/office/drawing/2014/main" id="{F4CB05E1-ECD3-4CEB-BDF7-3C0953C47E81}"/>
              </a:ext>
            </a:extLst>
          </p:cNvPr>
          <p:cNvSpPr>
            <a:spLocks xmlns:a="http://schemas.openxmlformats.org/drawingml/2006/main" noGrp="1"/>
          </p:cNvSpPr>
          <p:nvPr/>
        </p:nvSpPr>
        <p:spPr>
          <a:xfrm xmlns:a="http://schemas.openxmlformats.org/drawingml/2006/main">
            <a:off x="4838700" y="35814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00000"/>
                </a:solidFill>
              </a:defRPr>
            </a:pPr>
            <a:r>
              <a:rPr sz="1200" b="0">
                <a:solidFill>
                  <a:srgbClr val="000000"/>
                </a:solidFill>
              </a:rPr>
              <a:t>安全审查 agent</a:t>
            </a:r>
          </a:p>
        </p:txBody>
      </p:sp>
      <p:sp>
        <p:nvSpPr>
          <p:cNvPr id="34" name="">
            <a:extLst xmlns:a="http://schemas.openxmlformats.org/drawingml/2006/main">
              <a:ext uri="{FF2B5EF4-FFF2-40B4-BE49-F238E27FC236}">
                <a16:creationId xmlns:a16="http://schemas.microsoft.com/office/drawing/2014/main" id="{67BFC093-610C-4D96-A150-D7D5A02227DE}"/>
              </a:ext>
            </a:extLst>
          </p:cNvPr>
          <p:cNvSpPr>
            <a:spLocks xmlns:a="http://schemas.openxmlformats.org/drawingml/2006/main" noGrp="1"/>
          </p:cNvSpPr>
          <p:nvPr/>
        </p:nvSpPr>
        <p:spPr>
          <a:xfrm xmlns:a="http://schemas.openxmlformats.org/drawingml/2006/main">
            <a:off x="4667250" y="39624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35" name="">
            <a:extLst xmlns:a="http://schemas.openxmlformats.org/drawingml/2006/main">
              <a:ext uri="{FF2B5EF4-FFF2-40B4-BE49-F238E27FC236}">
                <a16:creationId xmlns:a16="http://schemas.microsoft.com/office/drawing/2014/main" id="{2FAE48A8-6AED-4476-BE65-0A98BE391B84}"/>
              </a:ext>
            </a:extLst>
          </p:cNvPr>
          <p:cNvSpPr>
            <a:spLocks xmlns:a="http://schemas.openxmlformats.org/drawingml/2006/main" noGrp="1"/>
          </p:cNvSpPr>
          <p:nvPr/>
        </p:nvSpPr>
        <p:spPr>
          <a:xfrm xmlns:a="http://schemas.openxmlformats.org/drawingml/2006/main">
            <a:off x="4838700" y="38862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00000"/>
                </a:solidFill>
              </a:defRPr>
            </a:pPr>
            <a:r>
              <a:rPr sz="1200" b="0">
                <a:solidFill>
                  <a:srgbClr val="000000"/>
                </a:solidFill>
              </a:rPr>
              <a:t>低代码 agent</a:t>
            </a:r>
          </a:p>
        </p:txBody>
      </p:sp>
      <p:sp>
        <p:nvSpPr>
          <p:cNvPr id="36" name="">
            <a:extLst xmlns:a="http://schemas.openxmlformats.org/drawingml/2006/main">
              <a:ext uri="{FF2B5EF4-FFF2-40B4-BE49-F238E27FC236}">
                <a16:creationId xmlns:a16="http://schemas.microsoft.com/office/drawing/2014/main" id="{32B32961-1B06-406A-8D30-D05A1C7F7F12}"/>
              </a:ext>
            </a:extLst>
          </p:cNvPr>
          <p:cNvSpPr>
            <a:spLocks xmlns:a="http://schemas.openxmlformats.org/drawingml/2006/main" noGrp="1"/>
          </p:cNvSpPr>
          <p:nvPr/>
        </p:nvSpPr>
        <p:spPr>
          <a:xfrm xmlns:a="http://schemas.openxmlformats.org/drawingml/2006/main">
            <a:off x="4667250" y="42672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37" name="">
            <a:extLst xmlns:a="http://schemas.openxmlformats.org/drawingml/2006/main">
              <a:ext uri="{FF2B5EF4-FFF2-40B4-BE49-F238E27FC236}">
                <a16:creationId xmlns:a16="http://schemas.microsoft.com/office/drawing/2014/main" id="{22767521-4171-41F0-B398-C1E3BA796CD2}"/>
              </a:ext>
            </a:extLst>
          </p:cNvPr>
          <p:cNvSpPr>
            <a:spLocks xmlns:a="http://schemas.openxmlformats.org/drawingml/2006/main" noGrp="1"/>
          </p:cNvSpPr>
          <p:nvPr/>
        </p:nvSpPr>
        <p:spPr>
          <a:xfrm xmlns:a="http://schemas.openxmlformats.org/drawingml/2006/main">
            <a:off x="4838700" y="41910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00000"/>
                </a:solidFill>
              </a:defRPr>
            </a:pPr>
            <a:r>
              <a:rPr sz="1200" b="0">
                <a:solidFill>
                  <a:srgbClr val="000000"/>
                </a:solidFill>
              </a:rPr>
              <a:t>网关集成 agent</a:t>
            </a:r>
          </a:p>
        </p:txBody>
      </p:sp>
      <p:sp>
        <p:nvSpPr>
          <p:cNvPr id="38" name="">
            <a:extLst xmlns:a="http://schemas.openxmlformats.org/drawingml/2006/main">
              <a:ext uri="{FF2B5EF4-FFF2-40B4-BE49-F238E27FC236}">
                <a16:creationId xmlns:a16="http://schemas.microsoft.com/office/drawing/2014/main" id="{94668F85-9DFF-4B0B-965D-69E8CE6E68A9}"/>
              </a:ext>
            </a:extLst>
          </p:cNvPr>
          <p:cNvSpPr>
            <a:spLocks xmlns:a="http://schemas.openxmlformats.org/drawingml/2006/main" noGrp="1"/>
          </p:cNvSpPr>
          <p:nvPr/>
        </p:nvSpPr>
        <p:spPr>
          <a:xfrm xmlns:a="http://schemas.openxmlformats.org/drawingml/2006/main">
            <a:off x="4667250" y="45720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39" name="">
            <a:extLst xmlns:a="http://schemas.openxmlformats.org/drawingml/2006/main">
              <a:ext uri="{FF2B5EF4-FFF2-40B4-BE49-F238E27FC236}">
                <a16:creationId xmlns:a16="http://schemas.microsoft.com/office/drawing/2014/main" id="{78DBEB57-536C-4A8D-9714-3BB306064D11}"/>
              </a:ext>
            </a:extLst>
          </p:cNvPr>
          <p:cNvSpPr>
            <a:spLocks xmlns:a="http://schemas.openxmlformats.org/drawingml/2006/main" noGrp="1"/>
          </p:cNvSpPr>
          <p:nvPr/>
        </p:nvSpPr>
        <p:spPr>
          <a:xfrm xmlns:a="http://schemas.openxmlformats.org/drawingml/2006/main">
            <a:off x="4838700" y="44958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00000"/>
                </a:solidFill>
              </a:defRPr>
            </a:pPr>
            <a:r>
              <a:rPr sz="1200" b="0">
                <a:solidFill>
                  <a:srgbClr val="000000"/>
                </a:solidFill>
              </a:rPr>
              <a:t>微服务 agent</a:t>
            </a:r>
          </a:p>
        </p:txBody>
      </p:sp>
      <p:sp>
        <p:nvSpPr>
          <p:cNvPr id="40" name="">
            <a:extLst xmlns:a="http://schemas.openxmlformats.org/drawingml/2006/main">
              <a:ext uri="{FF2B5EF4-FFF2-40B4-BE49-F238E27FC236}">
                <a16:creationId xmlns:a16="http://schemas.microsoft.com/office/drawing/2014/main" id="{4B519FA8-1545-455E-B0FF-038287F593BE}"/>
              </a:ext>
            </a:extLst>
          </p:cNvPr>
          <p:cNvSpPr>
            <a:spLocks xmlns:a="http://schemas.openxmlformats.org/drawingml/2006/main" noGrp="1"/>
          </p:cNvSpPr>
          <p:nvPr/>
        </p:nvSpPr>
        <p:spPr>
          <a:xfrm xmlns:a="http://schemas.openxmlformats.org/drawingml/2006/main">
            <a:off x="4667250" y="48768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41" name="">
            <a:extLst xmlns:a="http://schemas.openxmlformats.org/drawingml/2006/main">
              <a:ext uri="{FF2B5EF4-FFF2-40B4-BE49-F238E27FC236}">
                <a16:creationId xmlns:a16="http://schemas.microsoft.com/office/drawing/2014/main" id="{0A9AFC8D-C799-409D-B243-B2203B1934E5}"/>
              </a:ext>
            </a:extLst>
          </p:cNvPr>
          <p:cNvSpPr>
            <a:spLocks xmlns:a="http://schemas.openxmlformats.org/drawingml/2006/main" noGrp="1"/>
          </p:cNvSpPr>
          <p:nvPr/>
        </p:nvSpPr>
        <p:spPr>
          <a:xfrm xmlns:a="http://schemas.openxmlformats.org/drawingml/2006/main">
            <a:off x="4838700" y="48006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00000"/>
                </a:solidFill>
              </a:defRPr>
            </a:pPr>
            <a:r>
              <a:rPr sz="1200" b="0">
                <a:solidFill>
                  <a:srgbClr val="000000"/>
                </a:solidFill>
              </a:rPr>
              <a:t>观测 agent</a:t>
            </a:r>
          </a:p>
        </p:txBody>
      </p:sp>
      <p:sp>
        <p:nvSpPr>
          <p:cNvPr id="42" name="">
            <a:extLst xmlns:a="http://schemas.openxmlformats.org/drawingml/2006/main">
              <a:ext uri="{FF2B5EF4-FFF2-40B4-BE49-F238E27FC236}">
                <a16:creationId xmlns:a16="http://schemas.microsoft.com/office/drawing/2014/main" id="{B39E0557-2F93-47EB-B16E-5BE5EE0964A2}"/>
              </a:ext>
            </a:extLst>
          </p:cNvPr>
          <p:cNvSpPr>
            <a:spLocks xmlns:a="http://schemas.openxmlformats.org/drawingml/2006/main" noGrp="1"/>
          </p:cNvSpPr>
          <p:nvPr/>
        </p:nvSpPr>
        <p:spPr>
          <a:xfrm xmlns:a="http://schemas.openxmlformats.org/drawingml/2006/main">
            <a:off x="8210550" y="1809750"/>
            <a:ext cx="3295650" cy="3571875"/>
          </a:xfrm>
          <a:prstGeom xmlns:a="http://schemas.openxmlformats.org/drawingml/2006/main" prst="rect">
            <a:avLst/>
          </a:prstGeom>
          <a:solidFill xmlns:a="http://schemas.openxmlformats.org/drawingml/2006/main">
            <a:srgbClr val="FFF4EF"/>
          </a:solidFill>
          <a:ln xmlns:a="http://schemas.openxmlformats.org/drawingml/2006/main" w="9525">
            <a:solidFill>
              <a:srgbClr val="FF6B35"/>
            </a:solidFill>
            <a:prstDash val="solid"/>
          </a:ln>
        </p:spPr>
      </p:sp>
      <p:sp>
        <p:nvSpPr>
          <p:cNvPr id="43" name="">
            <a:extLst xmlns:a="http://schemas.openxmlformats.org/drawingml/2006/main">
              <a:ext uri="{FF2B5EF4-FFF2-40B4-BE49-F238E27FC236}">
                <a16:creationId xmlns:a16="http://schemas.microsoft.com/office/drawing/2014/main" id="{04E5369B-E789-44CF-A8F0-F62A576CC9BA}"/>
              </a:ext>
            </a:extLst>
          </p:cNvPr>
          <p:cNvSpPr>
            <a:spLocks xmlns:a="http://schemas.openxmlformats.org/drawingml/2006/main" noGrp="1"/>
          </p:cNvSpPr>
          <p:nvPr/>
        </p:nvSpPr>
        <p:spPr>
          <a:xfrm xmlns:a="http://schemas.openxmlformats.org/drawingml/2006/main">
            <a:off x="8439150" y="2095500"/>
            <a:ext cx="2838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00000"/>
                </a:solidFill>
              </a:defRPr>
            </a:pPr>
            <a:r>
              <a:rPr sz="1725" b="1">
                <a:solidFill>
                  <a:srgbClr val="000000"/>
                </a:solidFill>
              </a:rPr>
              <a:t>能力市场与本地库</a:t>
            </a:r>
          </a:p>
        </p:txBody>
      </p:sp>
      <p:sp>
        <p:nvSpPr>
          <p:cNvPr id="44" name="">
            <a:extLst xmlns:a="http://schemas.openxmlformats.org/drawingml/2006/main">
              <a:ext uri="{FF2B5EF4-FFF2-40B4-BE49-F238E27FC236}">
                <a16:creationId xmlns:a16="http://schemas.microsoft.com/office/drawing/2014/main" id="{60E54F0C-D310-46EE-A6A9-98197A2664C1}"/>
              </a:ext>
            </a:extLst>
          </p:cNvPr>
          <p:cNvSpPr>
            <a:spLocks xmlns:a="http://schemas.openxmlformats.org/drawingml/2006/main" noGrp="1"/>
          </p:cNvSpPr>
          <p:nvPr/>
        </p:nvSpPr>
        <p:spPr>
          <a:xfrm xmlns:a="http://schemas.openxmlformats.org/drawingml/2006/main">
            <a:off x="8439150" y="27432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45" name="">
            <a:extLst xmlns:a="http://schemas.openxmlformats.org/drawingml/2006/main">
              <a:ext uri="{FF2B5EF4-FFF2-40B4-BE49-F238E27FC236}">
                <a16:creationId xmlns:a16="http://schemas.microsoft.com/office/drawing/2014/main" id="{25B5C8EF-F4F0-4016-9185-CA18B5B33F4F}"/>
              </a:ext>
            </a:extLst>
          </p:cNvPr>
          <p:cNvSpPr>
            <a:spLocks xmlns:a="http://schemas.openxmlformats.org/drawingml/2006/main" noGrp="1"/>
          </p:cNvSpPr>
          <p:nvPr/>
        </p:nvSpPr>
        <p:spPr>
          <a:xfrm xmlns:a="http://schemas.openxmlformats.org/drawingml/2006/main">
            <a:off x="8610600" y="26670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00000"/>
                </a:solidFill>
              </a:defRPr>
            </a:pPr>
            <a:r>
              <a:rPr sz="1200" b="0">
                <a:solidFill>
                  <a:srgbClr val="000000"/>
                </a:solidFill>
              </a:rPr>
              <a:t>协作智能体市场</a:t>
            </a:r>
          </a:p>
        </p:txBody>
      </p:sp>
      <p:sp>
        <p:nvSpPr>
          <p:cNvPr id="46" name="">
            <a:extLst xmlns:a="http://schemas.openxmlformats.org/drawingml/2006/main">
              <a:ext uri="{FF2B5EF4-FFF2-40B4-BE49-F238E27FC236}">
                <a16:creationId xmlns:a16="http://schemas.microsoft.com/office/drawing/2014/main" id="{58B71E7C-CDFB-4530-8E61-FC7ADA14CEC0}"/>
              </a:ext>
            </a:extLst>
          </p:cNvPr>
          <p:cNvSpPr>
            <a:spLocks xmlns:a="http://schemas.openxmlformats.org/drawingml/2006/main" noGrp="1"/>
          </p:cNvSpPr>
          <p:nvPr/>
        </p:nvSpPr>
        <p:spPr>
          <a:xfrm xmlns:a="http://schemas.openxmlformats.org/drawingml/2006/main">
            <a:off x="8439150" y="30480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47" name="">
            <a:extLst xmlns:a="http://schemas.openxmlformats.org/drawingml/2006/main">
              <a:ext uri="{FF2B5EF4-FFF2-40B4-BE49-F238E27FC236}">
                <a16:creationId xmlns:a16="http://schemas.microsoft.com/office/drawing/2014/main" id="{9D8F9B81-894A-4CBE-9F5A-6B07CCF937E0}"/>
              </a:ext>
            </a:extLst>
          </p:cNvPr>
          <p:cNvSpPr>
            <a:spLocks xmlns:a="http://schemas.openxmlformats.org/drawingml/2006/main" noGrp="1"/>
          </p:cNvSpPr>
          <p:nvPr/>
        </p:nvSpPr>
        <p:spPr>
          <a:xfrm xmlns:a="http://schemas.openxmlformats.org/drawingml/2006/main">
            <a:off x="8610600" y="29718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00000"/>
                </a:solidFill>
              </a:defRPr>
            </a:pPr>
            <a:r>
              <a:rPr sz="1200" b="0">
                <a:solidFill>
                  <a:srgbClr val="000000"/>
                </a:solidFill>
              </a:rPr>
              <a:t>Skills 市场</a:t>
            </a:r>
          </a:p>
        </p:txBody>
      </p:sp>
      <p:sp>
        <p:nvSpPr>
          <p:cNvPr id="48" name="">
            <a:extLst xmlns:a="http://schemas.openxmlformats.org/drawingml/2006/main">
              <a:ext uri="{FF2B5EF4-FFF2-40B4-BE49-F238E27FC236}">
                <a16:creationId xmlns:a16="http://schemas.microsoft.com/office/drawing/2014/main" id="{776B8E02-C3F1-4AB2-9552-22099031E1C5}"/>
              </a:ext>
            </a:extLst>
          </p:cNvPr>
          <p:cNvSpPr>
            <a:spLocks xmlns:a="http://schemas.openxmlformats.org/drawingml/2006/main" noGrp="1"/>
          </p:cNvSpPr>
          <p:nvPr/>
        </p:nvSpPr>
        <p:spPr>
          <a:xfrm xmlns:a="http://schemas.openxmlformats.org/drawingml/2006/main">
            <a:off x="8439150" y="33528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49" name="">
            <a:extLst xmlns:a="http://schemas.openxmlformats.org/drawingml/2006/main">
              <a:ext uri="{FF2B5EF4-FFF2-40B4-BE49-F238E27FC236}">
                <a16:creationId xmlns:a16="http://schemas.microsoft.com/office/drawing/2014/main" id="{63428362-74D1-4A55-A34B-51A260160C98}"/>
              </a:ext>
            </a:extLst>
          </p:cNvPr>
          <p:cNvSpPr>
            <a:spLocks xmlns:a="http://schemas.openxmlformats.org/drawingml/2006/main" noGrp="1"/>
          </p:cNvSpPr>
          <p:nvPr/>
        </p:nvSpPr>
        <p:spPr>
          <a:xfrm xmlns:a="http://schemas.openxmlformats.org/drawingml/2006/main">
            <a:off x="8610600" y="32766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00000"/>
                </a:solidFill>
              </a:defRPr>
            </a:pPr>
            <a:r>
              <a:rPr sz="1200" b="0">
                <a:solidFill>
                  <a:srgbClr val="000000"/>
                </a:solidFill>
              </a:rPr>
              <a:t>本地能力库</a:t>
            </a:r>
          </a:p>
        </p:txBody>
      </p:sp>
      <p:sp>
        <p:nvSpPr>
          <p:cNvPr id="50" name="">
            <a:extLst xmlns:a="http://schemas.openxmlformats.org/drawingml/2006/main">
              <a:ext uri="{FF2B5EF4-FFF2-40B4-BE49-F238E27FC236}">
                <a16:creationId xmlns:a16="http://schemas.microsoft.com/office/drawing/2014/main" id="{D07C3CF5-4538-449D-BF3F-74544A04722C}"/>
              </a:ext>
            </a:extLst>
          </p:cNvPr>
          <p:cNvSpPr>
            <a:spLocks xmlns:a="http://schemas.openxmlformats.org/drawingml/2006/main" noGrp="1"/>
          </p:cNvSpPr>
          <p:nvPr/>
        </p:nvSpPr>
        <p:spPr>
          <a:xfrm xmlns:a="http://schemas.openxmlformats.org/drawingml/2006/main">
            <a:off x="8439150" y="36576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51" name="">
            <a:extLst xmlns:a="http://schemas.openxmlformats.org/drawingml/2006/main">
              <a:ext uri="{FF2B5EF4-FFF2-40B4-BE49-F238E27FC236}">
                <a16:creationId xmlns:a16="http://schemas.microsoft.com/office/drawing/2014/main" id="{74FFFDE4-8C12-418C-A83A-DB6AFF4AC8C8}"/>
              </a:ext>
            </a:extLst>
          </p:cNvPr>
          <p:cNvSpPr>
            <a:spLocks xmlns:a="http://schemas.openxmlformats.org/drawingml/2006/main" noGrp="1"/>
          </p:cNvSpPr>
          <p:nvPr/>
        </p:nvSpPr>
        <p:spPr>
          <a:xfrm xmlns:a="http://schemas.openxmlformats.org/drawingml/2006/main">
            <a:off x="8610600" y="35814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00000"/>
                </a:solidFill>
              </a:defRPr>
            </a:pPr>
            <a:r>
              <a:rPr sz="1200" b="0">
                <a:solidFill>
                  <a:srgbClr val="000000"/>
                </a:solidFill>
              </a:rPr>
              <a:t>版本 / 来源</a:t>
            </a:r>
          </a:p>
        </p:txBody>
      </p:sp>
      <p:sp>
        <p:nvSpPr>
          <p:cNvPr id="52" name="">
            <a:extLst xmlns:a="http://schemas.openxmlformats.org/drawingml/2006/main">
              <a:ext uri="{FF2B5EF4-FFF2-40B4-BE49-F238E27FC236}">
                <a16:creationId xmlns:a16="http://schemas.microsoft.com/office/drawing/2014/main" id="{C637B689-E66E-424E-827E-52628F20525B}"/>
              </a:ext>
            </a:extLst>
          </p:cNvPr>
          <p:cNvSpPr>
            <a:spLocks xmlns:a="http://schemas.openxmlformats.org/drawingml/2006/main" noGrp="1"/>
          </p:cNvSpPr>
          <p:nvPr/>
        </p:nvSpPr>
        <p:spPr>
          <a:xfrm xmlns:a="http://schemas.openxmlformats.org/drawingml/2006/main">
            <a:off x="8439150" y="39624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53" name="">
            <a:extLst xmlns:a="http://schemas.openxmlformats.org/drawingml/2006/main">
              <a:ext uri="{FF2B5EF4-FFF2-40B4-BE49-F238E27FC236}">
                <a16:creationId xmlns:a16="http://schemas.microsoft.com/office/drawing/2014/main" id="{35119AA8-ED42-421E-B3D2-B00022ED529C}"/>
              </a:ext>
            </a:extLst>
          </p:cNvPr>
          <p:cNvSpPr>
            <a:spLocks xmlns:a="http://schemas.openxmlformats.org/drawingml/2006/main" noGrp="1"/>
          </p:cNvSpPr>
          <p:nvPr/>
        </p:nvSpPr>
        <p:spPr>
          <a:xfrm xmlns:a="http://schemas.openxmlformats.org/drawingml/2006/main">
            <a:off x="8610600" y="38862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00000"/>
                </a:solidFill>
              </a:defRPr>
            </a:pPr>
            <a:r>
              <a:rPr sz="1200" b="0">
                <a:solidFill>
                  <a:srgbClr val="000000"/>
                </a:solidFill>
              </a:rPr>
              <a:t>适用场景</a:t>
            </a:r>
          </a:p>
        </p:txBody>
      </p:sp>
      <p:sp>
        <p:nvSpPr>
          <p:cNvPr id="54" name="">
            <a:extLst xmlns:a="http://schemas.openxmlformats.org/drawingml/2006/main">
              <a:ext uri="{FF2B5EF4-FFF2-40B4-BE49-F238E27FC236}">
                <a16:creationId xmlns:a16="http://schemas.microsoft.com/office/drawing/2014/main" id="{E0593590-1B17-4C6C-96CE-E4A0902195B5}"/>
              </a:ext>
            </a:extLst>
          </p:cNvPr>
          <p:cNvSpPr>
            <a:spLocks xmlns:a="http://schemas.openxmlformats.org/drawingml/2006/main" noGrp="1"/>
          </p:cNvSpPr>
          <p:nvPr/>
        </p:nvSpPr>
        <p:spPr>
          <a:xfrm xmlns:a="http://schemas.openxmlformats.org/drawingml/2006/main">
            <a:off x="8439150" y="42672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55" name="">
            <a:extLst xmlns:a="http://schemas.openxmlformats.org/drawingml/2006/main">
              <a:ext uri="{FF2B5EF4-FFF2-40B4-BE49-F238E27FC236}">
                <a16:creationId xmlns:a16="http://schemas.microsoft.com/office/drawing/2014/main" id="{F356A043-04A8-441A-AAB6-6CC4595D7ACD}"/>
              </a:ext>
            </a:extLst>
          </p:cNvPr>
          <p:cNvSpPr>
            <a:spLocks xmlns:a="http://schemas.openxmlformats.org/drawingml/2006/main" noGrp="1"/>
          </p:cNvSpPr>
          <p:nvPr/>
        </p:nvSpPr>
        <p:spPr>
          <a:xfrm xmlns:a="http://schemas.openxmlformats.org/drawingml/2006/main">
            <a:off x="8610600" y="41910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000000"/>
                </a:solidFill>
              </a:defRPr>
            </a:pPr>
            <a:r>
              <a:rPr sz="1200" b="0">
                <a:solidFill>
                  <a:srgbClr val="000000"/>
                </a:solidFill>
              </a:rPr>
              <a:t>权限与工具边界</a:t>
            </a:r>
          </a:p>
        </p:txBody>
      </p:sp>
      <p:sp>
        <p:nvSpPr>
          <p:cNvPr id="56" name="">
            <a:extLst xmlns:a="http://schemas.openxmlformats.org/drawingml/2006/main">
              <a:ext uri="{FF2B5EF4-FFF2-40B4-BE49-F238E27FC236}">
                <a16:creationId xmlns:a16="http://schemas.microsoft.com/office/drawing/2014/main" id="{D4DA2EB3-9C95-4987-A762-1CA79CABC08D}"/>
              </a:ext>
            </a:extLst>
          </p:cNvPr>
          <p:cNvSpPr>
            <a:spLocks xmlns:a="http://schemas.openxmlformats.org/drawingml/2006/main" noGrp="1"/>
          </p:cNvSpPr>
          <p:nvPr/>
        </p:nvSpPr>
        <p:spPr>
          <a:xfrm xmlns:a="http://schemas.openxmlformats.org/drawingml/2006/main">
            <a:off x="514350" y="63817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55555"/>
                </a:solidFill>
              </a:defRPr>
            </a:pPr>
            <a:r>
              <a:rPr sz="1050" b="0">
                <a:solidFill>
                  <a:srgbClr val="555555"/>
                </a:solidFill>
              </a:rPr>
              <a:t>西安 630 项目软件工厂复盘</a:t>
            </a:r>
          </a:p>
        </p:txBody>
      </p:sp>
      <p:sp>
        <p:nvSpPr>
          <p:cNvPr id="57" name="">
            <a:extLst xmlns:a="http://schemas.openxmlformats.org/drawingml/2006/main">
              <a:ext uri="{FF2B5EF4-FFF2-40B4-BE49-F238E27FC236}">
                <a16:creationId xmlns:a16="http://schemas.microsoft.com/office/drawing/2014/main" id="{21DD5129-4855-4CB9-92FE-D04ACE160072}"/>
              </a:ext>
            </a:extLst>
          </p:cNvPr>
          <p:cNvSpPr>
            <a:spLocks xmlns:a="http://schemas.openxmlformats.org/drawingml/2006/main" noGrp="1"/>
          </p:cNvSpPr>
          <p:nvPr/>
        </p:nvSpPr>
        <p:spPr>
          <a:xfrm xmlns:a="http://schemas.openxmlformats.org/drawingml/2006/main">
            <a:off x="11287125" y="63817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555555"/>
                </a:solidFill>
              </a:defRPr>
            </a:pPr>
            <a:r>
              <a:rPr sz="1050" b="1">
                <a:solidFill>
                  <a:srgbClr val="555555"/>
                </a:solidFill>
              </a:rPr>
              <a:t>10</a:t>
            </a:r>
          </a:p>
        </p:txBody>
      </p:sp>
    </p:spTree>
    <p:extLst>
      <p:ext uri="{BB962C8B-B14F-4D97-AF65-F5344CB8AC3E}">
        <p14:creationId xmlns:p14="http://schemas.microsoft.com/office/powerpoint/2010/main" val="54721348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F1BDC80-F821-48BB-86BD-13CDDED11E07}"/>
              </a:ext>
            </a:extLst>
          </p:cNvPr>
          <p:cNvSpPr>
            <a:spLocks xmlns:a="http://schemas.openxmlformats.org/drawingml/2006/main" noGrp="1"/>
          </p:cNvSpPr>
          <p:nvPr/>
        </p:nvSpPr>
        <p:spPr>
          <a:xfrm xmlns:a="http://schemas.openxmlformats.org/drawingml/2006/main">
            <a:off x="514350" y="342900"/>
            <a:ext cx="10191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0000"/>
                </a:solidFill>
              </a:defRPr>
            </a:pPr>
            <a:r>
              <a:rPr sz="2700" b="1">
                <a:solidFill>
                  <a:srgbClr val="000000"/>
                </a:solidFill>
              </a:rPr>
              <a:t>领域能力包让系统越交付越强，云产品底座让结果进入工程链路</a:t>
            </a:r>
          </a:p>
        </p:txBody>
      </p:sp>
      <p:sp>
        <p:nvSpPr>
          <p:cNvPr id="2" name="">
            <a:extLst xmlns:a="http://schemas.openxmlformats.org/drawingml/2006/main">
              <a:ext uri="{FF2B5EF4-FFF2-40B4-BE49-F238E27FC236}">
                <a16:creationId xmlns:a16="http://schemas.microsoft.com/office/drawing/2014/main" id="{BC816103-26C3-406A-B332-F00415B77887}"/>
              </a:ext>
            </a:extLst>
          </p:cNvPr>
          <p:cNvSpPr>
            <a:spLocks xmlns:a="http://schemas.openxmlformats.org/drawingml/2006/main" noGrp="1"/>
          </p:cNvSpPr>
          <p:nvPr/>
        </p:nvSpPr>
        <p:spPr>
          <a:xfrm xmlns:a="http://schemas.openxmlformats.org/drawingml/2006/main">
            <a:off x="514350" y="12001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55555"/>
                </a:solidFill>
              </a:defRPr>
            </a:pPr>
            <a:r>
              <a:rPr sz="1275" b="0">
                <a:solidFill>
                  <a:srgbClr val="555555"/>
                </a:solidFill>
              </a:rPr>
              <a:t>一边沉淀领域能力，一边把 agent 工作落到可治理的工程资产。</a:t>
            </a:r>
          </a:p>
        </p:txBody>
      </p:sp>
      <p:sp>
        <p:nvSpPr>
          <p:cNvPr id="3" name="">
            <a:extLst xmlns:a="http://schemas.openxmlformats.org/drawingml/2006/main">
              <a:ext uri="{FF2B5EF4-FFF2-40B4-BE49-F238E27FC236}">
                <a16:creationId xmlns:a16="http://schemas.microsoft.com/office/drawing/2014/main" id="{57DE82F1-16A2-4D65-9AEF-7DAF5ECF2DA6}"/>
              </a:ext>
            </a:extLst>
          </p:cNvPr>
          <p:cNvSpPr>
            <a:spLocks xmlns:a="http://schemas.openxmlformats.org/drawingml/2006/main" noGrp="1"/>
          </p:cNvSpPr>
          <p:nvPr/>
        </p:nvSpPr>
        <p:spPr>
          <a:xfrm xmlns:a="http://schemas.openxmlformats.org/drawingml/2006/main">
            <a:off x="514350" y="1581150"/>
            <a:ext cx="111633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E1C88843-0AE8-471A-A5C0-7B1EEA12D2E0}"/>
              </a:ext>
            </a:extLst>
          </p:cNvPr>
          <p:cNvSpPr>
            <a:spLocks xmlns:a="http://schemas.openxmlformats.org/drawingml/2006/main" noGrp="1"/>
          </p:cNvSpPr>
          <p:nvPr/>
        </p:nvSpPr>
        <p:spPr>
          <a:xfrm xmlns:a="http://schemas.openxmlformats.org/drawingml/2006/main">
            <a:off x="666750" y="1809750"/>
            <a:ext cx="4953000" cy="342900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49451A8-3E0A-4F3B-92A8-66FDAB9A95DA}"/>
              </a:ext>
            </a:extLst>
          </p:cNvPr>
          <p:cNvSpPr>
            <a:spLocks xmlns:a="http://schemas.openxmlformats.org/drawingml/2006/main" noGrp="1"/>
          </p:cNvSpPr>
          <p:nvPr/>
        </p:nvSpPr>
        <p:spPr>
          <a:xfrm xmlns:a="http://schemas.openxmlformats.org/drawingml/2006/main">
            <a:off x="952500" y="20955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FF6B35"/>
                </a:solidFill>
              </a:defRPr>
            </a:pPr>
            <a:r>
              <a:rPr sz="1125" b="1">
                <a:solidFill>
                  <a:srgbClr val="FF6B35"/>
                </a:solidFill>
              </a:rPr>
              <a:t>领域能力包</a:t>
            </a:r>
          </a:p>
        </p:txBody>
      </p:sp>
      <p:sp>
        <p:nvSpPr>
          <p:cNvPr id="6" name="">
            <a:extLst xmlns:a="http://schemas.openxmlformats.org/drawingml/2006/main">
              <a:ext uri="{FF2B5EF4-FFF2-40B4-BE49-F238E27FC236}">
                <a16:creationId xmlns:a16="http://schemas.microsoft.com/office/drawing/2014/main" id="{39761A52-D59D-4B0E-9F05-948EF103EC70}"/>
              </a:ext>
            </a:extLst>
          </p:cNvPr>
          <p:cNvSpPr>
            <a:spLocks xmlns:a="http://schemas.openxmlformats.org/drawingml/2006/main" noGrp="1"/>
          </p:cNvSpPr>
          <p:nvPr/>
        </p:nvSpPr>
        <p:spPr>
          <a:xfrm xmlns:a="http://schemas.openxmlformats.org/drawingml/2006/main">
            <a:off x="952500" y="264795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19DF9304-D010-47FF-AAFF-CAFA745DAF32}"/>
              </a:ext>
            </a:extLst>
          </p:cNvPr>
          <p:cNvSpPr>
            <a:spLocks xmlns:a="http://schemas.openxmlformats.org/drawingml/2006/main" noGrp="1"/>
          </p:cNvSpPr>
          <p:nvPr/>
        </p:nvSpPr>
        <p:spPr>
          <a:xfrm xmlns:a="http://schemas.openxmlformats.org/drawingml/2006/main">
            <a:off x="1123950" y="2571750"/>
            <a:ext cx="3829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000000"/>
                </a:solidFill>
              </a:defRPr>
            </a:pPr>
            <a:r>
              <a:rPr sz="1275" b="0">
                <a:solidFill>
                  <a:srgbClr val="000000"/>
                </a:solidFill>
              </a:rPr>
              <a:t>领域知识</a:t>
            </a:r>
          </a:p>
        </p:txBody>
      </p:sp>
      <p:sp>
        <p:nvSpPr>
          <p:cNvPr id="8" name="">
            <a:extLst xmlns:a="http://schemas.openxmlformats.org/drawingml/2006/main">
              <a:ext uri="{FF2B5EF4-FFF2-40B4-BE49-F238E27FC236}">
                <a16:creationId xmlns:a16="http://schemas.microsoft.com/office/drawing/2014/main" id="{033157E1-9459-4D31-A6D6-FBE49AB2E401}"/>
              </a:ext>
            </a:extLst>
          </p:cNvPr>
          <p:cNvSpPr>
            <a:spLocks xmlns:a="http://schemas.openxmlformats.org/drawingml/2006/main" noGrp="1"/>
          </p:cNvSpPr>
          <p:nvPr/>
        </p:nvSpPr>
        <p:spPr>
          <a:xfrm xmlns:a="http://schemas.openxmlformats.org/drawingml/2006/main">
            <a:off x="952500" y="2981325"/>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2F6A8D8D-E345-4B7B-BEC2-5B6C12D47A46}"/>
              </a:ext>
            </a:extLst>
          </p:cNvPr>
          <p:cNvSpPr>
            <a:spLocks xmlns:a="http://schemas.openxmlformats.org/drawingml/2006/main" noGrp="1"/>
          </p:cNvSpPr>
          <p:nvPr/>
        </p:nvSpPr>
        <p:spPr>
          <a:xfrm xmlns:a="http://schemas.openxmlformats.org/drawingml/2006/main">
            <a:off x="1123950" y="2905125"/>
            <a:ext cx="3829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000000"/>
                </a:solidFill>
              </a:defRPr>
            </a:pPr>
            <a:r>
              <a:rPr sz="1275" b="0">
                <a:solidFill>
                  <a:srgbClr val="000000"/>
                </a:solidFill>
              </a:rPr>
              <a:t>数据接口契约</a:t>
            </a:r>
          </a:p>
        </p:txBody>
      </p:sp>
      <p:sp>
        <p:nvSpPr>
          <p:cNvPr id="10" name="">
            <a:extLst xmlns:a="http://schemas.openxmlformats.org/drawingml/2006/main">
              <a:ext uri="{FF2B5EF4-FFF2-40B4-BE49-F238E27FC236}">
                <a16:creationId xmlns:a16="http://schemas.microsoft.com/office/drawing/2014/main" id="{98D92FDF-7E8D-48E6-8E51-D107F5E22F90}"/>
              </a:ext>
            </a:extLst>
          </p:cNvPr>
          <p:cNvSpPr>
            <a:spLocks xmlns:a="http://schemas.openxmlformats.org/drawingml/2006/main" noGrp="1"/>
          </p:cNvSpPr>
          <p:nvPr/>
        </p:nvSpPr>
        <p:spPr>
          <a:xfrm xmlns:a="http://schemas.openxmlformats.org/drawingml/2006/main">
            <a:off x="952500" y="33147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3C075019-51A8-4F24-82B6-E26CDD2B0280}"/>
              </a:ext>
            </a:extLst>
          </p:cNvPr>
          <p:cNvSpPr>
            <a:spLocks xmlns:a="http://schemas.openxmlformats.org/drawingml/2006/main" noGrp="1"/>
          </p:cNvSpPr>
          <p:nvPr/>
        </p:nvSpPr>
        <p:spPr>
          <a:xfrm xmlns:a="http://schemas.openxmlformats.org/drawingml/2006/main">
            <a:off x="1123950" y="3238500"/>
            <a:ext cx="3829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000000"/>
                </a:solidFill>
              </a:defRPr>
            </a:pPr>
            <a:r>
              <a:rPr sz="1275" b="0">
                <a:solidFill>
                  <a:srgbClr val="000000"/>
                </a:solidFill>
              </a:rPr>
              <a:t>判断规则和研判参数</a:t>
            </a:r>
          </a:p>
        </p:txBody>
      </p:sp>
      <p:sp>
        <p:nvSpPr>
          <p:cNvPr id="12" name="">
            <a:extLst xmlns:a="http://schemas.openxmlformats.org/drawingml/2006/main">
              <a:ext uri="{FF2B5EF4-FFF2-40B4-BE49-F238E27FC236}">
                <a16:creationId xmlns:a16="http://schemas.microsoft.com/office/drawing/2014/main" id="{B1765FF2-6FF4-43DC-9F28-B13F65BD6BA0}"/>
              </a:ext>
            </a:extLst>
          </p:cNvPr>
          <p:cNvSpPr>
            <a:spLocks xmlns:a="http://schemas.openxmlformats.org/drawingml/2006/main" noGrp="1"/>
          </p:cNvSpPr>
          <p:nvPr/>
        </p:nvSpPr>
        <p:spPr>
          <a:xfrm xmlns:a="http://schemas.openxmlformats.org/drawingml/2006/main">
            <a:off x="952500" y="3648075"/>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572BABCB-1A05-4876-96BC-B4CA945145DB}"/>
              </a:ext>
            </a:extLst>
          </p:cNvPr>
          <p:cNvSpPr>
            <a:spLocks xmlns:a="http://schemas.openxmlformats.org/drawingml/2006/main" noGrp="1"/>
          </p:cNvSpPr>
          <p:nvPr/>
        </p:nvSpPr>
        <p:spPr>
          <a:xfrm xmlns:a="http://schemas.openxmlformats.org/drawingml/2006/main">
            <a:off x="1123950" y="3571875"/>
            <a:ext cx="3829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000000"/>
                </a:solidFill>
              </a:defRPr>
            </a:pPr>
            <a:r>
              <a:rPr sz="1275" b="0">
                <a:solidFill>
                  <a:srgbClr val="000000"/>
                </a:solidFill>
              </a:rPr>
              <a:t>skills / subagent</a:t>
            </a:r>
          </a:p>
        </p:txBody>
      </p:sp>
      <p:sp>
        <p:nvSpPr>
          <p:cNvPr id="14" name="">
            <a:extLst xmlns:a="http://schemas.openxmlformats.org/drawingml/2006/main">
              <a:ext uri="{FF2B5EF4-FFF2-40B4-BE49-F238E27FC236}">
                <a16:creationId xmlns:a16="http://schemas.microsoft.com/office/drawing/2014/main" id="{3450ECB8-494E-4E15-8D71-3DA8AB164966}"/>
              </a:ext>
            </a:extLst>
          </p:cNvPr>
          <p:cNvSpPr>
            <a:spLocks xmlns:a="http://schemas.openxmlformats.org/drawingml/2006/main" noGrp="1"/>
          </p:cNvSpPr>
          <p:nvPr/>
        </p:nvSpPr>
        <p:spPr>
          <a:xfrm xmlns:a="http://schemas.openxmlformats.org/drawingml/2006/main">
            <a:off x="952500" y="398145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E8C86569-B3A4-477C-88E7-8C2082323F75}"/>
              </a:ext>
            </a:extLst>
          </p:cNvPr>
          <p:cNvSpPr>
            <a:spLocks xmlns:a="http://schemas.openxmlformats.org/drawingml/2006/main" noGrp="1"/>
          </p:cNvSpPr>
          <p:nvPr/>
        </p:nvSpPr>
        <p:spPr>
          <a:xfrm xmlns:a="http://schemas.openxmlformats.org/drawingml/2006/main">
            <a:off x="1123950" y="3905250"/>
            <a:ext cx="3829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000000"/>
                </a:solidFill>
              </a:defRPr>
            </a:pPr>
            <a:r>
              <a:rPr sz="1275" b="0">
                <a:solidFill>
                  <a:srgbClr val="000000"/>
                </a:solidFill>
              </a:rPr>
              <a:t>应用蓝本</a:t>
            </a:r>
          </a:p>
        </p:txBody>
      </p:sp>
      <p:sp>
        <p:nvSpPr>
          <p:cNvPr id="16" name="">
            <a:extLst xmlns:a="http://schemas.openxmlformats.org/drawingml/2006/main">
              <a:ext uri="{FF2B5EF4-FFF2-40B4-BE49-F238E27FC236}">
                <a16:creationId xmlns:a16="http://schemas.microsoft.com/office/drawing/2014/main" id="{CD6808D9-8999-4DD0-BED6-7A9250DD9E36}"/>
              </a:ext>
            </a:extLst>
          </p:cNvPr>
          <p:cNvSpPr>
            <a:spLocks xmlns:a="http://schemas.openxmlformats.org/drawingml/2006/main" noGrp="1"/>
          </p:cNvSpPr>
          <p:nvPr/>
        </p:nvSpPr>
        <p:spPr>
          <a:xfrm xmlns:a="http://schemas.openxmlformats.org/drawingml/2006/main">
            <a:off x="952500" y="4314825"/>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17" name="">
            <a:extLst xmlns:a="http://schemas.openxmlformats.org/drawingml/2006/main">
              <a:ext uri="{FF2B5EF4-FFF2-40B4-BE49-F238E27FC236}">
                <a16:creationId xmlns:a16="http://schemas.microsoft.com/office/drawing/2014/main" id="{DD2D4FBB-BF40-4B80-82D2-A6A3886C79CF}"/>
              </a:ext>
            </a:extLst>
          </p:cNvPr>
          <p:cNvSpPr>
            <a:spLocks xmlns:a="http://schemas.openxmlformats.org/drawingml/2006/main" noGrp="1"/>
          </p:cNvSpPr>
          <p:nvPr/>
        </p:nvSpPr>
        <p:spPr>
          <a:xfrm xmlns:a="http://schemas.openxmlformats.org/drawingml/2006/main">
            <a:off x="1123950" y="4238625"/>
            <a:ext cx="3829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000000"/>
                </a:solidFill>
              </a:defRPr>
            </a:pPr>
            <a:r>
              <a:rPr sz="1275" b="0">
                <a:solidFill>
                  <a:srgbClr val="000000"/>
                </a:solidFill>
              </a:rPr>
              <a:t>验收口径</a:t>
            </a:r>
          </a:p>
        </p:txBody>
      </p:sp>
      <p:sp>
        <p:nvSpPr>
          <p:cNvPr id="18" name="">
            <a:extLst xmlns:a="http://schemas.openxmlformats.org/drawingml/2006/main">
              <a:ext uri="{FF2B5EF4-FFF2-40B4-BE49-F238E27FC236}">
                <a16:creationId xmlns:a16="http://schemas.microsoft.com/office/drawing/2014/main" id="{8AF335D6-1485-4CDA-8857-42818C572627}"/>
              </a:ext>
            </a:extLst>
          </p:cNvPr>
          <p:cNvSpPr>
            <a:spLocks xmlns:a="http://schemas.openxmlformats.org/drawingml/2006/main" noGrp="1"/>
          </p:cNvSpPr>
          <p:nvPr/>
        </p:nvSpPr>
        <p:spPr>
          <a:xfrm xmlns:a="http://schemas.openxmlformats.org/drawingml/2006/main">
            <a:off x="952500" y="46482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35E9A314-4615-40C6-BB12-36DFF196C373}"/>
              </a:ext>
            </a:extLst>
          </p:cNvPr>
          <p:cNvSpPr>
            <a:spLocks xmlns:a="http://schemas.openxmlformats.org/drawingml/2006/main" noGrp="1"/>
          </p:cNvSpPr>
          <p:nvPr/>
        </p:nvSpPr>
        <p:spPr>
          <a:xfrm xmlns:a="http://schemas.openxmlformats.org/drawingml/2006/main">
            <a:off x="1123950" y="4572000"/>
            <a:ext cx="3829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000000"/>
                </a:solidFill>
              </a:defRPr>
            </a:pPr>
            <a:r>
              <a:rPr sz="1275" b="0">
                <a:solidFill>
                  <a:srgbClr val="000000"/>
                </a:solidFill>
              </a:rPr>
              <a:t>可观测指标</a:t>
            </a:r>
          </a:p>
        </p:txBody>
      </p:sp>
      <p:sp>
        <p:nvSpPr>
          <p:cNvPr id="20" name="">
            <a:extLst xmlns:a="http://schemas.openxmlformats.org/drawingml/2006/main">
              <a:ext uri="{FF2B5EF4-FFF2-40B4-BE49-F238E27FC236}">
                <a16:creationId xmlns:a16="http://schemas.microsoft.com/office/drawing/2014/main" id="{03488F5A-E355-4780-A75C-75E8CEEE9510}"/>
              </a:ext>
            </a:extLst>
          </p:cNvPr>
          <p:cNvSpPr>
            <a:spLocks xmlns:a="http://schemas.openxmlformats.org/drawingml/2006/main" noGrp="1"/>
          </p:cNvSpPr>
          <p:nvPr/>
        </p:nvSpPr>
        <p:spPr>
          <a:xfrm xmlns:a="http://schemas.openxmlformats.org/drawingml/2006/main">
            <a:off x="6381750" y="1809750"/>
            <a:ext cx="4953000" cy="342900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D92E805-818D-42F0-9695-06EF44A693B6}"/>
              </a:ext>
            </a:extLst>
          </p:cNvPr>
          <p:cNvSpPr>
            <a:spLocks xmlns:a="http://schemas.openxmlformats.org/drawingml/2006/main" noGrp="1"/>
          </p:cNvSpPr>
          <p:nvPr/>
        </p:nvSpPr>
        <p:spPr>
          <a:xfrm xmlns:a="http://schemas.openxmlformats.org/drawingml/2006/main">
            <a:off x="6667500" y="209550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FF6B35"/>
                </a:solidFill>
              </a:defRPr>
            </a:pPr>
            <a:r>
              <a:rPr sz="1125" b="1">
                <a:solidFill>
                  <a:srgbClr val="FF6B35"/>
                </a:solidFill>
              </a:rPr>
              <a:t>云产品交互场景</a:t>
            </a:r>
          </a:p>
        </p:txBody>
      </p:sp>
      <p:sp>
        <p:nvSpPr>
          <p:cNvPr id="22" name="">
            <a:extLst xmlns:a="http://schemas.openxmlformats.org/drawingml/2006/main">
              <a:ext uri="{FF2B5EF4-FFF2-40B4-BE49-F238E27FC236}">
                <a16:creationId xmlns:a16="http://schemas.microsoft.com/office/drawing/2014/main" id="{B0A5FEDE-F41C-433D-A920-A49E35A9D585}"/>
              </a:ext>
            </a:extLst>
          </p:cNvPr>
          <p:cNvSpPr>
            <a:spLocks xmlns:a="http://schemas.openxmlformats.org/drawingml/2006/main" noGrp="1"/>
          </p:cNvSpPr>
          <p:nvPr/>
        </p:nvSpPr>
        <p:spPr>
          <a:xfrm xmlns:a="http://schemas.openxmlformats.org/drawingml/2006/main">
            <a:off x="6667500" y="264795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69A853D8-6CB2-4D27-AAE7-F19737A278EB}"/>
              </a:ext>
            </a:extLst>
          </p:cNvPr>
          <p:cNvSpPr>
            <a:spLocks xmlns:a="http://schemas.openxmlformats.org/drawingml/2006/main" noGrp="1"/>
          </p:cNvSpPr>
          <p:nvPr/>
        </p:nvSpPr>
        <p:spPr>
          <a:xfrm xmlns:a="http://schemas.openxmlformats.org/drawingml/2006/main">
            <a:off x="6838950" y="2571750"/>
            <a:ext cx="3829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00000"/>
                </a:solidFill>
              </a:defRPr>
            </a:pPr>
            <a:r>
              <a:rPr sz="1350" b="0">
                <a:solidFill>
                  <a:srgbClr val="000000"/>
                </a:solidFill>
              </a:rPr>
              <a:t>DevOps</a:t>
            </a:r>
          </a:p>
        </p:txBody>
      </p:sp>
      <p:sp>
        <p:nvSpPr>
          <p:cNvPr id="24" name="">
            <a:extLst xmlns:a="http://schemas.openxmlformats.org/drawingml/2006/main">
              <a:ext uri="{FF2B5EF4-FFF2-40B4-BE49-F238E27FC236}">
                <a16:creationId xmlns:a16="http://schemas.microsoft.com/office/drawing/2014/main" id="{E82208F2-86EB-4471-9842-62442603CCAE}"/>
              </a:ext>
            </a:extLst>
          </p:cNvPr>
          <p:cNvSpPr>
            <a:spLocks xmlns:a="http://schemas.openxmlformats.org/drawingml/2006/main" noGrp="1"/>
          </p:cNvSpPr>
          <p:nvPr/>
        </p:nvSpPr>
        <p:spPr>
          <a:xfrm xmlns:a="http://schemas.openxmlformats.org/drawingml/2006/main">
            <a:off x="6838950" y="2809875"/>
            <a:ext cx="3829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55555"/>
                </a:solidFill>
              </a:defRPr>
            </a:pPr>
            <a:r>
              <a:rPr sz="1050" b="0">
                <a:solidFill>
                  <a:srgbClr val="555555"/>
                </a:solidFill>
              </a:rPr>
              <a:t>需求、任务、代码仓库、流水线、制品、部署记录</a:t>
            </a:r>
          </a:p>
        </p:txBody>
      </p:sp>
      <p:sp>
        <p:nvSpPr>
          <p:cNvPr id="25" name="">
            <a:extLst xmlns:a="http://schemas.openxmlformats.org/drawingml/2006/main">
              <a:ext uri="{FF2B5EF4-FFF2-40B4-BE49-F238E27FC236}">
                <a16:creationId xmlns:a16="http://schemas.microsoft.com/office/drawing/2014/main" id="{A36FBF96-AC20-44AA-B408-F6B86FE60BC6}"/>
              </a:ext>
            </a:extLst>
          </p:cNvPr>
          <p:cNvSpPr>
            <a:spLocks xmlns:a="http://schemas.openxmlformats.org/drawingml/2006/main" noGrp="1"/>
          </p:cNvSpPr>
          <p:nvPr/>
        </p:nvSpPr>
        <p:spPr>
          <a:xfrm xmlns:a="http://schemas.openxmlformats.org/drawingml/2006/main">
            <a:off x="6667500" y="3228975"/>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26" name="">
            <a:extLst xmlns:a="http://schemas.openxmlformats.org/drawingml/2006/main">
              <a:ext uri="{FF2B5EF4-FFF2-40B4-BE49-F238E27FC236}">
                <a16:creationId xmlns:a16="http://schemas.microsoft.com/office/drawing/2014/main" id="{963AED10-6A94-424C-A086-CCE85775EDCB}"/>
              </a:ext>
            </a:extLst>
          </p:cNvPr>
          <p:cNvSpPr>
            <a:spLocks xmlns:a="http://schemas.openxmlformats.org/drawingml/2006/main" noGrp="1"/>
          </p:cNvSpPr>
          <p:nvPr/>
        </p:nvSpPr>
        <p:spPr>
          <a:xfrm xmlns:a="http://schemas.openxmlformats.org/drawingml/2006/main">
            <a:off x="6838950" y="3152775"/>
            <a:ext cx="3829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00000"/>
                </a:solidFill>
              </a:defRPr>
            </a:pPr>
            <a:r>
              <a:rPr sz="1350" b="0">
                <a:solidFill>
                  <a:srgbClr val="000000"/>
                </a:solidFill>
              </a:rPr>
              <a:t>低代码</a:t>
            </a:r>
          </a:p>
        </p:txBody>
      </p:sp>
      <p:sp>
        <p:nvSpPr>
          <p:cNvPr id="27" name="">
            <a:extLst xmlns:a="http://schemas.openxmlformats.org/drawingml/2006/main">
              <a:ext uri="{FF2B5EF4-FFF2-40B4-BE49-F238E27FC236}">
                <a16:creationId xmlns:a16="http://schemas.microsoft.com/office/drawing/2014/main" id="{037C102C-B36E-4D95-9553-155B9286ABBE}"/>
              </a:ext>
            </a:extLst>
          </p:cNvPr>
          <p:cNvSpPr>
            <a:spLocks xmlns:a="http://schemas.openxmlformats.org/drawingml/2006/main" noGrp="1"/>
          </p:cNvSpPr>
          <p:nvPr/>
        </p:nvSpPr>
        <p:spPr>
          <a:xfrm xmlns:a="http://schemas.openxmlformats.org/drawingml/2006/main">
            <a:off x="6838950" y="3390900"/>
            <a:ext cx="3829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55555"/>
                </a:solidFill>
              </a:defRPr>
            </a:pPr>
            <a:r>
              <a:rPr sz="1050" b="0">
                <a:solidFill>
                  <a:srgbClr val="555555"/>
                </a:solidFill>
              </a:rPr>
              <a:t>表单、流程、报表、管理页面</a:t>
            </a:r>
          </a:p>
        </p:txBody>
      </p:sp>
      <p:sp>
        <p:nvSpPr>
          <p:cNvPr id="28" name="">
            <a:extLst xmlns:a="http://schemas.openxmlformats.org/drawingml/2006/main">
              <a:ext uri="{FF2B5EF4-FFF2-40B4-BE49-F238E27FC236}">
                <a16:creationId xmlns:a16="http://schemas.microsoft.com/office/drawing/2014/main" id="{A890ACDF-1FF8-416E-940F-A71A2B5C26B4}"/>
              </a:ext>
            </a:extLst>
          </p:cNvPr>
          <p:cNvSpPr>
            <a:spLocks xmlns:a="http://schemas.openxmlformats.org/drawingml/2006/main" noGrp="1"/>
          </p:cNvSpPr>
          <p:nvPr/>
        </p:nvSpPr>
        <p:spPr>
          <a:xfrm xmlns:a="http://schemas.openxmlformats.org/drawingml/2006/main">
            <a:off x="6667500" y="38100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29" name="">
            <a:extLst xmlns:a="http://schemas.openxmlformats.org/drawingml/2006/main">
              <a:ext uri="{FF2B5EF4-FFF2-40B4-BE49-F238E27FC236}">
                <a16:creationId xmlns:a16="http://schemas.microsoft.com/office/drawing/2014/main" id="{3063BEE2-13F9-4CCC-BA5B-13C2526919F2}"/>
              </a:ext>
            </a:extLst>
          </p:cNvPr>
          <p:cNvSpPr>
            <a:spLocks xmlns:a="http://schemas.openxmlformats.org/drawingml/2006/main" noGrp="1"/>
          </p:cNvSpPr>
          <p:nvPr/>
        </p:nvSpPr>
        <p:spPr>
          <a:xfrm xmlns:a="http://schemas.openxmlformats.org/drawingml/2006/main">
            <a:off x="6838950" y="3733800"/>
            <a:ext cx="3829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00000"/>
                </a:solidFill>
              </a:defRPr>
            </a:pPr>
            <a:r>
              <a:rPr sz="1350" b="0">
                <a:solidFill>
                  <a:srgbClr val="000000"/>
                </a:solidFill>
              </a:rPr>
              <a:t>微服务 / 网关</a:t>
            </a:r>
          </a:p>
        </p:txBody>
      </p:sp>
      <p:sp>
        <p:nvSpPr>
          <p:cNvPr id="30" name="">
            <a:extLst xmlns:a="http://schemas.openxmlformats.org/drawingml/2006/main">
              <a:ext uri="{FF2B5EF4-FFF2-40B4-BE49-F238E27FC236}">
                <a16:creationId xmlns:a16="http://schemas.microsoft.com/office/drawing/2014/main" id="{52267FE0-1AE1-469E-B285-7996A0D96705}"/>
              </a:ext>
            </a:extLst>
          </p:cNvPr>
          <p:cNvSpPr>
            <a:spLocks xmlns:a="http://schemas.openxmlformats.org/drawingml/2006/main" noGrp="1"/>
          </p:cNvSpPr>
          <p:nvPr/>
        </p:nvSpPr>
        <p:spPr>
          <a:xfrm xmlns:a="http://schemas.openxmlformats.org/drawingml/2006/main">
            <a:off x="6838950" y="3971925"/>
            <a:ext cx="3829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55555"/>
                </a:solidFill>
              </a:defRPr>
            </a:pPr>
            <a:r>
              <a:rPr sz="1050" b="0">
                <a:solidFill>
                  <a:srgbClr val="555555"/>
                </a:solidFill>
              </a:rPr>
              <a:t>服务治理、API 暴露、鉴权、限流和路由</a:t>
            </a:r>
          </a:p>
        </p:txBody>
      </p:sp>
      <p:sp>
        <p:nvSpPr>
          <p:cNvPr id="31" name="">
            <a:extLst xmlns:a="http://schemas.openxmlformats.org/drawingml/2006/main">
              <a:ext uri="{FF2B5EF4-FFF2-40B4-BE49-F238E27FC236}">
                <a16:creationId xmlns:a16="http://schemas.microsoft.com/office/drawing/2014/main" id="{8187BBA7-7EE0-406A-B202-A9C680D9C442}"/>
              </a:ext>
            </a:extLst>
          </p:cNvPr>
          <p:cNvSpPr>
            <a:spLocks xmlns:a="http://schemas.openxmlformats.org/drawingml/2006/main" noGrp="1"/>
          </p:cNvSpPr>
          <p:nvPr/>
        </p:nvSpPr>
        <p:spPr>
          <a:xfrm xmlns:a="http://schemas.openxmlformats.org/drawingml/2006/main">
            <a:off x="6667500" y="4391025"/>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32" name="">
            <a:extLst xmlns:a="http://schemas.openxmlformats.org/drawingml/2006/main">
              <a:ext uri="{FF2B5EF4-FFF2-40B4-BE49-F238E27FC236}">
                <a16:creationId xmlns:a16="http://schemas.microsoft.com/office/drawing/2014/main" id="{AA67B925-E4E9-47FB-9335-1FDEACAF9B0C}"/>
              </a:ext>
            </a:extLst>
          </p:cNvPr>
          <p:cNvSpPr>
            <a:spLocks xmlns:a="http://schemas.openxmlformats.org/drawingml/2006/main" noGrp="1"/>
          </p:cNvSpPr>
          <p:nvPr/>
        </p:nvSpPr>
        <p:spPr>
          <a:xfrm xmlns:a="http://schemas.openxmlformats.org/drawingml/2006/main">
            <a:off x="6838950" y="4314825"/>
            <a:ext cx="3829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000000"/>
                </a:solidFill>
              </a:defRPr>
            </a:pPr>
            <a:r>
              <a:rPr sz="1350" b="0">
                <a:solidFill>
                  <a:srgbClr val="000000"/>
                </a:solidFill>
              </a:rPr>
              <a:t>观测</a:t>
            </a:r>
          </a:p>
        </p:txBody>
      </p:sp>
      <p:sp>
        <p:nvSpPr>
          <p:cNvPr id="33" name="">
            <a:extLst xmlns:a="http://schemas.openxmlformats.org/drawingml/2006/main">
              <a:ext uri="{FF2B5EF4-FFF2-40B4-BE49-F238E27FC236}">
                <a16:creationId xmlns:a16="http://schemas.microsoft.com/office/drawing/2014/main" id="{5FB6758A-2613-4064-9157-9E208028F983}"/>
              </a:ext>
            </a:extLst>
          </p:cNvPr>
          <p:cNvSpPr>
            <a:spLocks xmlns:a="http://schemas.openxmlformats.org/drawingml/2006/main" noGrp="1"/>
          </p:cNvSpPr>
          <p:nvPr/>
        </p:nvSpPr>
        <p:spPr>
          <a:xfrm xmlns:a="http://schemas.openxmlformats.org/drawingml/2006/main">
            <a:off x="6838950" y="4552950"/>
            <a:ext cx="3829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55555"/>
                </a:solidFill>
              </a:defRPr>
            </a:pPr>
            <a:r>
              <a:rPr sz="1050" b="0">
                <a:solidFill>
                  <a:srgbClr val="555555"/>
                </a:solidFill>
              </a:rPr>
              <a:t>日志、指标、链路追踪、告警和质量看板</a:t>
            </a:r>
          </a:p>
        </p:txBody>
      </p:sp>
      <p:sp>
        <p:nvSpPr>
          <p:cNvPr id="34" name="">
            <a:extLst xmlns:a="http://schemas.openxmlformats.org/drawingml/2006/main">
              <a:ext uri="{FF2B5EF4-FFF2-40B4-BE49-F238E27FC236}">
                <a16:creationId xmlns:a16="http://schemas.microsoft.com/office/drawing/2014/main" id="{5718C26B-06C7-4021-8E7A-56DC06495B95}"/>
              </a:ext>
            </a:extLst>
          </p:cNvPr>
          <p:cNvSpPr>
            <a:spLocks xmlns:a="http://schemas.openxmlformats.org/drawingml/2006/main" noGrp="1"/>
          </p:cNvSpPr>
          <p:nvPr/>
        </p:nvSpPr>
        <p:spPr>
          <a:xfrm xmlns:a="http://schemas.openxmlformats.org/drawingml/2006/main">
            <a:off x="666750" y="5572125"/>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00000"/>
                </a:solidFill>
              </a:defRPr>
            </a:pPr>
            <a:r>
              <a:rPr sz="1650" b="1">
                <a:solidFill>
                  <a:srgbClr val="000000"/>
                </a:solidFill>
              </a:rPr>
              <a:t>云产品不是被 AI 包装，而是 agent 可以调用、写入、消费、治理和观测的能力底座。</a:t>
            </a:r>
          </a:p>
        </p:txBody>
      </p:sp>
      <p:sp>
        <p:nvSpPr>
          <p:cNvPr id="35" name="">
            <a:extLst xmlns:a="http://schemas.openxmlformats.org/drawingml/2006/main">
              <a:ext uri="{FF2B5EF4-FFF2-40B4-BE49-F238E27FC236}">
                <a16:creationId xmlns:a16="http://schemas.microsoft.com/office/drawing/2014/main" id="{F9C68AEE-F695-4838-A05E-5C0A8D7DE4A0}"/>
              </a:ext>
            </a:extLst>
          </p:cNvPr>
          <p:cNvSpPr>
            <a:spLocks xmlns:a="http://schemas.openxmlformats.org/drawingml/2006/main" noGrp="1"/>
          </p:cNvSpPr>
          <p:nvPr/>
        </p:nvSpPr>
        <p:spPr>
          <a:xfrm xmlns:a="http://schemas.openxmlformats.org/drawingml/2006/main">
            <a:off x="514350" y="63817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55555"/>
                </a:solidFill>
              </a:defRPr>
            </a:pPr>
            <a:r>
              <a:rPr sz="1050" b="0">
                <a:solidFill>
                  <a:srgbClr val="555555"/>
                </a:solidFill>
              </a:rPr>
              <a:t>西安 630 项目软件工厂复盘</a:t>
            </a:r>
          </a:p>
        </p:txBody>
      </p:sp>
      <p:sp>
        <p:nvSpPr>
          <p:cNvPr id="36" name="">
            <a:extLst xmlns:a="http://schemas.openxmlformats.org/drawingml/2006/main">
              <a:ext uri="{FF2B5EF4-FFF2-40B4-BE49-F238E27FC236}">
                <a16:creationId xmlns:a16="http://schemas.microsoft.com/office/drawing/2014/main" id="{2029A41B-8BC2-459A-A7E4-2124BBA81341}"/>
              </a:ext>
            </a:extLst>
          </p:cNvPr>
          <p:cNvSpPr>
            <a:spLocks xmlns:a="http://schemas.openxmlformats.org/drawingml/2006/main" noGrp="1"/>
          </p:cNvSpPr>
          <p:nvPr/>
        </p:nvSpPr>
        <p:spPr>
          <a:xfrm xmlns:a="http://schemas.openxmlformats.org/drawingml/2006/main">
            <a:off x="11287125" y="63817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555555"/>
                </a:solidFill>
              </a:defRPr>
            </a:pPr>
            <a:r>
              <a:rPr sz="1050" b="1">
                <a:solidFill>
                  <a:srgbClr val="555555"/>
                </a:solidFill>
              </a:rPr>
              <a:t>11</a:t>
            </a:r>
          </a:p>
        </p:txBody>
      </p:sp>
    </p:spTree>
    <p:extLst>
      <p:ext uri="{BB962C8B-B14F-4D97-AF65-F5344CB8AC3E}">
        <p14:creationId xmlns:p14="http://schemas.microsoft.com/office/powerpoint/2010/main" val="112038480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EA03AEA-7794-446D-A2F6-B3A921F9825F}"/>
              </a:ext>
            </a:extLst>
          </p:cNvPr>
          <p:cNvSpPr>
            <a:spLocks xmlns:a="http://schemas.openxmlformats.org/drawingml/2006/main" noGrp="1"/>
          </p:cNvSpPr>
          <p:nvPr/>
        </p:nvSpPr>
        <p:spPr>
          <a:xfrm xmlns:a="http://schemas.openxmlformats.org/drawingml/2006/main">
            <a:off x="514350" y="342900"/>
            <a:ext cx="10191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0000"/>
                </a:solidFill>
              </a:defRPr>
            </a:pPr>
            <a:r>
              <a:rPr sz="2700" b="1">
                <a:solidFill>
                  <a:srgbClr val="000000"/>
                </a:solidFill>
              </a:rPr>
              <a:t>先打通 DevOps，同时守住数据链路边界</a:t>
            </a:r>
          </a:p>
        </p:txBody>
      </p:sp>
      <p:sp>
        <p:nvSpPr>
          <p:cNvPr id="2" name="">
            <a:extLst xmlns:a="http://schemas.openxmlformats.org/drawingml/2006/main">
              <a:ext uri="{FF2B5EF4-FFF2-40B4-BE49-F238E27FC236}">
                <a16:creationId xmlns:a16="http://schemas.microsoft.com/office/drawing/2014/main" id="{BA41AF1B-8D8F-41CF-BFE3-0114BB384DDD}"/>
              </a:ext>
            </a:extLst>
          </p:cNvPr>
          <p:cNvSpPr>
            <a:spLocks xmlns:a="http://schemas.openxmlformats.org/drawingml/2006/main" noGrp="1"/>
          </p:cNvSpPr>
          <p:nvPr/>
        </p:nvSpPr>
        <p:spPr>
          <a:xfrm xmlns:a="http://schemas.openxmlformats.org/drawingml/2006/main">
            <a:off x="514350" y="12001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55555"/>
                </a:solidFill>
              </a:defRPr>
            </a:pPr>
            <a:r>
              <a:rPr sz="1275" b="0">
                <a:solidFill>
                  <a:srgbClr val="555555"/>
                </a:solidFill>
              </a:rPr>
              <a:t>DevOps 证明 agent 进入软件生产主链路；数据边界防止职责失控。</a:t>
            </a:r>
          </a:p>
        </p:txBody>
      </p:sp>
      <p:sp>
        <p:nvSpPr>
          <p:cNvPr id="3" name="">
            <a:extLst xmlns:a="http://schemas.openxmlformats.org/drawingml/2006/main">
              <a:ext uri="{FF2B5EF4-FFF2-40B4-BE49-F238E27FC236}">
                <a16:creationId xmlns:a16="http://schemas.microsoft.com/office/drawing/2014/main" id="{BED570E7-32C5-439F-AB14-BEE2970D0C17}"/>
              </a:ext>
            </a:extLst>
          </p:cNvPr>
          <p:cNvSpPr>
            <a:spLocks xmlns:a="http://schemas.openxmlformats.org/drawingml/2006/main" noGrp="1"/>
          </p:cNvSpPr>
          <p:nvPr/>
        </p:nvSpPr>
        <p:spPr>
          <a:xfrm xmlns:a="http://schemas.openxmlformats.org/drawingml/2006/main">
            <a:off x="514350" y="1581150"/>
            <a:ext cx="111633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9053BB65-7965-4171-AE48-175FC564969B}"/>
              </a:ext>
            </a:extLst>
          </p:cNvPr>
          <p:cNvSpPr>
            <a:spLocks xmlns:a="http://schemas.openxmlformats.org/drawingml/2006/main" noGrp="1"/>
          </p:cNvSpPr>
          <p:nvPr/>
        </p:nvSpPr>
        <p:spPr>
          <a:xfrm xmlns:a="http://schemas.openxmlformats.org/drawingml/2006/main">
            <a:off x="685800" y="1905000"/>
            <a:ext cx="1333500" cy="742950"/>
          </a:xfrm>
          <a:prstGeom xmlns:a="http://schemas.openxmlformats.org/drawingml/2006/main" prst="rect">
            <a:avLst/>
          </a:prstGeom>
          <a:solidFill xmlns:a="http://schemas.openxmlformats.org/drawingml/2006/main">
            <a:srgbClr val="FFF4EF"/>
          </a:solidFill>
          <a:ln xmlns:a="http://schemas.openxmlformats.org/drawingml/2006/main" w="9525">
            <a:solidFill>
              <a:srgbClr val="FF6B35"/>
            </a:solidFill>
            <a:prstDash val="solid"/>
          </a:ln>
        </p:spPr>
      </p:sp>
      <p:sp>
        <p:nvSpPr>
          <p:cNvPr id="5" name="">
            <a:extLst xmlns:a="http://schemas.openxmlformats.org/drawingml/2006/main">
              <a:ext uri="{FF2B5EF4-FFF2-40B4-BE49-F238E27FC236}">
                <a16:creationId xmlns:a16="http://schemas.microsoft.com/office/drawing/2014/main" id="{49EC0432-D385-40B9-8C97-B1EFC7354B79}"/>
              </a:ext>
            </a:extLst>
          </p:cNvPr>
          <p:cNvSpPr>
            <a:spLocks xmlns:a="http://schemas.openxmlformats.org/drawingml/2006/main" noGrp="1"/>
          </p:cNvSpPr>
          <p:nvPr/>
        </p:nvSpPr>
        <p:spPr>
          <a:xfrm xmlns:a="http://schemas.openxmlformats.org/drawingml/2006/main">
            <a:off x="819150" y="2143125"/>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00000"/>
                </a:solidFill>
              </a:defRPr>
            </a:pPr>
            <a:r>
              <a:rPr sz="1425" b="1">
                <a:solidFill>
                  <a:srgbClr val="000000"/>
                </a:solidFill>
              </a:rPr>
              <a:t>需求项</a:t>
            </a:r>
          </a:p>
        </p:txBody>
      </p:sp>
      <p:sp>
        <p:nvSpPr>
          <p:cNvPr id="6" name="">
            <a:extLst xmlns:a="http://schemas.openxmlformats.org/drawingml/2006/main">
              <a:ext uri="{FF2B5EF4-FFF2-40B4-BE49-F238E27FC236}">
                <a16:creationId xmlns:a16="http://schemas.microsoft.com/office/drawing/2014/main" id="{D69B933F-7648-4446-8BBB-4BB147322A85}"/>
              </a:ext>
            </a:extLst>
          </p:cNvPr>
          <p:cNvSpPr>
            <a:spLocks xmlns:a="http://schemas.openxmlformats.org/drawingml/2006/main" noGrp="1"/>
          </p:cNvSpPr>
          <p:nvPr/>
        </p:nvSpPr>
        <p:spPr>
          <a:xfrm xmlns:a="http://schemas.openxmlformats.org/drawingml/2006/main">
            <a:off x="2066925" y="2095500"/>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0">
                <a:solidFill>
                  <a:srgbClr val="555555"/>
                </a:solidFill>
              </a:defRPr>
            </a:pPr>
            <a:r>
              <a:rPr sz="2100" b="0">
                <a:solidFill>
                  <a:srgbClr val="555555"/>
                </a:solidFill>
              </a:rPr>
              <a:t>→</a:t>
            </a:r>
          </a:p>
        </p:txBody>
      </p:sp>
      <p:sp>
        <p:nvSpPr>
          <p:cNvPr id="7" name="">
            <a:extLst xmlns:a="http://schemas.openxmlformats.org/drawingml/2006/main">
              <a:ext uri="{FF2B5EF4-FFF2-40B4-BE49-F238E27FC236}">
                <a16:creationId xmlns:a16="http://schemas.microsoft.com/office/drawing/2014/main" id="{E2EB15CD-B340-4709-9686-31F5EFE71CAE}"/>
              </a:ext>
            </a:extLst>
          </p:cNvPr>
          <p:cNvSpPr>
            <a:spLocks xmlns:a="http://schemas.openxmlformats.org/drawingml/2006/main" noGrp="1"/>
          </p:cNvSpPr>
          <p:nvPr/>
        </p:nvSpPr>
        <p:spPr>
          <a:xfrm xmlns:a="http://schemas.openxmlformats.org/drawingml/2006/main">
            <a:off x="2476500" y="1905000"/>
            <a:ext cx="1333500" cy="74295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58083BB-39FB-4F1A-81C4-C9697FF6A1D8}"/>
              </a:ext>
            </a:extLst>
          </p:cNvPr>
          <p:cNvSpPr>
            <a:spLocks xmlns:a="http://schemas.openxmlformats.org/drawingml/2006/main" noGrp="1"/>
          </p:cNvSpPr>
          <p:nvPr/>
        </p:nvSpPr>
        <p:spPr>
          <a:xfrm xmlns:a="http://schemas.openxmlformats.org/drawingml/2006/main">
            <a:off x="2609850" y="2143125"/>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00000"/>
                </a:solidFill>
              </a:defRPr>
            </a:pPr>
            <a:r>
              <a:rPr sz="1425" b="1">
                <a:solidFill>
                  <a:srgbClr val="000000"/>
                </a:solidFill>
              </a:rPr>
              <a:t>测试用例</a:t>
            </a:r>
          </a:p>
        </p:txBody>
      </p:sp>
      <p:sp>
        <p:nvSpPr>
          <p:cNvPr id="9" name="">
            <a:extLst xmlns:a="http://schemas.openxmlformats.org/drawingml/2006/main">
              <a:ext uri="{FF2B5EF4-FFF2-40B4-BE49-F238E27FC236}">
                <a16:creationId xmlns:a16="http://schemas.microsoft.com/office/drawing/2014/main" id="{612398F6-7C02-4AA3-A1C9-499F0BE31279}"/>
              </a:ext>
            </a:extLst>
          </p:cNvPr>
          <p:cNvSpPr>
            <a:spLocks xmlns:a="http://schemas.openxmlformats.org/drawingml/2006/main" noGrp="1"/>
          </p:cNvSpPr>
          <p:nvPr/>
        </p:nvSpPr>
        <p:spPr>
          <a:xfrm xmlns:a="http://schemas.openxmlformats.org/drawingml/2006/main">
            <a:off x="3857625" y="2095500"/>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0">
                <a:solidFill>
                  <a:srgbClr val="555555"/>
                </a:solidFill>
              </a:defRPr>
            </a:pPr>
            <a:r>
              <a:rPr sz="2100" b="0">
                <a:solidFill>
                  <a:srgbClr val="555555"/>
                </a:solidFill>
              </a:rPr>
              <a:t>→</a:t>
            </a:r>
          </a:p>
        </p:txBody>
      </p:sp>
      <p:sp>
        <p:nvSpPr>
          <p:cNvPr id="10" name="">
            <a:extLst xmlns:a="http://schemas.openxmlformats.org/drawingml/2006/main">
              <a:ext uri="{FF2B5EF4-FFF2-40B4-BE49-F238E27FC236}">
                <a16:creationId xmlns:a16="http://schemas.microsoft.com/office/drawing/2014/main" id="{31266252-7F88-498E-B7DB-510340D20DDA}"/>
              </a:ext>
            </a:extLst>
          </p:cNvPr>
          <p:cNvSpPr>
            <a:spLocks xmlns:a="http://schemas.openxmlformats.org/drawingml/2006/main" noGrp="1"/>
          </p:cNvSpPr>
          <p:nvPr/>
        </p:nvSpPr>
        <p:spPr>
          <a:xfrm xmlns:a="http://schemas.openxmlformats.org/drawingml/2006/main">
            <a:off x="4267200" y="1905000"/>
            <a:ext cx="1333500" cy="74295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CA71526-0795-461F-8850-A42CE79BA316}"/>
              </a:ext>
            </a:extLst>
          </p:cNvPr>
          <p:cNvSpPr>
            <a:spLocks xmlns:a="http://schemas.openxmlformats.org/drawingml/2006/main" noGrp="1"/>
          </p:cNvSpPr>
          <p:nvPr/>
        </p:nvSpPr>
        <p:spPr>
          <a:xfrm xmlns:a="http://schemas.openxmlformats.org/drawingml/2006/main">
            <a:off x="4400550" y="2143125"/>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00000"/>
                </a:solidFill>
              </a:defRPr>
            </a:pPr>
            <a:r>
              <a:rPr sz="1425" b="1">
                <a:solidFill>
                  <a:srgbClr val="000000"/>
                </a:solidFill>
              </a:rPr>
              <a:t>代码仓库</a:t>
            </a:r>
          </a:p>
        </p:txBody>
      </p:sp>
      <p:sp>
        <p:nvSpPr>
          <p:cNvPr id="12" name="">
            <a:extLst xmlns:a="http://schemas.openxmlformats.org/drawingml/2006/main">
              <a:ext uri="{FF2B5EF4-FFF2-40B4-BE49-F238E27FC236}">
                <a16:creationId xmlns:a16="http://schemas.microsoft.com/office/drawing/2014/main" id="{2B025896-C3C1-4361-AF40-C2EB75762A44}"/>
              </a:ext>
            </a:extLst>
          </p:cNvPr>
          <p:cNvSpPr>
            <a:spLocks xmlns:a="http://schemas.openxmlformats.org/drawingml/2006/main" noGrp="1"/>
          </p:cNvSpPr>
          <p:nvPr/>
        </p:nvSpPr>
        <p:spPr>
          <a:xfrm xmlns:a="http://schemas.openxmlformats.org/drawingml/2006/main">
            <a:off x="5648325" y="2095500"/>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0">
                <a:solidFill>
                  <a:srgbClr val="555555"/>
                </a:solidFill>
              </a:defRPr>
            </a:pPr>
            <a:r>
              <a:rPr sz="2100" b="0">
                <a:solidFill>
                  <a:srgbClr val="555555"/>
                </a:solidFill>
              </a:rPr>
              <a:t>→</a:t>
            </a:r>
          </a:p>
        </p:txBody>
      </p:sp>
      <p:sp>
        <p:nvSpPr>
          <p:cNvPr id="13" name="">
            <a:extLst xmlns:a="http://schemas.openxmlformats.org/drawingml/2006/main">
              <a:ext uri="{FF2B5EF4-FFF2-40B4-BE49-F238E27FC236}">
                <a16:creationId xmlns:a16="http://schemas.microsoft.com/office/drawing/2014/main" id="{4F10A666-9E47-4F84-BC9E-D5D8610C9E6F}"/>
              </a:ext>
            </a:extLst>
          </p:cNvPr>
          <p:cNvSpPr>
            <a:spLocks xmlns:a="http://schemas.openxmlformats.org/drawingml/2006/main" noGrp="1"/>
          </p:cNvSpPr>
          <p:nvPr/>
        </p:nvSpPr>
        <p:spPr>
          <a:xfrm xmlns:a="http://schemas.openxmlformats.org/drawingml/2006/main">
            <a:off x="6057900" y="1905000"/>
            <a:ext cx="1333500" cy="74295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E4F7CEC-DD19-48D9-B5EB-CE0E8BE1791D}"/>
              </a:ext>
            </a:extLst>
          </p:cNvPr>
          <p:cNvSpPr>
            <a:spLocks xmlns:a="http://schemas.openxmlformats.org/drawingml/2006/main" noGrp="1"/>
          </p:cNvSpPr>
          <p:nvPr/>
        </p:nvSpPr>
        <p:spPr>
          <a:xfrm xmlns:a="http://schemas.openxmlformats.org/drawingml/2006/main">
            <a:off x="6191250" y="2143125"/>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00000"/>
                </a:solidFill>
              </a:defRPr>
            </a:pPr>
            <a:r>
              <a:rPr sz="1425" b="1">
                <a:solidFill>
                  <a:srgbClr val="000000"/>
                </a:solidFill>
              </a:rPr>
              <a:t>测试脚本</a:t>
            </a:r>
          </a:p>
        </p:txBody>
      </p:sp>
      <p:sp>
        <p:nvSpPr>
          <p:cNvPr id="15" name="">
            <a:extLst xmlns:a="http://schemas.openxmlformats.org/drawingml/2006/main">
              <a:ext uri="{FF2B5EF4-FFF2-40B4-BE49-F238E27FC236}">
                <a16:creationId xmlns:a16="http://schemas.microsoft.com/office/drawing/2014/main" id="{72E2808D-5A86-458D-8781-835199FA572D}"/>
              </a:ext>
            </a:extLst>
          </p:cNvPr>
          <p:cNvSpPr>
            <a:spLocks xmlns:a="http://schemas.openxmlformats.org/drawingml/2006/main" noGrp="1"/>
          </p:cNvSpPr>
          <p:nvPr/>
        </p:nvSpPr>
        <p:spPr>
          <a:xfrm xmlns:a="http://schemas.openxmlformats.org/drawingml/2006/main">
            <a:off x="7439025" y="2095500"/>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0">
                <a:solidFill>
                  <a:srgbClr val="555555"/>
                </a:solidFill>
              </a:defRPr>
            </a:pPr>
            <a:r>
              <a:rPr sz="2100" b="0">
                <a:solidFill>
                  <a:srgbClr val="555555"/>
                </a:solidFill>
              </a:rPr>
              <a:t>→</a:t>
            </a:r>
          </a:p>
        </p:txBody>
      </p:sp>
      <p:sp>
        <p:nvSpPr>
          <p:cNvPr id="16" name="">
            <a:extLst xmlns:a="http://schemas.openxmlformats.org/drawingml/2006/main">
              <a:ext uri="{FF2B5EF4-FFF2-40B4-BE49-F238E27FC236}">
                <a16:creationId xmlns:a16="http://schemas.microsoft.com/office/drawing/2014/main" id="{236D7545-3846-45E5-BA39-C28716F08B4D}"/>
              </a:ext>
            </a:extLst>
          </p:cNvPr>
          <p:cNvSpPr>
            <a:spLocks xmlns:a="http://schemas.openxmlformats.org/drawingml/2006/main" noGrp="1"/>
          </p:cNvSpPr>
          <p:nvPr/>
        </p:nvSpPr>
        <p:spPr>
          <a:xfrm xmlns:a="http://schemas.openxmlformats.org/drawingml/2006/main">
            <a:off x="7848600" y="1905000"/>
            <a:ext cx="1333500" cy="74295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19546AC1-CB9B-4D23-B803-8A78463DA3A3}"/>
              </a:ext>
            </a:extLst>
          </p:cNvPr>
          <p:cNvSpPr>
            <a:spLocks xmlns:a="http://schemas.openxmlformats.org/drawingml/2006/main" noGrp="1"/>
          </p:cNvSpPr>
          <p:nvPr/>
        </p:nvSpPr>
        <p:spPr>
          <a:xfrm xmlns:a="http://schemas.openxmlformats.org/drawingml/2006/main">
            <a:off x="7981950" y="2143125"/>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00000"/>
                </a:solidFill>
              </a:defRPr>
            </a:pPr>
            <a:r>
              <a:rPr sz="1425" b="1">
                <a:solidFill>
                  <a:srgbClr val="000000"/>
                </a:solidFill>
              </a:rPr>
              <a:t>流水线</a:t>
            </a:r>
          </a:p>
        </p:txBody>
      </p:sp>
      <p:sp>
        <p:nvSpPr>
          <p:cNvPr id="18" name="">
            <a:extLst xmlns:a="http://schemas.openxmlformats.org/drawingml/2006/main">
              <a:ext uri="{FF2B5EF4-FFF2-40B4-BE49-F238E27FC236}">
                <a16:creationId xmlns:a16="http://schemas.microsoft.com/office/drawing/2014/main" id="{F0939904-C003-44EA-B3B2-C76FB1A89355}"/>
              </a:ext>
            </a:extLst>
          </p:cNvPr>
          <p:cNvSpPr>
            <a:spLocks xmlns:a="http://schemas.openxmlformats.org/drawingml/2006/main" noGrp="1"/>
          </p:cNvSpPr>
          <p:nvPr/>
        </p:nvSpPr>
        <p:spPr>
          <a:xfrm xmlns:a="http://schemas.openxmlformats.org/drawingml/2006/main">
            <a:off x="9229725" y="2095500"/>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100" b="0">
                <a:solidFill>
                  <a:srgbClr val="555555"/>
                </a:solidFill>
              </a:defRPr>
            </a:pPr>
            <a:r>
              <a:rPr sz="2100" b="0">
                <a:solidFill>
                  <a:srgbClr val="555555"/>
                </a:solidFill>
              </a:rPr>
              <a:t>→</a:t>
            </a:r>
          </a:p>
        </p:txBody>
      </p:sp>
      <p:sp>
        <p:nvSpPr>
          <p:cNvPr id="19" name="">
            <a:extLst xmlns:a="http://schemas.openxmlformats.org/drawingml/2006/main">
              <a:ext uri="{FF2B5EF4-FFF2-40B4-BE49-F238E27FC236}">
                <a16:creationId xmlns:a16="http://schemas.microsoft.com/office/drawing/2014/main" id="{919611C1-36F7-4DEE-ADF6-0AB91C1506D6}"/>
              </a:ext>
            </a:extLst>
          </p:cNvPr>
          <p:cNvSpPr>
            <a:spLocks xmlns:a="http://schemas.openxmlformats.org/drawingml/2006/main" noGrp="1"/>
          </p:cNvSpPr>
          <p:nvPr/>
        </p:nvSpPr>
        <p:spPr>
          <a:xfrm xmlns:a="http://schemas.openxmlformats.org/drawingml/2006/main">
            <a:off x="9639300" y="1905000"/>
            <a:ext cx="1333500" cy="74295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F482894-D7C7-43E1-90A3-FC0310F8C175}"/>
              </a:ext>
            </a:extLst>
          </p:cNvPr>
          <p:cNvSpPr>
            <a:spLocks xmlns:a="http://schemas.openxmlformats.org/drawingml/2006/main" noGrp="1"/>
          </p:cNvSpPr>
          <p:nvPr/>
        </p:nvSpPr>
        <p:spPr>
          <a:xfrm xmlns:a="http://schemas.openxmlformats.org/drawingml/2006/main">
            <a:off x="9772650" y="2143125"/>
            <a:ext cx="106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00000"/>
                </a:solidFill>
              </a:defRPr>
            </a:pPr>
            <a:r>
              <a:rPr sz="1425" b="1">
                <a:solidFill>
                  <a:srgbClr val="000000"/>
                </a:solidFill>
              </a:rPr>
              <a:t>部署回写</a:t>
            </a:r>
          </a:p>
        </p:txBody>
      </p:sp>
      <p:sp>
        <p:nvSpPr>
          <p:cNvPr id="21" name="">
            <a:extLst xmlns:a="http://schemas.openxmlformats.org/drawingml/2006/main">
              <a:ext uri="{FF2B5EF4-FFF2-40B4-BE49-F238E27FC236}">
                <a16:creationId xmlns:a16="http://schemas.microsoft.com/office/drawing/2014/main" id="{1FDC33D9-6265-4FFE-BA79-15E94FCA2619}"/>
              </a:ext>
            </a:extLst>
          </p:cNvPr>
          <p:cNvSpPr>
            <a:spLocks xmlns:a="http://schemas.openxmlformats.org/drawingml/2006/main" noGrp="1"/>
          </p:cNvSpPr>
          <p:nvPr/>
        </p:nvSpPr>
        <p:spPr>
          <a:xfrm xmlns:a="http://schemas.openxmlformats.org/drawingml/2006/main">
            <a:off x="666750" y="3429000"/>
            <a:ext cx="4953000" cy="160020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45E9946-274F-4421-BE01-381FC87DD088}"/>
              </a:ext>
            </a:extLst>
          </p:cNvPr>
          <p:cNvSpPr>
            <a:spLocks xmlns:a="http://schemas.openxmlformats.org/drawingml/2006/main" noGrp="1"/>
          </p:cNvSpPr>
          <p:nvPr/>
        </p:nvSpPr>
        <p:spPr>
          <a:xfrm xmlns:a="http://schemas.openxmlformats.org/drawingml/2006/main">
            <a:off x="952500" y="3695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FF6B35"/>
                </a:solidFill>
              </a:defRPr>
            </a:pPr>
            <a:r>
              <a:rPr sz="1125" b="1">
                <a:solidFill>
                  <a:srgbClr val="FF6B35"/>
                </a:solidFill>
              </a:rPr>
              <a:t>生成期数据链路</a:t>
            </a:r>
          </a:p>
        </p:txBody>
      </p:sp>
      <p:sp>
        <p:nvSpPr>
          <p:cNvPr id="23" name="">
            <a:extLst xmlns:a="http://schemas.openxmlformats.org/drawingml/2006/main">
              <a:ext uri="{FF2B5EF4-FFF2-40B4-BE49-F238E27FC236}">
                <a16:creationId xmlns:a16="http://schemas.microsoft.com/office/drawing/2014/main" id="{0326BFD3-8F73-4148-BF4A-0CA32BB7511B}"/>
              </a:ext>
            </a:extLst>
          </p:cNvPr>
          <p:cNvSpPr>
            <a:spLocks xmlns:a="http://schemas.openxmlformats.org/drawingml/2006/main" noGrp="1"/>
          </p:cNvSpPr>
          <p:nvPr/>
        </p:nvSpPr>
        <p:spPr>
          <a:xfrm xmlns:a="http://schemas.openxmlformats.org/drawingml/2006/main">
            <a:off x="952500" y="4095750"/>
            <a:ext cx="4095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222222"/>
                </a:solidFill>
              </a:defRPr>
            </a:pPr>
            <a:r>
              <a:rPr sz="1500" b="0">
                <a:solidFill>
                  <a:srgbClr val="222222"/>
                </a:solidFill>
              </a:rPr>
              <a:t>需求澄清、数据接入、接口验证、字段抽取、数据契约、下游生成约束。</a:t>
            </a:r>
          </a:p>
        </p:txBody>
      </p:sp>
      <p:sp>
        <p:nvSpPr>
          <p:cNvPr id="24" name="">
            <a:extLst xmlns:a="http://schemas.openxmlformats.org/drawingml/2006/main">
              <a:ext uri="{FF2B5EF4-FFF2-40B4-BE49-F238E27FC236}">
                <a16:creationId xmlns:a16="http://schemas.microsoft.com/office/drawing/2014/main" id="{CDF67F92-2F7F-49BA-83C0-CFAE801FCC7F}"/>
              </a:ext>
            </a:extLst>
          </p:cNvPr>
          <p:cNvSpPr>
            <a:spLocks xmlns:a="http://schemas.openxmlformats.org/drawingml/2006/main" noGrp="1"/>
          </p:cNvSpPr>
          <p:nvPr/>
        </p:nvSpPr>
        <p:spPr>
          <a:xfrm xmlns:a="http://schemas.openxmlformats.org/drawingml/2006/main">
            <a:off x="6381750" y="3429000"/>
            <a:ext cx="4953000" cy="160020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55EF5187-41F8-44A5-B992-5112ACC4FAB1}"/>
              </a:ext>
            </a:extLst>
          </p:cNvPr>
          <p:cNvSpPr>
            <a:spLocks xmlns:a="http://schemas.openxmlformats.org/drawingml/2006/main" noGrp="1"/>
          </p:cNvSpPr>
          <p:nvPr/>
        </p:nvSpPr>
        <p:spPr>
          <a:xfrm xmlns:a="http://schemas.openxmlformats.org/drawingml/2006/main">
            <a:off x="6667500" y="3695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FF6B35"/>
                </a:solidFill>
              </a:defRPr>
            </a:pPr>
            <a:r>
              <a:rPr sz="1125" b="1">
                <a:solidFill>
                  <a:srgbClr val="FF6B35"/>
                </a:solidFill>
              </a:rPr>
              <a:t>运行期数据链路</a:t>
            </a:r>
          </a:p>
        </p:txBody>
      </p:sp>
      <p:sp>
        <p:nvSpPr>
          <p:cNvPr id="26" name="">
            <a:extLst xmlns:a="http://schemas.openxmlformats.org/drawingml/2006/main">
              <a:ext uri="{FF2B5EF4-FFF2-40B4-BE49-F238E27FC236}">
                <a16:creationId xmlns:a16="http://schemas.microsoft.com/office/drawing/2014/main" id="{2B183CFF-05DB-4286-8B10-43FE3FE0C914}"/>
              </a:ext>
            </a:extLst>
          </p:cNvPr>
          <p:cNvSpPr>
            <a:spLocks xmlns:a="http://schemas.openxmlformats.org/drawingml/2006/main" noGrp="1"/>
          </p:cNvSpPr>
          <p:nvPr/>
        </p:nvSpPr>
        <p:spPr>
          <a:xfrm xmlns:a="http://schemas.openxmlformats.org/drawingml/2006/main">
            <a:off x="6667500" y="4095750"/>
            <a:ext cx="4095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222222"/>
                </a:solidFill>
              </a:defRPr>
            </a:pPr>
            <a:r>
              <a:rPr sz="1500" b="0">
                <a:solidFill>
                  <a:srgbClr val="222222"/>
                </a:solidFill>
              </a:rPr>
              <a:t>生成应用通过 API、网关、本体服务、代理和鉴权配置取数，并负责展示、刷新和降级。</a:t>
            </a:r>
          </a:p>
        </p:txBody>
      </p:sp>
      <p:sp>
        <p:nvSpPr>
          <p:cNvPr id="27" name="">
            <a:extLst xmlns:a="http://schemas.openxmlformats.org/drawingml/2006/main">
              <a:ext uri="{FF2B5EF4-FFF2-40B4-BE49-F238E27FC236}">
                <a16:creationId xmlns:a16="http://schemas.microsoft.com/office/drawing/2014/main" id="{694688D8-547C-4B2F-A816-84141DAC95A4}"/>
              </a:ext>
            </a:extLst>
          </p:cNvPr>
          <p:cNvSpPr>
            <a:spLocks xmlns:a="http://schemas.openxmlformats.org/drawingml/2006/main" noGrp="1"/>
          </p:cNvSpPr>
          <p:nvPr/>
        </p:nvSpPr>
        <p:spPr>
          <a:xfrm xmlns:a="http://schemas.openxmlformats.org/drawingml/2006/main">
            <a:off x="666750" y="5572125"/>
            <a:ext cx="781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00000"/>
                </a:solidFill>
              </a:defRPr>
            </a:pPr>
            <a:r>
              <a:rPr sz="1725" b="1">
                <a:solidFill>
                  <a:srgbClr val="000000"/>
                </a:solidFill>
              </a:rPr>
              <a:t>factory-server 不应成为所有业务应用的通用数据查询网关。</a:t>
            </a:r>
          </a:p>
        </p:txBody>
      </p:sp>
      <p:sp>
        <p:nvSpPr>
          <p:cNvPr id="28" name="">
            <a:extLst xmlns:a="http://schemas.openxmlformats.org/drawingml/2006/main">
              <a:ext uri="{FF2B5EF4-FFF2-40B4-BE49-F238E27FC236}">
                <a16:creationId xmlns:a16="http://schemas.microsoft.com/office/drawing/2014/main" id="{61BFB404-C63C-42A1-83A9-AD08BBFF6690}"/>
              </a:ext>
            </a:extLst>
          </p:cNvPr>
          <p:cNvSpPr>
            <a:spLocks xmlns:a="http://schemas.openxmlformats.org/drawingml/2006/main" noGrp="1"/>
          </p:cNvSpPr>
          <p:nvPr/>
        </p:nvSpPr>
        <p:spPr>
          <a:xfrm xmlns:a="http://schemas.openxmlformats.org/drawingml/2006/main">
            <a:off x="514350" y="63817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55555"/>
                </a:solidFill>
              </a:defRPr>
            </a:pPr>
            <a:r>
              <a:rPr sz="1050" b="0">
                <a:solidFill>
                  <a:srgbClr val="555555"/>
                </a:solidFill>
              </a:rPr>
              <a:t>西安 630 项目软件工厂复盘</a:t>
            </a:r>
          </a:p>
        </p:txBody>
      </p:sp>
      <p:sp>
        <p:nvSpPr>
          <p:cNvPr id="29" name="">
            <a:extLst xmlns:a="http://schemas.openxmlformats.org/drawingml/2006/main">
              <a:ext uri="{FF2B5EF4-FFF2-40B4-BE49-F238E27FC236}">
                <a16:creationId xmlns:a16="http://schemas.microsoft.com/office/drawing/2014/main" id="{E256F273-04B4-48B8-9968-EA00EE9D4481}"/>
              </a:ext>
            </a:extLst>
          </p:cNvPr>
          <p:cNvSpPr>
            <a:spLocks xmlns:a="http://schemas.openxmlformats.org/drawingml/2006/main" noGrp="1"/>
          </p:cNvSpPr>
          <p:nvPr/>
        </p:nvSpPr>
        <p:spPr>
          <a:xfrm xmlns:a="http://schemas.openxmlformats.org/drawingml/2006/main">
            <a:off x="11287125" y="63817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555555"/>
                </a:solidFill>
              </a:defRPr>
            </a:pPr>
            <a:r>
              <a:rPr sz="1050" b="1">
                <a:solidFill>
                  <a:srgbClr val="555555"/>
                </a:solidFill>
              </a:rPr>
              <a:t>12</a:t>
            </a:r>
          </a:p>
        </p:txBody>
      </p:sp>
    </p:spTree>
    <p:extLst>
      <p:ext uri="{BB962C8B-B14F-4D97-AF65-F5344CB8AC3E}">
        <p14:creationId xmlns:p14="http://schemas.microsoft.com/office/powerpoint/2010/main" val="2416583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EF9038C-9D21-49A3-87E8-432A7366553D}"/>
              </a:ext>
            </a:extLst>
          </p:cNvPr>
          <p:cNvSpPr>
            <a:spLocks xmlns:a="http://schemas.openxmlformats.org/drawingml/2006/main" noGrp="1"/>
          </p:cNvSpPr>
          <p:nvPr/>
        </p:nvSpPr>
        <p:spPr>
          <a:xfrm xmlns:a="http://schemas.openxmlformats.org/drawingml/2006/main">
            <a:off x="514350" y="342900"/>
            <a:ext cx="10191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700" b="1">
                <a:solidFill>
                  <a:srgbClr val="000000"/>
                </a:solidFill>
              </a:defRPr>
            </a:pPr>
            <a:r>
              <a:rPr sz="2700" b="1">
                <a:solidFill>
                  <a:srgbClr val="000000"/>
                </a:solidFill>
              </a:rPr>
              <a:t>复盘要收束到建设边界和下一阶段决策</a:t>
            </a:r>
          </a:p>
        </p:txBody>
      </p:sp>
      <p:sp>
        <p:nvSpPr>
          <p:cNvPr id="2" name="">
            <a:extLst xmlns:a="http://schemas.openxmlformats.org/drawingml/2006/main">
              <a:ext uri="{FF2B5EF4-FFF2-40B4-BE49-F238E27FC236}">
                <a16:creationId xmlns:a16="http://schemas.microsoft.com/office/drawing/2014/main" id="{D7CA5CD3-3AAB-4EC7-8B70-DB10FFB1E2EF}"/>
              </a:ext>
            </a:extLst>
          </p:cNvPr>
          <p:cNvSpPr>
            <a:spLocks xmlns:a="http://schemas.openxmlformats.org/drawingml/2006/main" noGrp="1"/>
          </p:cNvSpPr>
          <p:nvPr/>
        </p:nvSpPr>
        <p:spPr>
          <a:xfrm xmlns:a="http://schemas.openxmlformats.org/drawingml/2006/main">
            <a:off x="514350" y="120015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55555"/>
                </a:solidFill>
              </a:defRPr>
            </a:pPr>
            <a:r>
              <a:rPr sz="1275" b="0">
                <a:solidFill>
                  <a:srgbClr val="555555"/>
                </a:solidFill>
              </a:rPr>
              <a:t>边界越清楚，后续投入越不容易跑偏。</a:t>
            </a:r>
          </a:p>
        </p:txBody>
      </p:sp>
      <p:sp>
        <p:nvSpPr>
          <p:cNvPr id="3" name="">
            <a:extLst xmlns:a="http://schemas.openxmlformats.org/drawingml/2006/main">
              <a:ext uri="{FF2B5EF4-FFF2-40B4-BE49-F238E27FC236}">
                <a16:creationId xmlns:a16="http://schemas.microsoft.com/office/drawing/2014/main" id="{60C0F311-4C46-436A-A1BB-5B02ED396171}"/>
              </a:ext>
            </a:extLst>
          </p:cNvPr>
          <p:cNvSpPr>
            <a:spLocks xmlns:a="http://schemas.openxmlformats.org/drawingml/2006/main" noGrp="1"/>
          </p:cNvSpPr>
          <p:nvPr/>
        </p:nvSpPr>
        <p:spPr>
          <a:xfrm xmlns:a="http://schemas.openxmlformats.org/drawingml/2006/main">
            <a:off x="514350" y="1581150"/>
            <a:ext cx="111633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972EE1C6-5ED3-456E-A81E-0D6B94F224AE}"/>
              </a:ext>
            </a:extLst>
          </p:cNvPr>
          <p:cNvSpPr>
            <a:spLocks xmlns:a="http://schemas.openxmlformats.org/drawingml/2006/main" noGrp="1"/>
          </p:cNvSpPr>
          <p:nvPr/>
        </p:nvSpPr>
        <p:spPr>
          <a:xfrm xmlns:a="http://schemas.openxmlformats.org/drawingml/2006/main">
            <a:off x="666750" y="1809750"/>
            <a:ext cx="4857750" cy="3429000"/>
          </a:xfrm>
          <a:prstGeom xmlns:a="http://schemas.openxmlformats.org/drawingml/2006/main" prst="rect">
            <a:avLst/>
          </a:prstGeom>
          <a:solidFill xmlns:a="http://schemas.openxmlformats.org/drawingml/2006/main">
            <a:srgbClr val="F6F6F6"/>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2CC35E8-8EC6-452E-91FD-823093C45CA8}"/>
              </a:ext>
            </a:extLst>
          </p:cNvPr>
          <p:cNvSpPr>
            <a:spLocks xmlns:a="http://schemas.openxmlformats.org/drawingml/2006/main" noGrp="1"/>
          </p:cNvSpPr>
          <p:nvPr/>
        </p:nvSpPr>
        <p:spPr>
          <a:xfrm xmlns:a="http://schemas.openxmlformats.org/drawingml/2006/main">
            <a:off x="952500" y="20955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FF6B35"/>
                </a:solidFill>
              </a:defRPr>
            </a:pPr>
            <a:r>
              <a:rPr sz="1125" b="1">
                <a:solidFill>
                  <a:srgbClr val="FF6B35"/>
                </a:solidFill>
              </a:rPr>
              <a:t>非目标和边界</a:t>
            </a:r>
          </a:p>
        </p:txBody>
      </p:sp>
      <p:sp>
        <p:nvSpPr>
          <p:cNvPr id="6" name="">
            <a:extLst xmlns:a="http://schemas.openxmlformats.org/drawingml/2006/main">
              <a:ext uri="{FF2B5EF4-FFF2-40B4-BE49-F238E27FC236}">
                <a16:creationId xmlns:a16="http://schemas.microsoft.com/office/drawing/2014/main" id="{EAF1FF00-D087-4261-AB1C-FA9BF875EC25}"/>
              </a:ext>
            </a:extLst>
          </p:cNvPr>
          <p:cNvSpPr>
            <a:spLocks xmlns:a="http://schemas.openxmlformats.org/drawingml/2006/main" noGrp="1"/>
          </p:cNvSpPr>
          <p:nvPr/>
        </p:nvSpPr>
        <p:spPr>
          <a:xfrm xmlns:a="http://schemas.openxmlformats.org/drawingml/2006/main">
            <a:off x="952500" y="264795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7" name="">
            <a:extLst xmlns:a="http://schemas.openxmlformats.org/drawingml/2006/main">
              <a:ext uri="{FF2B5EF4-FFF2-40B4-BE49-F238E27FC236}">
                <a16:creationId xmlns:a16="http://schemas.microsoft.com/office/drawing/2014/main" id="{6E70BF0B-E251-4B13-963F-CB6027C17181}"/>
              </a:ext>
            </a:extLst>
          </p:cNvPr>
          <p:cNvSpPr>
            <a:spLocks xmlns:a="http://schemas.openxmlformats.org/drawingml/2006/main" noGrp="1"/>
          </p:cNvSpPr>
          <p:nvPr/>
        </p:nvSpPr>
        <p:spPr>
          <a:xfrm xmlns:a="http://schemas.openxmlformats.org/drawingml/2006/main">
            <a:off x="1123950" y="2571750"/>
            <a:ext cx="3829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000000"/>
                </a:solidFill>
              </a:defRPr>
            </a:pPr>
            <a:r>
              <a:rPr sz="1275" b="0">
                <a:solidFill>
                  <a:srgbClr val="000000"/>
                </a:solidFill>
              </a:rPr>
              <a:t>不把 630 客户口径等同于产品终局</a:t>
            </a:r>
          </a:p>
        </p:txBody>
      </p:sp>
      <p:sp>
        <p:nvSpPr>
          <p:cNvPr id="8" name="">
            <a:extLst xmlns:a="http://schemas.openxmlformats.org/drawingml/2006/main">
              <a:ext uri="{FF2B5EF4-FFF2-40B4-BE49-F238E27FC236}">
                <a16:creationId xmlns:a16="http://schemas.microsoft.com/office/drawing/2014/main" id="{B3909ED9-99E0-4AE5-B23E-E43B76CD43AC}"/>
              </a:ext>
            </a:extLst>
          </p:cNvPr>
          <p:cNvSpPr>
            <a:spLocks xmlns:a="http://schemas.openxmlformats.org/drawingml/2006/main" noGrp="1"/>
          </p:cNvSpPr>
          <p:nvPr/>
        </p:nvSpPr>
        <p:spPr>
          <a:xfrm xmlns:a="http://schemas.openxmlformats.org/drawingml/2006/main">
            <a:off x="952500" y="3095625"/>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9" name="">
            <a:extLst xmlns:a="http://schemas.openxmlformats.org/drawingml/2006/main">
              <a:ext uri="{FF2B5EF4-FFF2-40B4-BE49-F238E27FC236}">
                <a16:creationId xmlns:a16="http://schemas.microsoft.com/office/drawing/2014/main" id="{AB67ACAC-FA22-415B-835F-E5215856E942}"/>
              </a:ext>
            </a:extLst>
          </p:cNvPr>
          <p:cNvSpPr>
            <a:spLocks xmlns:a="http://schemas.openxmlformats.org/drawingml/2006/main" noGrp="1"/>
          </p:cNvSpPr>
          <p:nvPr/>
        </p:nvSpPr>
        <p:spPr>
          <a:xfrm xmlns:a="http://schemas.openxmlformats.org/drawingml/2006/main">
            <a:off x="1123950" y="3019425"/>
            <a:ext cx="3829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000000"/>
                </a:solidFill>
              </a:defRPr>
            </a:pPr>
            <a:r>
              <a:rPr sz="1275" b="0">
                <a:solidFill>
                  <a:srgbClr val="000000"/>
                </a:solidFill>
              </a:rPr>
              <a:t>不把软件工厂做成固定 agent 流水线</a:t>
            </a:r>
          </a:p>
        </p:txBody>
      </p:sp>
      <p:sp>
        <p:nvSpPr>
          <p:cNvPr id="10" name="">
            <a:extLst xmlns:a="http://schemas.openxmlformats.org/drawingml/2006/main">
              <a:ext uri="{FF2B5EF4-FFF2-40B4-BE49-F238E27FC236}">
                <a16:creationId xmlns:a16="http://schemas.microsoft.com/office/drawing/2014/main" id="{944CA58E-7B2E-46F6-A6D6-E888BB80A3F8}"/>
              </a:ext>
            </a:extLst>
          </p:cNvPr>
          <p:cNvSpPr>
            <a:spLocks xmlns:a="http://schemas.openxmlformats.org/drawingml/2006/main" noGrp="1"/>
          </p:cNvSpPr>
          <p:nvPr/>
        </p:nvSpPr>
        <p:spPr>
          <a:xfrm xmlns:a="http://schemas.openxmlformats.org/drawingml/2006/main">
            <a:off x="952500" y="35433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11" name="">
            <a:extLst xmlns:a="http://schemas.openxmlformats.org/drawingml/2006/main">
              <a:ext uri="{FF2B5EF4-FFF2-40B4-BE49-F238E27FC236}">
                <a16:creationId xmlns:a16="http://schemas.microsoft.com/office/drawing/2014/main" id="{71E6FAE6-77A5-441F-AF31-50E8B661BE1E}"/>
              </a:ext>
            </a:extLst>
          </p:cNvPr>
          <p:cNvSpPr>
            <a:spLocks xmlns:a="http://schemas.openxmlformats.org/drawingml/2006/main" noGrp="1"/>
          </p:cNvSpPr>
          <p:nvPr/>
        </p:nvSpPr>
        <p:spPr>
          <a:xfrm xmlns:a="http://schemas.openxmlformats.org/drawingml/2006/main">
            <a:off x="1123950" y="3467100"/>
            <a:ext cx="3829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000000"/>
                </a:solidFill>
              </a:defRPr>
            </a:pPr>
            <a:r>
              <a:rPr sz="1275" b="0">
                <a:solidFill>
                  <a:srgbClr val="000000"/>
                </a:solidFill>
              </a:rPr>
              <a:t>不做成单纯应用 demo 生成器</a:t>
            </a:r>
          </a:p>
        </p:txBody>
      </p:sp>
      <p:sp>
        <p:nvSpPr>
          <p:cNvPr id="12" name="">
            <a:extLst xmlns:a="http://schemas.openxmlformats.org/drawingml/2006/main">
              <a:ext uri="{FF2B5EF4-FFF2-40B4-BE49-F238E27FC236}">
                <a16:creationId xmlns:a16="http://schemas.microsoft.com/office/drawing/2014/main" id="{4EE0D726-2CB3-4484-B529-9E587B726738}"/>
              </a:ext>
            </a:extLst>
          </p:cNvPr>
          <p:cNvSpPr>
            <a:spLocks xmlns:a="http://schemas.openxmlformats.org/drawingml/2006/main" noGrp="1"/>
          </p:cNvSpPr>
          <p:nvPr/>
        </p:nvSpPr>
        <p:spPr>
          <a:xfrm xmlns:a="http://schemas.openxmlformats.org/drawingml/2006/main">
            <a:off x="952500" y="3990975"/>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13" name="">
            <a:extLst xmlns:a="http://schemas.openxmlformats.org/drawingml/2006/main">
              <a:ext uri="{FF2B5EF4-FFF2-40B4-BE49-F238E27FC236}">
                <a16:creationId xmlns:a16="http://schemas.microsoft.com/office/drawing/2014/main" id="{444182B0-6837-4DBA-9FDB-EAE7946DBC03}"/>
              </a:ext>
            </a:extLst>
          </p:cNvPr>
          <p:cNvSpPr>
            <a:spLocks xmlns:a="http://schemas.openxmlformats.org/drawingml/2006/main" noGrp="1"/>
          </p:cNvSpPr>
          <p:nvPr/>
        </p:nvSpPr>
        <p:spPr>
          <a:xfrm xmlns:a="http://schemas.openxmlformats.org/drawingml/2006/main">
            <a:off x="1123950" y="3914775"/>
            <a:ext cx="3829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000000"/>
                </a:solidFill>
              </a:defRPr>
            </a:pPr>
            <a:r>
              <a:rPr sz="1275" b="0">
                <a:solidFill>
                  <a:srgbClr val="000000"/>
                </a:solidFill>
              </a:rPr>
              <a:t>不把云产品融合写成 AI 包装</a:t>
            </a:r>
          </a:p>
        </p:txBody>
      </p:sp>
      <p:sp>
        <p:nvSpPr>
          <p:cNvPr id="14" name="">
            <a:extLst xmlns:a="http://schemas.openxmlformats.org/drawingml/2006/main">
              <a:ext uri="{FF2B5EF4-FFF2-40B4-BE49-F238E27FC236}">
                <a16:creationId xmlns:a16="http://schemas.microsoft.com/office/drawing/2014/main" id="{E17CCCEC-8434-4F00-B11C-3E5A36D74A48}"/>
              </a:ext>
            </a:extLst>
          </p:cNvPr>
          <p:cNvSpPr>
            <a:spLocks xmlns:a="http://schemas.openxmlformats.org/drawingml/2006/main" noGrp="1"/>
          </p:cNvSpPr>
          <p:nvPr/>
        </p:nvSpPr>
        <p:spPr>
          <a:xfrm xmlns:a="http://schemas.openxmlformats.org/drawingml/2006/main">
            <a:off x="952500" y="443865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15" name="">
            <a:extLst xmlns:a="http://schemas.openxmlformats.org/drawingml/2006/main">
              <a:ext uri="{FF2B5EF4-FFF2-40B4-BE49-F238E27FC236}">
                <a16:creationId xmlns:a16="http://schemas.microsoft.com/office/drawing/2014/main" id="{B11E6E6C-5866-47CD-AE16-4940A5588BA0}"/>
              </a:ext>
            </a:extLst>
          </p:cNvPr>
          <p:cNvSpPr>
            <a:spLocks xmlns:a="http://schemas.openxmlformats.org/drawingml/2006/main" noGrp="1"/>
          </p:cNvSpPr>
          <p:nvPr/>
        </p:nvSpPr>
        <p:spPr>
          <a:xfrm xmlns:a="http://schemas.openxmlformats.org/drawingml/2006/main">
            <a:off x="1123950" y="4362450"/>
            <a:ext cx="3829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000000"/>
                </a:solidFill>
              </a:defRPr>
            </a:pPr>
            <a:r>
              <a:rPr sz="1275" b="0">
                <a:solidFill>
                  <a:srgbClr val="000000"/>
                </a:solidFill>
              </a:rPr>
              <a:t>不把 factory-server 做成通用查询网关</a:t>
            </a:r>
          </a:p>
        </p:txBody>
      </p:sp>
      <p:sp>
        <p:nvSpPr>
          <p:cNvPr id="16" name="">
            <a:extLst xmlns:a="http://schemas.openxmlformats.org/drawingml/2006/main">
              <a:ext uri="{FF2B5EF4-FFF2-40B4-BE49-F238E27FC236}">
                <a16:creationId xmlns:a16="http://schemas.microsoft.com/office/drawing/2014/main" id="{41C5CEBE-0FB6-4369-BEAE-4411C31E0EF5}"/>
              </a:ext>
            </a:extLst>
          </p:cNvPr>
          <p:cNvSpPr>
            <a:spLocks xmlns:a="http://schemas.openxmlformats.org/drawingml/2006/main" noGrp="1"/>
          </p:cNvSpPr>
          <p:nvPr/>
        </p:nvSpPr>
        <p:spPr>
          <a:xfrm xmlns:a="http://schemas.openxmlformats.org/drawingml/2006/main">
            <a:off x="6381750" y="1809750"/>
            <a:ext cx="4953000" cy="3429000"/>
          </a:xfrm>
          <a:prstGeom xmlns:a="http://schemas.openxmlformats.org/drawingml/2006/main" prst="rect">
            <a:avLst/>
          </a:prstGeom>
          <a:solidFill xmlns:a="http://schemas.openxmlformats.org/drawingml/2006/main">
            <a:srgbClr val="FFF4EF"/>
          </a:solidFill>
          <a:ln xmlns:a="http://schemas.openxmlformats.org/drawingml/2006/main" w="9525">
            <a:solidFill>
              <a:srgbClr val="FF6B35"/>
            </a:solidFill>
            <a:prstDash val="solid"/>
          </a:ln>
        </p:spPr>
      </p:sp>
      <p:sp>
        <p:nvSpPr>
          <p:cNvPr id="17" name="">
            <a:extLst xmlns:a="http://schemas.openxmlformats.org/drawingml/2006/main">
              <a:ext uri="{FF2B5EF4-FFF2-40B4-BE49-F238E27FC236}">
                <a16:creationId xmlns:a16="http://schemas.microsoft.com/office/drawing/2014/main" id="{3AEFD59B-8E15-45EA-8B9D-678D26DC0B03}"/>
              </a:ext>
            </a:extLst>
          </p:cNvPr>
          <p:cNvSpPr>
            <a:spLocks xmlns:a="http://schemas.openxmlformats.org/drawingml/2006/main" noGrp="1"/>
          </p:cNvSpPr>
          <p:nvPr/>
        </p:nvSpPr>
        <p:spPr>
          <a:xfrm xmlns:a="http://schemas.openxmlformats.org/drawingml/2006/main">
            <a:off x="6667500" y="20955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FF6B35"/>
                </a:solidFill>
              </a:defRPr>
            </a:pPr>
            <a:r>
              <a:rPr sz="1125" b="1">
                <a:solidFill>
                  <a:srgbClr val="FF6B35"/>
                </a:solidFill>
              </a:rPr>
              <a:t>建议形成五项决策</a:t>
            </a:r>
          </a:p>
        </p:txBody>
      </p:sp>
      <p:sp>
        <p:nvSpPr>
          <p:cNvPr id="18" name="">
            <a:extLst xmlns:a="http://schemas.openxmlformats.org/drawingml/2006/main">
              <a:ext uri="{FF2B5EF4-FFF2-40B4-BE49-F238E27FC236}">
                <a16:creationId xmlns:a16="http://schemas.microsoft.com/office/drawing/2014/main" id="{AA39D9C3-82C8-4762-877D-F352F0752F4A}"/>
              </a:ext>
            </a:extLst>
          </p:cNvPr>
          <p:cNvSpPr>
            <a:spLocks xmlns:a="http://schemas.openxmlformats.org/drawingml/2006/main" noGrp="1"/>
          </p:cNvSpPr>
          <p:nvPr/>
        </p:nvSpPr>
        <p:spPr>
          <a:xfrm xmlns:a="http://schemas.openxmlformats.org/drawingml/2006/main">
            <a:off x="6667500" y="264795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19" name="">
            <a:extLst xmlns:a="http://schemas.openxmlformats.org/drawingml/2006/main">
              <a:ext uri="{FF2B5EF4-FFF2-40B4-BE49-F238E27FC236}">
                <a16:creationId xmlns:a16="http://schemas.microsoft.com/office/drawing/2014/main" id="{2B8FC0FE-2FE3-474F-A39A-D3C7DB637ABB}"/>
              </a:ext>
            </a:extLst>
          </p:cNvPr>
          <p:cNvSpPr>
            <a:spLocks xmlns:a="http://schemas.openxmlformats.org/drawingml/2006/main" noGrp="1"/>
          </p:cNvSpPr>
          <p:nvPr/>
        </p:nvSpPr>
        <p:spPr>
          <a:xfrm xmlns:a="http://schemas.openxmlformats.org/drawingml/2006/main">
            <a:off x="6838950" y="2571750"/>
            <a:ext cx="3924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000000"/>
                </a:solidFill>
              </a:defRPr>
            </a:pPr>
            <a:r>
              <a:rPr sz="1275" b="0">
                <a:solidFill>
                  <a:srgbClr val="000000"/>
                </a:solidFill>
              </a:rPr>
              <a:t>第一阶段产品边界</a:t>
            </a:r>
          </a:p>
        </p:txBody>
      </p:sp>
      <p:sp>
        <p:nvSpPr>
          <p:cNvPr id="20" name="">
            <a:extLst xmlns:a="http://schemas.openxmlformats.org/drawingml/2006/main">
              <a:ext uri="{FF2B5EF4-FFF2-40B4-BE49-F238E27FC236}">
                <a16:creationId xmlns:a16="http://schemas.microsoft.com/office/drawing/2014/main" id="{25ADA93F-F371-4D0C-9830-2D360DFEA314}"/>
              </a:ext>
            </a:extLst>
          </p:cNvPr>
          <p:cNvSpPr>
            <a:spLocks xmlns:a="http://schemas.openxmlformats.org/drawingml/2006/main" noGrp="1"/>
          </p:cNvSpPr>
          <p:nvPr/>
        </p:nvSpPr>
        <p:spPr>
          <a:xfrm xmlns:a="http://schemas.openxmlformats.org/drawingml/2006/main">
            <a:off x="6667500" y="3095625"/>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21" name="">
            <a:extLst xmlns:a="http://schemas.openxmlformats.org/drawingml/2006/main">
              <a:ext uri="{FF2B5EF4-FFF2-40B4-BE49-F238E27FC236}">
                <a16:creationId xmlns:a16="http://schemas.microsoft.com/office/drawing/2014/main" id="{E04D8E27-9BAB-403F-B159-DDFB11D7BD07}"/>
              </a:ext>
            </a:extLst>
          </p:cNvPr>
          <p:cNvSpPr>
            <a:spLocks xmlns:a="http://schemas.openxmlformats.org/drawingml/2006/main" noGrp="1"/>
          </p:cNvSpPr>
          <p:nvPr/>
        </p:nvSpPr>
        <p:spPr>
          <a:xfrm xmlns:a="http://schemas.openxmlformats.org/drawingml/2006/main">
            <a:off x="6838950" y="3019425"/>
            <a:ext cx="3924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000000"/>
                </a:solidFill>
              </a:defRPr>
            </a:pPr>
            <a:r>
              <a:rPr sz="1275" b="0">
                <a:solidFill>
                  <a:srgbClr val="000000"/>
                </a:solidFill>
              </a:rPr>
              <a:t>DevOps 最小闭环范围</a:t>
            </a:r>
          </a:p>
        </p:txBody>
      </p:sp>
      <p:sp>
        <p:nvSpPr>
          <p:cNvPr id="22" name="">
            <a:extLst xmlns:a="http://schemas.openxmlformats.org/drawingml/2006/main">
              <a:ext uri="{FF2B5EF4-FFF2-40B4-BE49-F238E27FC236}">
                <a16:creationId xmlns:a16="http://schemas.microsoft.com/office/drawing/2014/main" id="{9ADF8F75-F853-44C8-B252-7A2B7AA9C487}"/>
              </a:ext>
            </a:extLst>
          </p:cNvPr>
          <p:cNvSpPr>
            <a:spLocks xmlns:a="http://schemas.openxmlformats.org/drawingml/2006/main" noGrp="1"/>
          </p:cNvSpPr>
          <p:nvPr/>
        </p:nvSpPr>
        <p:spPr>
          <a:xfrm xmlns:a="http://schemas.openxmlformats.org/drawingml/2006/main">
            <a:off x="6667500" y="354330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23" name="">
            <a:extLst xmlns:a="http://schemas.openxmlformats.org/drawingml/2006/main">
              <a:ext uri="{FF2B5EF4-FFF2-40B4-BE49-F238E27FC236}">
                <a16:creationId xmlns:a16="http://schemas.microsoft.com/office/drawing/2014/main" id="{DD3272AA-188E-45BB-8323-527B1D4E9665}"/>
              </a:ext>
            </a:extLst>
          </p:cNvPr>
          <p:cNvSpPr>
            <a:spLocks xmlns:a="http://schemas.openxmlformats.org/drawingml/2006/main" noGrp="1"/>
          </p:cNvSpPr>
          <p:nvPr/>
        </p:nvSpPr>
        <p:spPr>
          <a:xfrm xmlns:a="http://schemas.openxmlformats.org/drawingml/2006/main">
            <a:off x="6838950" y="3467100"/>
            <a:ext cx="3924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000000"/>
                </a:solidFill>
              </a:defRPr>
            </a:pPr>
            <a:r>
              <a:rPr sz="1275" b="0">
                <a:solidFill>
                  <a:srgbClr val="000000"/>
                </a:solidFill>
              </a:rPr>
              <a:t>agent 市场和 Skills 市场轻量版</a:t>
            </a:r>
          </a:p>
        </p:txBody>
      </p:sp>
      <p:sp>
        <p:nvSpPr>
          <p:cNvPr id="24" name="">
            <a:extLst xmlns:a="http://schemas.openxmlformats.org/drawingml/2006/main">
              <a:ext uri="{FF2B5EF4-FFF2-40B4-BE49-F238E27FC236}">
                <a16:creationId xmlns:a16="http://schemas.microsoft.com/office/drawing/2014/main" id="{A3763154-A7DC-4A6C-886E-DA43162635F5}"/>
              </a:ext>
            </a:extLst>
          </p:cNvPr>
          <p:cNvSpPr>
            <a:spLocks xmlns:a="http://schemas.openxmlformats.org/drawingml/2006/main" noGrp="1"/>
          </p:cNvSpPr>
          <p:nvPr/>
        </p:nvSpPr>
        <p:spPr>
          <a:xfrm xmlns:a="http://schemas.openxmlformats.org/drawingml/2006/main">
            <a:off x="6667500" y="3990975"/>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25" name="">
            <a:extLst xmlns:a="http://schemas.openxmlformats.org/drawingml/2006/main">
              <a:ext uri="{FF2B5EF4-FFF2-40B4-BE49-F238E27FC236}">
                <a16:creationId xmlns:a16="http://schemas.microsoft.com/office/drawing/2014/main" id="{4889744A-34A0-4F5E-96FC-1CACCCCE94E8}"/>
              </a:ext>
            </a:extLst>
          </p:cNvPr>
          <p:cNvSpPr>
            <a:spLocks xmlns:a="http://schemas.openxmlformats.org/drawingml/2006/main" noGrp="1"/>
          </p:cNvSpPr>
          <p:nvPr/>
        </p:nvSpPr>
        <p:spPr>
          <a:xfrm xmlns:a="http://schemas.openxmlformats.org/drawingml/2006/main">
            <a:off x="6838950" y="3914775"/>
            <a:ext cx="3924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000000"/>
                </a:solidFill>
              </a:defRPr>
            </a:pPr>
            <a:r>
              <a:rPr sz="1275" b="0">
                <a:solidFill>
                  <a:srgbClr val="000000"/>
                </a:solidFill>
              </a:rPr>
              <a:t>数据流转可视化作为演示第一优先级</a:t>
            </a:r>
          </a:p>
        </p:txBody>
      </p:sp>
      <p:sp>
        <p:nvSpPr>
          <p:cNvPr id="26" name="">
            <a:extLst xmlns:a="http://schemas.openxmlformats.org/drawingml/2006/main">
              <a:ext uri="{FF2B5EF4-FFF2-40B4-BE49-F238E27FC236}">
                <a16:creationId xmlns:a16="http://schemas.microsoft.com/office/drawing/2014/main" id="{82EA3921-4767-487E-8CBA-6D2F37077A6B}"/>
              </a:ext>
            </a:extLst>
          </p:cNvPr>
          <p:cNvSpPr>
            <a:spLocks xmlns:a="http://schemas.openxmlformats.org/drawingml/2006/main" noGrp="1"/>
          </p:cNvSpPr>
          <p:nvPr/>
        </p:nvSpPr>
        <p:spPr>
          <a:xfrm xmlns:a="http://schemas.openxmlformats.org/drawingml/2006/main">
            <a:off x="6667500" y="4438650"/>
            <a:ext cx="76200" cy="7620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27" name="">
            <a:extLst xmlns:a="http://schemas.openxmlformats.org/drawingml/2006/main">
              <a:ext uri="{FF2B5EF4-FFF2-40B4-BE49-F238E27FC236}">
                <a16:creationId xmlns:a16="http://schemas.microsoft.com/office/drawing/2014/main" id="{E7CC5604-21F1-4929-81C5-C4AFFA76000D}"/>
              </a:ext>
            </a:extLst>
          </p:cNvPr>
          <p:cNvSpPr>
            <a:spLocks xmlns:a="http://schemas.openxmlformats.org/drawingml/2006/main" noGrp="1"/>
          </p:cNvSpPr>
          <p:nvPr/>
        </p:nvSpPr>
        <p:spPr>
          <a:xfrm xmlns:a="http://schemas.openxmlformats.org/drawingml/2006/main">
            <a:off x="6838950" y="4362450"/>
            <a:ext cx="39243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000000"/>
                </a:solidFill>
              </a:defRPr>
            </a:pPr>
            <a:r>
              <a:rPr sz="1275" b="0">
                <a:solidFill>
                  <a:srgbClr val="000000"/>
                </a:solidFill>
              </a:rPr>
              <a:t>航母相关场景作为首批领域能力包样本</a:t>
            </a:r>
          </a:p>
        </p:txBody>
      </p:sp>
      <p:sp>
        <p:nvSpPr>
          <p:cNvPr id="28" name="">
            <a:extLst xmlns:a="http://schemas.openxmlformats.org/drawingml/2006/main">
              <a:ext uri="{FF2B5EF4-FFF2-40B4-BE49-F238E27FC236}">
                <a16:creationId xmlns:a16="http://schemas.microsoft.com/office/drawing/2014/main" id="{773865DE-D95C-49FB-A59A-5C9D7D84006D}"/>
              </a:ext>
            </a:extLst>
          </p:cNvPr>
          <p:cNvSpPr>
            <a:spLocks xmlns:a="http://schemas.openxmlformats.org/drawingml/2006/main" noGrp="1"/>
          </p:cNvSpPr>
          <p:nvPr/>
        </p:nvSpPr>
        <p:spPr>
          <a:xfrm xmlns:a="http://schemas.openxmlformats.org/drawingml/2006/main">
            <a:off x="514350" y="6381750"/>
            <a:ext cx="342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55555"/>
                </a:solidFill>
              </a:defRPr>
            </a:pPr>
            <a:r>
              <a:rPr sz="1050" b="0">
                <a:solidFill>
                  <a:srgbClr val="555555"/>
                </a:solidFill>
              </a:rPr>
              <a:t>西安 630 项目软件工厂复盘</a:t>
            </a:r>
          </a:p>
        </p:txBody>
      </p:sp>
      <p:sp>
        <p:nvSpPr>
          <p:cNvPr id="29" name="">
            <a:extLst xmlns:a="http://schemas.openxmlformats.org/drawingml/2006/main">
              <a:ext uri="{FF2B5EF4-FFF2-40B4-BE49-F238E27FC236}">
                <a16:creationId xmlns:a16="http://schemas.microsoft.com/office/drawing/2014/main" id="{A392E90C-0536-4BD6-B15E-C896AA2D3A85}"/>
              </a:ext>
            </a:extLst>
          </p:cNvPr>
          <p:cNvSpPr>
            <a:spLocks xmlns:a="http://schemas.openxmlformats.org/drawingml/2006/main" noGrp="1"/>
          </p:cNvSpPr>
          <p:nvPr/>
        </p:nvSpPr>
        <p:spPr>
          <a:xfrm xmlns:a="http://schemas.openxmlformats.org/drawingml/2006/main">
            <a:off x="11287125" y="6381750"/>
            <a:ext cx="40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050" b="1">
                <a:solidFill>
                  <a:srgbClr val="555555"/>
                </a:solidFill>
              </a:defRPr>
            </a:pPr>
            <a:r>
              <a:rPr sz="1050" b="1">
                <a:solidFill>
                  <a:srgbClr val="555555"/>
                </a:solidFill>
              </a:rPr>
              <a:t>13</a:t>
            </a:r>
          </a:p>
        </p:txBody>
      </p:sp>
    </p:spTree>
    <p:extLst>
      <p:ext uri="{BB962C8B-B14F-4D97-AF65-F5344CB8AC3E}">
        <p14:creationId xmlns:p14="http://schemas.microsoft.com/office/powerpoint/2010/main" val="3286201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2026-07-02T14:20:06.1560000Z</dcterms:created>
  <dcterms:modified xsi:type="dcterms:W3CDTF">2026-07-02T14:20:06.1560000Z</dcterms:modified>
</coreProperties>
</file>